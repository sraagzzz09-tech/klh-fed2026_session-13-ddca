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70498f46de4333" /><Relationship Type="http://schemas.openxmlformats.org/officeDocument/2006/relationships/extended-properties" Target="/docProps/app.xml" Id="R65f4efb7f7714010" /><Relationship Type="http://schemas.openxmlformats.org/officeDocument/2006/relationships/officeDocument" Target="/ppt/presentation.xml" Id="Rb3b3638d06144e5a" /></Relationships>
</file>

<file path=ppt/presentation.xml><?xml version="1.0" encoding="utf-8"?>
<p:presentation xmlns:p="http://schemas.openxmlformats.org/presentationml/2006/main">
  <p:sldMasterIdLst>
    <p:sldMasterId xmlns:r="http://schemas.openxmlformats.org/officeDocument/2006/relationships" id="2147483648" r:id="R4acc191eab544bd8"/>
  </p:sldMasterIdLst>
  <p:notesMasterIdLst>
    <p:notesMasterId xmlns:r="http://schemas.openxmlformats.org/officeDocument/2006/relationships" r:id="R1e089e9767a44d21"/>
  </p:notesMasterIdLst>
  <p:sldIdLst>
    <p:sldId xmlns:r="http://schemas.openxmlformats.org/officeDocument/2006/relationships" id="256" r:id="R0e7d96c8fb094105"/>
    <p:sldId xmlns:r="http://schemas.openxmlformats.org/officeDocument/2006/relationships" id="257" r:id="R2066a300cc7143ca"/>
    <p:sldId xmlns:r="http://schemas.openxmlformats.org/officeDocument/2006/relationships" id="258" r:id="R6642f42d700f4eec"/>
    <p:sldId xmlns:r="http://schemas.openxmlformats.org/officeDocument/2006/relationships" id="259" r:id="Rf70d553dc1aa445c"/>
    <p:sldId xmlns:r="http://schemas.openxmlformats.org/officeDocument/2006/relationships" id="260" r:id="R206506992b504856"/>
    <p:sldId xmlns:r="http://schemas.openxmlformats.org/officeDocument/2006/relationships" id="261" r:id="Rc62e6066378b4141"/>
    <p:sldId xmlns:r="http://schemas.openxmlformats.org/officeDocument/2006/relationships" id="262" r:id="R77734d963c964680"/>
    <p:sldId xmlns:r="http://schemas.openxmlformats.org/officeDocument/2006/relationships" id="263" r:id="R1e3e619b9a2c4e40"/>
    <p:sldId xmlns:r="http://schemas.openxmlformats.org/officeDocument/2006/relationships" id="264" r:id="R75e7282f9a3d4aea"/>
    <p:sldId xmlns:r="http://schemas.openxmlformats.org/officeDocument/2006/relationships" id="265" r:id="Rce7c09a851fa47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4b61a81fc64865" /><Relationship Type="http://schemas.openxmlformats.org/officeDocument/2006/relationships/slideMaster" Target="/ppt/slideMasters/slideMaster1.xml" Id="R4acc191eab544bd8" /><Relationship Type="http://schemas.openxmlformats.org/officeDocument/2006/relationships/notesMaster" Target="/ppt/notesMasters/notesMaster1.xml" Id="R1e089e9767a44d21" /><Relationship Type="http://schemas.openxmlformats.org/officeDocument/2006/relationships/presProps" Target="/ppt/presProps.xml" Id="R53e5c7266def4ff1" /><Relationship Type="http://schemas.openxmlformats.org/officeDocument/2006/relationships/tableStyles" Target="/ppt/tableStyles.xml" Id="Rc5d34768f8b6449f" /><Relationship Type="http://schemas.openxmlformats.org/officeDocument/2006/relationships/slide" Target="/ppt/slides/slide1.xml" Id="R0e7d96c8fb094105" /><Relationship Type="http://schemas.openxmlformats.org/officeDocument/2006/relationships/slide" Target="/ppt/slides/slide2.xml" Id="R2066a300cc7143ca" /><Relationship Type="http://schemas.openxmlformats.org/officeDocument/2006/relationships/slide" Target="/ppt/slides/slide3.xml" Id="R6642f42d700f4eec" /><Relationship Type="http://schemas.openxmlformats.org/officeDocument/2006/relationships/slide" Target="/ppt/slides/slide4.xml" Id="Rf70d553dc1aa445c" /><Relationship Type="http://schemas.openxmlformats.org/officeDocument/2006/relationships/slide" Target="/ppt/slides/slide5.xml" Id="R206506992b504856" /><Relationship Type="http://schemas.openxmlformats.org/officeDocument/2006/relationships/slide" Target="/ppt/slides/slide6.xml" Id="Rc62e6066378b4141" /><Relationship Type="http://schemas.openxmlformats.org/officeDocument/2006/relationships/slide" Target="/ppt/slides/slide7.xml" Id="R77734d963c964680" /><Relationship Type="http://schemas.openxmlformats.org/officeDocument/2006/relationships/slide" Target="/ppt/slides/slide8.xml" Id="R1e3e619b9a2c4e40" /><Relationship Type="http://schemas.openxmlformats.org/officeDocument/2006/relationships/slide" Target="/ppt/slides/slide9.xml" Id="R75e7282f9a3d4aea" /><Relationship Type="http://schemas.openxmlformats.org/officeDocument/2006/relationships/slide" Target="/ppt/slides/slide10.xml" Id="Rce7c09a851fa47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790e15aa5347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3ad7e071e64ebe" /><Relationship Type="http://schemas.openxmlformats.org/officeDocument/2006/relationships/notesMaster" Target="/ppt/notesMasters/notesMaster1.xml" Id="Ra179d79c8db54d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9ff9d970d9476d" /><Relationship Type="http://schemas.openxmlformats.org/officeDocument/2006/relationships/notesMaster" Target="/ppt/notesMasters/notesMaster1.xml" Id="R09ff967c7dac49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6390303fee4a4d" /><Relationship Type="http://schemas.openxmlformats.org/officeDocument/2006/relationships/notesMaster" Target="/ppt/notesMasters/notesMaster1.xml" Id="R8261ec493d9749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204b2474664e7f" /><Relationship Type="http://schemas.openxmlformats.org/officeDocument/2006/relationships/notesMaster" Target="/ppt/notesMasters/notesMaster1.xml" Id="R94c14c4339f442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3b8f2e2c6944e0" /><Relationship Type="http://schemas.openxmlformats.org/officeDocument/2006/relationships/notesMaster" Target="/ppt/notesMasters/notesMaster1.xml" Id="Rf20d7a81b4d545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7ec798d8894ada" /><Relationship Type="http://schemas.openxmlformats.org/officeDocument/2006/relationships/notesMaster" Target="/ppt/notesMasters/notesMaster1.xml" Id="R76a6984346ad4d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5693cbfc264e72" /><Relationship Type="http://schemas.openxmlformats.org/officeDocument/2006/relationships/notesMaster" Target="/ppt/notesMasters/notesMaster1.xml" Id="Rd6336563a19843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04e62e73154c59" /><Relationship Type="http://schemas.openxmlformats.org/officeDocument/2006/relationships/notesMaster" Target="/ppt/notesMasters/notesMaster1.xml" Id="Re5f09220810345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ffcc56803840f8" /><Relationship Type="http://schemas.openxmlformats.org/officeDocument/2006/relationships/notesMaster" Target="/ppt/notesMasters/notesMaster1.xml" Id="R5c565baf91d84e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7d9b2ac15f4ee4" /><Relationship Type="http://schemas.openxmlformats.org/officeDocument/2006/relationships/notesMaster" Target="/ppt/notesMasters/notesMaster1.xml" Id="R4b951e9a180149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An 8-bit register stores one 8-bit word. The Load Enable input decides whether the next active clock edge stores new input data or keeps the previous word. The design uses D flip-flops, one per 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word D[7:0] carries the value to store. The output word Q[7:0] is the value currently held. EN is a control signal. The design prompt does not mention reset, so this design focuses on load and hold. Without a reset, the power-up value is not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one-bit cell. A 2-to-1 multiplexer has two data choices. One choice is external input D_i. The other is the flip-flop output Q_i, routed back as feedback. EN controls the choice. The selected value reaches the D input of the flip-flop. The flip-flop captures that value only at the active rising edge of CLK.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 MUX and D flip-flop pairs form eight parallel bit slices. The D7 input goes to bit 7, and so on through D0. Each Q output feeds back only to its own MUX. All slices use the same EN signal and the same clock, so the full 8-bit word loads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equation aloud. If EN is zero, the first term is zero and EN-bar is one, so Q next equals current Q. If EN is one, EN-bar is zero, so Q next equals D. This is the Boolean form of a 2-to-1 MUX. The flip-flop takes Q(next) at its active clock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assumes positive-edge-triggered D flip-flops, shown by the rising-edge symbol. Inputs can change between clock edges, but the stored Q output does not change until the next rising edge. At that edge, EN selects whether the register loads or holds. The first row says unknown/prior because there is no reset in the specified circuit.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table. On edge 1, EN=1, so the register captures 10110110. Before edge 2, D changes to 00111100, but EN=0, so the Q output stays 10110110. At edge 3, EN returns to 1 and the new word is captured. Emphasize that merely changing D does not alter 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building in Logisim, make sure the MUX select pin is connected to EN and each flip-flop clock pin receives the same clock. A common mistake is to connect the feedback from one bit to a different bit. Test the circuit first with EN=1, then change D while EN=0 and check that Q 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these as examples of the same circuit pattern. The exact design and control conditions differ between systems, but the load-enable behavior is useful whenever a block must retain its current word until an update is allowed.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explaining the rule in your own words: the enable selects the next value, and the clock edge stores it. If EN is high the new data enters the register. If EN is low the output is routed back and remains unchanged. The equation is applied independently to all eight bits.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019e0c201e4b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2031ecf8bc4a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76dc1fa6de4c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b9afd130a34e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afaa41d38849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7a6af6b83943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6AEC01-E259-4AFC-80FF-AEFE2245AD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56830F-83EF-470A-9C53-92623FFC153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6DFF42-C89B-4BA0-99FE-05F995F7CE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E81882-4B48-4772-9E14-8C2B5EBB3B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DD875C-D035-47BC-8A48-9E5D7F8F93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256C92-EF16-4628-A73D-EBD15DC6D7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78F096-DA9B-42D5-9EE3-209A27EABB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63674C-E0D4-4805-B20B-DA79F7B54BA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94F6CC-8098-4BDD-808C-CC00355B7E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417E42-3A41-45F1-9A16-5462A9A6B8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43e056716e4838" /><Relationship Type="http://schemas.openxmlformats.org/officeDocument/2006/relationships/slideLayout" Target="/ppt/slideLayouts/slideLayout1.xml" Id="R9160a7aba9e94f17" /><Relationship Type="http://schemas.openxmlformats.org/officeDocument/2006/relationships/slideLayout" Target="/ppt/slideLayouts/slideLayout2.xml" Id="R69f45930a08a47a3" /><Relationship Type="http://schemas.openxmlformats.org/officeDocument/2006/relationships/slideLayout" Target="/ppt/slideLayouts/slideLayout3.xml" Id="R043ce3bbf499407f" /><Relationship Type="http://schemas.openxmlformats.org/officeDocument/2006/relationships/slideLayout" Target="/ppt/slideLayouts/slideLayout4.xml" Id="R6c629e150652407d" /><Relationship Type="http://schemas.openxmlformats.org/officeDocument/2006/relationships/slideLayout" Target="/ppt/slideLayouts/slideLayout5.xml" Id="R910f108281074459" /><Relationship Type="http://schemas.openxmlformats.org/officeDocument/2006/relationships/slideLayout" Target="/ppt/slideLayouts/slideLayout6.xml" Id="Rfcfe95a9f7d94c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60a7aba9e94f17"/>
    <p:sldLayoutId xmlns:r="http://schemas.openxmlformats.org/officeDocument/2006/relationships" id="2147483650" r:id="R69f45930a08a47a3"/>
    <p:sldLayoutId xmlns:r="http://schemas.openxmlformats.org/officeDocument/2006/relationships" id="2147483651" r:id="R043ce3bbf499407f"/>
    <p:sldLayoutId xmlns:r="http://schemas.openxmlformats.org/officeDocument/2006/relationships" id="2147483652" r:id="R6c629e150652407d"/>
    <p:sldLayoutId xmlns:r="http://schemas.openxmlformats.org/officeDocument/2006/relationships" id="2147483653" r:id="R910f108281074459"/>
    <p:sldLayoutId xmlns:r="http://schemas.openxmlformats.org/officeDocument/2006/relationships" id="2147483654" r:id="Rfcfe95a9f7d94c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0da185ab0744c4" /><Relationship Type="http://schemas.openxmlformats.org/officeDocument/2006/relationships/notesSlide" Target="/ppt/notesSlides/notesSlide1.xml" Id="R59ccaf83fdc341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c37ae18a6d42dd" /><Relationship Type="http://schemas.openxmlformats.org/officeDocument/2006/relationships/notesSlide" Target="/ppt/notesSlides/notesSlide2.xml" Id="R8690421a91b243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a7f330ad1e4fad" /><Relationship Type="http://schemas.openxmlformats.org/officeDocument/2006/relationships/notesSlide" Target="/ppt/notesSlides/notesSlide3.xml" Id="Rdbf987f5185343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8da659dda7480f" /><Relationship Type="http://schemas.openxmlformats.org/officeDocument/2006/relationships/notesSlide" Target="/ppt/notesSlides/notesSlide4.xml" Id="Rc6da4a58e8104c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4d94465af54b9a" /><Relationship Type="http://schemas.openxmlformats.org/officeDocument/2006/relationships/notesSlide" Target="/ppt/notesSlides/notesSlide5.xml" Id="Rdd3cb67d08494b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5ecae92050499f" /><Relationship Type="http://schemas.openxmlformats.org/officeDocument/2006/relationships/notesSlide" Target="/ppt/notesSlides/notesSlide6.xml" Id="Raa819b6557f940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00ef726fe344cf" /><Relationship Type="http://schemas.openxmlformats.org/officeDocument/2006/relationships/notesSlide" Target="/ppt/notesSlides/notesSlide7.xml" Id="Rbfca4d75485140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86c31702ca4dc0" /><Relationship Type="http://schemas.openxmlformats.org/officeDocument/2006/relationships/notesSlide" Target="/ppt/notesSlides/notesSlide8.xml" Id="R8076a11aa3954a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bf8afc457b948f1" /><Relationship Type="http://schemas.openxmlformats.org/officeDocument/2006/relationships/notesSlide" Target="/ppt/notesSlides/notesSlide9.xml" Id="Rc480ed1393eb4a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95d324071c14a1e" /><Relationship Type="http://schemas.openxmlformats.org/officeDocument/2006/relationships/notesSlide" Target="/ppt/notesSlides/notesSlide10.xml" Id="R7f7dbffda20d456e" /></Relationships>
</file>

<file path=ppt/slides/slide1.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B77C1E-90CF-42D1-B1D7-659D95E7C0EF}"/>
              </a:ext>
            </a:extLst>
          </p:cNvPr>
          <p:cNvSpPr>
            <a:spLocks xmlns:a="http://schemas.openxmlformats.org/drawingml/2006/main" noGrp="1"/>
          </p:cNvSpPr>
          <p:nvPr/>
        </p:nvSpPr>
        <p:spPr>
          <a:xfrm xmlns:a="http://schemas.openxmlformats.org/drawingml/2006/main">
            <a:off x="685800" y="1028700"/>
            <a:ext cx="76200" cy="4171950"/>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FBCF0E-F7EF-4B7B-9E8F-D8142521E49A}"/>
              </a:ext>
            </a:extLst>
          </p:cNvPr>
          <p:cNvSpPr>
            <a:spLocks xmlns:a="http://schemas.openxmlformats.org/drawingml/2006/main" noGrp="1"/>
          </p:cNvSpPr>
          <p:nvPr/>
        </p:nvSpPr>
        <p:spPr>
          <a:xfrm xmlns:a="http://schemas.openxmlformats.org/drawingml/2006/main">
            <a:off x="1066800" y="119062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A9D9D4"/>
                </a:solidFill>
                <a:latin typeface="Aptos"/>
                <a:ea typeface="Aptos"/>
                <a:cs typeface="Aptos"/>
              </a:defRPr>
            </a:defPPr>
          </a:lstStyle>
          <a:p xmlns:a="http://schemas.openxmlformats.org/drawingml/2006/main">
            <a:pPr algn="l">
              <a:defRPr sz="1350" b="1">
                <a:solidFill>
                  <a:srgbClr val="A9D9D4"/>
                </a:solidFill>
                <a:latin typeface="Aptos"/>
                <a:ea typeface="Aptos"/>
                <a:cs typeface="Aptos"/>
              </a:defRPr>
            </a:pPr>
            <a:r>
              <a:rPr sz="1350" b="1">
                <a:solidFill>
                  <a:srgbClr val="A9D9D4"/>
                </a:solidFill>
                <a:latin typeface="Aptos"/>
                <a:ea typeface="Aptos"/>
                <a:cs typeface="Aptos"/>
              </a:rPr>
              <a:t>DIGITAL DESIGN PROJECT</a:t>
            </a:r>
          </a:p>
        </p:txBody>
      </p:sp>
      <p:sp>
        <p:nvSpPr>
          <p:cNvPr id="3" name="">
            <a:extLst xmlns:a="http://schemas.openxmlformats.org/drawingml/2006/main">
              <a:ext uri="{FF2B5EF4-FFF2-40B4-BE49-F238E27FC236}">
                <a16:creationId xmlns:a16="http://schemas.microsoft.com/office/drawing/2014/main" id="{E16E527D-17BB-4B0E-844A-34D3BF7C3CFA}"/>
              </a:ext>
            </a:extLst>
          </p:cNvPr>
          <p:cNvSpPr>
            <a:spLocks xmlns:a="http://schemas.openxmlformats.org/drawingml/2006/main" noGrp="1"/>
          </p:cNvSpPr>
          <p:nvPr/>
        </p:nvSpPr>
        <p:spPr>
          <a:xfrm xmlns:a="http://schemas.openxmlformats.org/drawingml/2006/main">
            <a:off x="1066800" y="1857375"/>
            <a:ext cx="8096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4350" b="1">
                <a:solidFill>
                  <a:srgbClr val="FFFFFF"/>
                </a:solidFill>
                <a:latin typeface="Aptos"/>
                <a:ea typeface="Aptos"/>
                <a:cs typeface="Aptos"/>
              </a:defRPr>
            </a:defPPr>
          </a:lstStyle>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8-bit Register</a:t>
            </a:r>
          </a:p>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with Load Enable</a:t>
            </a:r>
          </a:p>
        </p:txBody>
      </p:sp>
      <p:sp>
        <p:nvSpPr>
          <p:cNvPr id="4" name="">
            <a:extLst xmlns:a="http://schemas.openxmlformats.org/drawingml/2006/main">
              <a:ext uri="{FF2B5EF4-FFF2-40B4-BE49-F238E27FC236}">
                <a16:creationId xmlns:a16="http://schemas.microsoft.com/office/drawing/2014/main" id="{F0FDFA76-6150-4328-8E57-123DDB57141C}"/>
              </a:ext>
            </a:extLst>
          </p:cNvPr>
          <p:cNvSpPr>
            <a:spLocks xmlns:a="http://schemas.openxmlformats.org/drawingml/2006/main" noGrp="1"/>
          </p:cNvSpPr>
          <p:nvPr/>
        </p:nvSpPr>
        <p:spPr>
          <a:xfrm xmlns:a="http://schemas.openxmlformats.org/drawingml/2006/main">
            <a:off x="1085850" y="3857625"/>
            <a:ext cx="7429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D3DEE6"/>
                </a:solidFill>
                <a:latin typeface="Aptos"/>
                <a:ea typeface="Aptos"/>
                <a:cs typeface="Aptos"/>
              </a:defRPr>
            </a:defPPr>
          </a:lstStyle>
          <a:p xmlns:a="http://schemas.openxmlformats.org/drawingml/2006/main">
            <a:pPr algn="l">
              <a:defRPr sz="1875" b="0">
                <a:solidFill>
                  <a:srgbClr val="D3DEE6"/>
                </a:solidFill>
                <a:latin typeface="Aptos"/>
                <a:ea typeface="Aptos"/>
                <a:cs typeface="Aptos"/>
              </a:defRPr>
            </a:pPr>
            <a:r>
              <a:rPr sz="1875" b="0">
                <a:solidFill>
                  <a:srgbClr val="D3DEE6"/>
                </a:solidFill>
                <a:latin typeface="Aptos"/>
                <a:ea typeface="Aptos"/>
                <a:cs typeface="Aptos"/>
              </a:rPr>
              <a:t>A D flip-flop based circuit that loads new data on command and holds its value otherwise</a:t>
            </a:r>
          </a:p>
        </p:txBody>
      </p:sp>
      <p:sp>
        <p:nvSpPr>
          <p:cNvPr id="5" name="">
            <a:extLst xmlns:a="http://schemas.openxmlformats.org/drawingml/2006/main">
              <a:ext uri="{FF2B5EF4-FFF2-40B4-BE49-F238E27FC236}">
                <a16:creationId xmlns:a16="http://schemas.microsoft.com/office/drawing/2014/main" id="{BA4A139F-89EA-4832-9C14-6F9B808AA683}"/>
              </a:ext>
            </a:extLst>
          </p:cNvPr>
          <p:cNvSpPr>
            <a:spLocks xmlns:a="http://schemas.openxmlformats.org/drawingml/2006/main" noGrp="1"/>
          </p:cNvSpPr>
          <p:nvPr/>
        </p:nvSpPr>
        <p:spPr>
          <a:xfrm xmlns:a="http://schemas.openxmlformats.org/drawingml/2006/main">
            <a:off x="1066800" y="5095875"/>
            <a:ext cx="2266950" cy="0"/>
          </a:xfrm>
          <a:prstGeom xmlns:a="http://schemas.openxmlformats.org/drawingml/2006/main" prst="line">
            <a:avLst/>
          </a:prstGeom>
          <a:noFill xmlns:a="http://schemas.openxmlformats.org/drawingml/2006/main"/>
          <a:ln xmlns:a="http://schemas.openxmlformats.org/drawingml/2006/main" w="47625">
            <a:solidFill>
              <a:srgbClr val="E88B3A"/>
            </a:solidFill>
            <a:prstDash val="solid"/>
          </a:ln>
        </p:spPr>
      </p:sp>
      <p:sp>
        <p:nvSpPr>
          <p:cNvPr id="6" name="">
            <a:extLst xmlns:a="http://schemas.openxmlformats.org/drawingml/2006/main">
              <a:ext uri="{FF2B5EF4-FFF2-40B4-BE49-F238E27FC236}">
                <a16:creationId xmlns:a16="http://schemas.microsoft.com/office/drawing/2014/main" id="{A6ABAA5C-1037-4076-89B7-F3F6F29337B4}"/>
              </a:ext>
            </a:extLst>
          </p:cNvPr>
          <p:cNvSpPr>
            <a:spLocks xmlns:a="http://schemas.openxmlformats.org/drawingml/2006/main" noGrp="1"/>
          </p:cNvSpPr>
          <p:nvPr/>
        </p:nvSpPr>
        <p:spPr>
          <a:xfrm xmlns:a="http://schemas.openxmlformats.org/drawingml/2006/main">
            <a:off x="1066800" y="535305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A9BBC8"/>
                </a:solidFill>
                <a:latin typeface="Aptos"/>
                <a:ea typeface="Aptos"/>
                <a:cs typeface="Aptos"/>
              </a:defRPr>
            </a:defPPr>
          </a:lstStyle>
          <a:p xmlns:a="http://schemas.openxmlformats.org/drawingml/2006/main">
            <a:pPr algn="l">
              <a:defRPr sz="1425" b="0">
                <a:solidFill>
                  <a:srgbClr val="A9BBC8"/>
                </a:solidFill>
                <a:latin typeface="Aptos"/>
                <a:ea typeface="Aptos"/>
                <a:cs typeface="Aptos"/>
              </a:defRPr>
            </a:pPr>
            <a:r>
              <a:rPr sz="1425" b="0">
                <a:solidFill>
                  <a:srgbClr val="A9BBC8"/>
                </a:solidFill>
                <a:latin typeface="Aptos"/>
                <a:ea typeface="Aptos"/>
                <a:cs typeface="Aptos"/>
              </a:rPr>
              <a:t>Design • Operation • Logic • Applications</a:t>
            </a:r>
          </a:p>
        </p:txBody>
      </p:sp>
    </p:spTree>
    <p:extLst>
      <p:ext uri="{BB962C8B-B14F-4D97-AF65-F5344CB8AC3E}">
        <p14:creationId xmlns:p14="http://schemas.microsoft.com/office/powerpoint/2010/main" val="1691011326"/>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48CA9C88-B10B-471E-B82B-9333E3C799CF}"/>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0243A"/>
                </a:solidFill>
                <a:latin typeface="Aptos"/>
                <a:ea typeface="Aptos"/>
                <a:cs typeface="Aptos"/>
              </a:defRPr>
            </a:defPPr>
          </a:lstStyle>
          <a:p xmlns:a="http://schemas.openxmlformats.org/drawingml/2006/main">
            <a:pPr algn="l">
              <a:defRPr sz="3150" b="1">
                <a:solidFill>
                  <a:srgbClr val="10243A"/>
                </a:solidFill>
                <a:latin typeface="Aptos"/>
                <a:ea typeface="Aptos"/>
                <a:cs typeface="Aptos"/>
              </a:defRPr>
            </a:pPr>
            <a:r>
              <a:rPr sz="3150" b="1">
                <a:solidFill>
                  <a:srgbClr val="10243A"/>
                </a:solidFill>
                <a:latin typeface="Aptos"/>
                <a:ea typeface="Aptos"/>
                <a:cs typeface="Aptos"/>
              </a:rPr>
              <a:t>Project goal and design specification</a:t>
            </a:r>
          </a:p>
        </p:txBody>
      </p:sp>
      <p:sp>
        <p:nvSpPr>
          <p:cNvPr id="2" name="">
            <a:extLst xmlns:a="http://schemas.openxmlformats.org/drawingml/2006/main">
              <a:ext uri="{FF2B5EF4-FFF2-40B4-BE49-F238E27FC236}">
                <a16:creationId xmlns:a16="http://schemas.microsoft.com/office/drawing/2014/main" id="{6CC3D450-E2FB-4ACA-9136-C9DA0504A981}"/>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8DFD0602-CADF-44FE-924A-7F457CB848C1}"/>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718391"/>
                </a:solidFill>
                <a:latin typeface="Aptos"/>
                <a:ea typeface="Aptos"/>
                <a:cs typeface="Aptos"/>
              </a:defRPr>
            </a:defPPr>
          </a:lstStyle>
          <a:p xmlns:a="http://schemas.openxmlformats.org/drawingml/2006/main">
            <a:pPr algn="r">
              <a:defRPr sz="1125" b="1">
                <a:solidFill>
                  <a:srgbClr val="718391"/>
                </a:solidFill>
                <a:latin typeface="Aptos"/>
                <a:ea typeface="Aptos"/>
                <a:cs typeface="Aptos"/>
              </a:defRPr>
            </a:pPr>
            <a:r>
              <a:rPr sz="1125" b="1">
                <a:solidFill>
                  <a:srgbClr val="718391"/>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BCD2572F-1851-4367-A26E-548DF5789BD7}"/>
              </a:ext>
            </a:extLst>
          </p:cNvPr>
          <p:cNvSpPr>
            <a:spLocks xmlns:a="http://schemas.openxmlformats.org/drawingml/2006/main" noGrp="1"/>
          </p:cNvSpPr>
          <p:nvPr/>
        </p:nvSpPr>
        <p:spPr>
          <a:xfrm xmlns:a="http://schemas.openxmlformats.org/drawingml/2006/main">
            <a:off x="685800" y="13525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62B3D"/>
                </a:solidFill>
                <a:latin typeface="Aptos"/>
                <a:ea typeface="Aptos"/>
                <a:cs typeface="Aptos"/>
              </a:defRPr>
            </a:defPPr>
          </a:lstStyle>
          <a:p xmlns:a="http://schemas.openxmlformats.org/drawingml/2006/main">
            <a:pPr algn="l">
              <a:defRPr sz="2025" b="1">
                <a:solidFill>
                  <a:srgbClr val="162B3D"/>
                </a:solidFill>
                <a:latin typeface="Aptos"/>
                <a:ea typeface="Aptos"/>
                <a:cs typeface="Aptos"/>
              </a:defRPr>
            </a:pPr>
            <a:r>
              <a:rPr sz="2025" b="1">
                <a:solidFill>
                  <a:srgbClr val="162B3D"/>
                </a:solidFill>
                <a:latin typeface="Aptos"/>
                <a:ea typeface="Aptos"/>
                <a:cs typeface="Aptos"/>
              </a:rPr>
              <a:t>Build a storage block that can update on command and retain its value between updates.</a:t>
            </a:r>
          </a:p>
        </p:txBody>
      </p:sp>
      <p:sp>
        <p:nvSpPr>
          <p:cNvPr id="5" name="">
            <a:extLst xmlns:a="http://schemas.openxmlformats.org/drawingml/2006/main">
              <a:ext uri="{FF2B5EF4-FFF2-40B4-BE49-F238E27FC236}">
                <a16:creationId xmlns:a16="http://schemas.microsoft.com/office/drawing/2014/main" id="{F0E0C488-0BA4-4FD1-8DCF-9E4E71A54D55}"/>
              </a:ext>
            </a:extLst>
          </p:cNvPr>
          <p:cNvSpPr>
            <a:spLocks xmlns:a="http://schemas.openxmlformats.org/drawingml/2006/main" noGrp="1"/>
          </p:cNvSpPr>
          <p:nvPr/>
        </p:nvSpPr>
        <p:spPr>
          <a:xfrm xmlns:a="http://schemas.openxmlformats.org/drawingml/2006/main">
            <a:off x="876300" y="223837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C9A92"/>
                </a:solidFill>
                <a:latin typeface="Aptos"/>
                <a:ea typeface="Aptos"/>
                <a:cs typeface="Aptos"/>
              </a:defRPr>
            </a:defPPr>
          </a:lstStyle>
          <a:p xmlns:a="http://schemas.openxmlformats.org/drawingml/2006/main">
            <a:pPr algn="l">
              <a:defRPr sz="1650" b="1">
                <a:solidFill>
                  <a:srgbClr val="1C9A92"/>
                </a:solidFill>
                <a:latin typeface="Aptos"/>
                <a:ea typeface="Aptos"/>
                <a:cs typeface="Aptos"/>
              </a:defRPr>
            </a:pPr>
            <a:r>
              <a:rPr sz="1650" b="1">
                <a:solidFill>
                  <a:srgbClr val="1C9A92"/>
                </a:solidFill>
                <a:latin typeface="Aptos"/>
                <a:ea typeface="Aptos"/>
                <a:cs typeface="Aptos"/>
              </a:rPr>
              <a:t>Width</a:t>
            </a:r>
          </a:p>
        </p:txBody>
      </p:sp>
      <p:sp>
        <p:nvSpPr>
          <p:cNvPr id="6" name="">
            <a:extLst xmlns:a="http://schemas.openxmlformats.org/drawingml/2006/main">
              <a:ext uri="{FF2B5EF4-FFF2-40B4-BE49-F238E27FC236}">
                <a16:creationId xmlns:a16="http://schemas.microsoft.com/office/drawing/2014/main" id="{C952160D-8131-48D8-B113-E521A9367B2C}"/>
              </a:ext>
            </a:extLst>
          </p:cNvPr>
          <p:cNvSpPr>
            <a:spLocks xmlns:a="http://schemas.openxmlformats.org/drawingml/2006/main" noGrp="1"/>
          </p:cNvSpPr>
          <p:nvPr/>
        </p:nvSpPr>
        <p:spPr>
          <a:xfrm xmlns:a="http://schemas.openxmlformats.org/drawingml/2006/main">
            <a:off x="2714625" y="2238375"/>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B3D"/>
                </a:solidFill>
                <a:latin typeface="Aptos"/>
                <a:ea typeface="Aptos"/>
                <a:cs typeface="Aptos"/>
              </a:defRPr>
            </a:defPPr>
          </a:lstStyle>
          <a:p xmlns:a="http://schemas.openxmlformats.org/drawingml/2006/main">
            <a:pPr algn="l">
              <a:defRPr sz="1650" b="0">
                <a:solidFill>
                  <a:srgbClr val="162B3D"/>
                </a:solidFill>
                <a:latin typeface="Aptos"/>
                <a:ea typeface="Aptos"/>
                <a:cs typeface="Aptos"/>
              </a:defRPr>
            </a:pPr>
            <a:r>
              <a:rPr sz="1650" b="0">
                <a:solidFill>
                  <a:srgbClr val="162B3D"/>
                </a:solidFill>
                <a:latin typeface="Aptos"/>
                <a:ea typeface="Aptos"/>
                <a:cs typeface="Aptos"/>
              </a:rPr>
              <a:t>8 bits: D7–D0 and Q7–Q0</a:t>
            </a:r>
          </a:p>
        </p:txBody>
      </p:sp>
      <p:sp>
        <p:nvSpPr>
          <p:cNvPr id="7" name="">
            <a:extLst xmlns:a="http://schemas.openxmlformats.org/drawingml/2006/main">
              <a:ext uri="{FF2B5EF4-FFF2-40B4-BE49-F238E27FC236}">
                <a16:creationId xmlns:a16="http://schemas.microsoft.com/office/drawing/2014/main" id="{ACB4A907-678F-41EB-B7C2-69F4C4F3044D}"/>
              </a:ext>
            </a:extLst>
          </p:cNvPr>
          <p:cNvSpPr>
            <a:spLocks xmlns:a="http://schemas.openxmlformats.org/drawingml/2006/main" noGrp="1"/>
          </p:cNvSpPr>
          <p:nvPr/>
        </p:nvSpPr>
        <p:spPr>
          <a:xfrm xmlns:a="http://schemas.openxmlformats.org/drawingml/2006/main">
            <a:off x="876300" y="2800350"/>
            <a:ext cx="10125075"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8" name="">
            <a:extLst xmlns:a="http://schemas.openxmlformats.org/drawingml/2006/main">
              <a:ext uri="{FF2B5EF4-FFF2-40B4-BE49-F238E27FC236}">
                <a16:creationId xmlns:a16="http://schemas.microsoft.com/office/drawing/2014/main" id="{81357462-E9F1-4D0C-A3C4-49A53397FA99}"/>
              </a:ext>
            </a:extLst>
          </p:cNvPr>
          <p:cNvSpPr>
            <a:spLocks xmlns:a="http://schemas.openxmlformats.org/drawingml/2006/main" noGrp="1"/>
          </p:cNvSpPr>
          <p:nvPr/>
        </p:nvSpPr>
        <p:spPr>
          <a:xfrm xmlns:a="http://schemas.openxmlformats.org/drawingml/2006/main">
            <a:off x="876300" y="30194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C9A92"/>
                </a:solidFill>
                <a:latin typeface="Aptos"/>
                <a:ea typeface="Aptos"/>
                <a:cs typeface="Aptos"/>
              </a:defRPr>
            </a:defPPr>
          </a:lstStyle>
          <a:p xmlns:a="http://schemas.openxmlformats.org/drawingml/2006/main">
            <a:pPr algn="l">
              <a:defRPr sz="1650" b="1">
                <a:solidFill>
                  <a:srgbClr val="1C9A92"/>
                </a:solidFill>
                <a:latin typeface="Aptos"/>
                <a:ea typeface="Aptos"/>
                <a:cs typeface="Aptos"/>
              </a:defRPr>
            </a:pPr>
            <a:r>
              <a:rPr sz="1650" b="1">
                <a:solidFill>
                  <a:srgbClr val="1C9A92"/>
                </a:solidFill>
                <a:latin typeface="Aptos"/>
                <a:ea typeface="Aptos"/>
                <a:cs typeface="Aptos"/>
              </a:rPr>
              <a:t>Control</a:t>
            </a:r>
          </a:p>
        </p:txBody>
      </p:sp>
      <p:sp>
        <p:nvSpPr>
          <p:cNvPr id="9" name="">
            <a:extLst xmlns:a="http://schemas.openxmlformats.org/drawingml/2006/main">
              <a:ext uri="{FF2B5EF4-FFF2-40B4-BE49-F238E27FC236}">
                <a16:creationId xmlns:a16="http://schemas.microsoft.com/office/drawing/2014/main" id="{9E56D586-41B4-4D9D-8B97-F05BAEE8C370}"/>
              </a:ext>
            </a:extLst>
          </p:cNvPr>
          <p:cNvSpPr>
            <a:spLocks xmlns:a="http://schemas.openxmlformats.org/drawingml/2006/main" noGrp="1"/>
          </p:cNvSpPr>
          <p:nvPr/>
        </p:nvSpPr>
        <p:spPr>
          <a:xfrm xmlns:a="http://schemas.openxmlformats.org/drawingml/2006/main">
            <a:off x="2714625" y="3019425"/>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B3D"/>
                </a:solidFill>
                <a:latin typeface="Aptos"/>
                <a:ea typeface="Aptos"/>
                <a:cs typeface="Aptos"/>
              </a:defRPr>
            </a:defPPr>
          </a:lstStyle>
          <a:p xmlns:a="http://schemas.openxmlformats.org/drawingml/2006/main">
            <a:pPr algn="l">
              <a:defRPr sz="1650" b="0">
                <a:solidFill>
                  <a:srgbClr val="162B3D"/>
                </a:solidFill>
                <a:latin typeface="Aptos"/>
                <a:ea typeface="Aptos"/>
                <a:cs typeface="Aptos"/>
              </a:defRPr>
            </a:pPr>
            <a:r>
              <a:rPr sz="1650" b="0">
                <a:solidFill>
                  <a:srgbClr val="162B3D"/>
                </a:solidFill>
                <a:latin typeface="Aptos"/>
                <a:ea typeface="Aptos"/>
                <a:cs typeface="Aptos"/>
              </a:rPr>
              <a:t>EN = 1 loads input data; EN = 0 holds the stored word</a:t>
            </a:r>
          </a:p>
        </p:txBody>
      </p:sp>
      <p:sp>
        <p:nvSpPr>
          <p:cNvPr id="10" name="">
            <a:extLst xmlns:a="http://schemas.openxmlformats.org/drawingml/2006/main">
              <a:ext uri="{FF2B5EF4-FFF2-40B4-BE49-F238E27FC236}">
                <a16:creationId xmlns:a16="http://schemas.microsoft.com/office/drawing/2014/main" id="{6F91B3E9-1431-4F20-B187-D7FB00AA0F69}"/>
              </a:ext>
            </a:extLst>
          </p:cNvPr>
          <p:cNvSpPr>
            <a:spLocks xmlns:a="http://schemas.openxmlformats.org/drawingml/2006/main" noGrp="1"/>
          </p:cNvSpPr>
          <p:nvPr/>
        </p:nvSpPr>
        <p:spPr>
          <a:xfrm xmlns:a="http://schemas.openxmlformats.org/drawingml/2006/main">
            <a:off x="876300" y="3581400"/>
            <a:ext cx="10125075"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11" name="">
            <a:extLst xmlns:a="http://schemas.openxmlformats.org/drawingml/2006/main">
              <a:ext uri="{FF2B5EF4-FFF2-40B4-BE49-F238E27FC236}">
                <a16:creationId xmlns:a16="http://schemas.microsoft.com/office/drawing/2014/main" id="{2E098ED6-4680-4F27-BACC-879786C7C7E8}"/>
              </a:ext>
            </a:extLst>
          </p:cNvPr>
          <p:cNvSpPr>
            <a:spLocks xmlns:a="http://schemas.openxmlformats.org/drawingml/2006/main" noGrp="1"/>
          </p:cNvSpPr>
          <p:nvPr/>
        </p:nvSpPr>
        <p:spPr>
          <a:xfrm xmlns:a="http://schemas.openxmlformats.org/drawingml/2006/main">
            <a:off x="876300" y="380047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C9A92"/>
                </a:solidFill>
                <a:latin typeface="Aptos"/>
                <a:ea typeface="Aptos"/>
                <a:cs typeface="Aptos"/>
              </a:defRPr>
            </a:defPPr>
          </a:lstStyle>
          <a:p xmlns:a="http://schemas.openxmlformats.org/drawingml/2006/main">
            <a:pPr algn="l">
              <a:defRPr sz="1650" b="1">
                <a:solidFill>
                  <a:srgbClr val="1C9A92"/>
                </a:solidFill>
                <a:latin typeface="Aptos"/>
                <a:ea typeface="Aptos"/>
                <a:cs typeface="Aptos"/>
              </a:defRPr>
            </a:pPr>
            <a:r>
              <a:rPr sz="1650" b="1">
                <a:solidFill>
                  <a:srgbClr val="1C9A92"/>
                </a:solidFill>
                <a:latin typeface="Aptos"/>
                <a:ea typeface="Aptos"/>
                <a:cs typeface="Aptos"/>
              </a:rPr>
              <a:t>Timing</a:t>
            </a:r>
          </a:p>
        </p:txBody>
      </p:sp>
      <p:sp>
        <p:nvSpPr>
          <p:cNvPr id="12" name="">
            <a:extLst xmlns:a="http://schemas.openxmlformats.org/drawingml/2006/main">
              <a:ext uri="{FF2B5EF4-FFF2-40B4-BE49-F238E27FC236}">
                <a16:creationId xmlns:a16="http://schemas.microsoft.com/office/drawing/2014/main" id="{573F0430-B63D-47F7-BC17-DA770FAE76F5}"/>
              </a:ext>
            </a:extLst>
          </p:cNvPr>
          <p:cNvSpPr>
            <a:spLocks xmlns:a="http://schemas.openxmlformats.org/drawingml/2006/main" noGrp="1"/>
          </p:cNvSpPr>
          <p:nvPr/>
        </p:nvSpPr>
        <p:spPr>
          <a:xfrm xmlns:a="http://schemas.openxmlformats.org/drawingml/2006/main">
            <a:off x="2714625" y="3800475"/>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B3D"/>
                </a:solidFill>
                <a:latin typeface="Aptos"/>
                <a:ea typeface="Aptos"/>
                <a:cs typeface="Aptos"/>
              </a:defRPr>
            </a:defPPr>
          </a:lstStyle>
          <a:p xmlns:a="http://schemas.openxmlformats.org/drawingml/2006/main">
            <a:pPr algn="l">
              <a:defRPr sz="1650" b="0">
                <a:solidFill>
                  <a:srgbClr val="162B3D"/>
                </a:solidFill>
                <a:latin typeface="Aptos"/>
                <a:ea typeface="Aptos"/>
                <a:cs typeface="Aptos"/>
              </a:defRPr>
            </a:pPr>
            <a:r>
              <a:rPr sz="1650" b="0">
                <a:solidFill>
                  <a:srgbClr val="162B3D"/>
                </a:solidFill>
                <a:latin typeface="Aptos"/>
                <a:ea typeface="Aptos"/>
                <a:cs typeface="Aptos"/>
              </a:rPr>
              <a:t>Synchronous: the register changes only at the active clock edge</a:t>
            </a:r>
          </a:p>
        </p:txBody>
      </p:sp>
      <p:sp>
        <p:nvSpPr>
          <p:cNvPr id="13" name="">
            <a:extLst xmlns:a="http://schemas.openxmlformats.org/drawingml/2006/main">
              <a:ext uri="{FF2B5EF4-FFF2-40B4-BE49-F238E27FC236}">
                <a16:creationId xmlns:a16="http://schemas.microsoft.com/office/drawing/2014/main" id="{BD01F5D6-12C4-46FD-B13A-7C7CFA94E2A9}"/>
              </a:ext>
            </a:extLst>
          </p:cNvPr>
          <p:cNvSpPr>
            <a:spLocks xmlns:a="http://schemas.openxmlformats.org/drawingml/2006/main" noGrp="1"/>
          </p:cNvSpPr>
          <p:nvPr/>
        </p:nvSpPr>
        <p:spPr>
          <a:xfrm xmlns:a="http://schemas.openxmlformats.org/drawingml/2006/main">
            <a:off x="876300" y="4362450"/>
            <a:ext cx="10125075"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14" name="">
            <a:extLst xmlns:a="http://schemas.openxmlformats.org/drawingml/2006/main">
              <a:ext uri="{FF2B5EF4-FFF2-40B4-BE49-F238E27FC236}">
                <a16:creationId xmlns:a16="http://schemas.microsoft.com/office/drawing/2014/main" id="{4005C30D-AC3E-47CD-AC12-7A7406068D7A}"/>
              </a:ext>
            </a:extLst>
          </p:cNvPr>
          <p:cNvSpPr>
            <a:spLocks xmlns:a="http://schemas.openxmlformats.org/drawingml/2006/main" noGrp="1"/>
          </p:cNvSpPr>
          <p:nvPr/>
        </p:nvSpPr>
        <p:spPr>
          <a:xfrm xmlns:a="http://schemas.openxmlformats.org/drawingml/2006/main">
            <a:off x="876300" y="45815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C9A92"/>
                </a:solidFill>
                <a:latin typeface="Aptos"/>
                <a:ea typeface="Aptos"/>
                <a:cs typeface="Aptos"/>
              </a:defRPr>
            </a:defPPr>
          </a:lstStyle>
          <a:p xmlns:a="http://schemas.openxmlformats.org/drawingml/2006/main">
            <a:pPr algn="l">
              <a:defRPr sz="1650" b="1">
                <a:solidFill>
                  <a:srgbClr val="1C9A92"/>
                </a:solidFill>
                <a:latin typeface="Aptos"/>
                <a:ea typeface="Aptos"/>
                <a:cs typeface="Aptos"/>
              </a:defRPr>
            </a:pPr>
            <a:r>
              <a:rPr sz="1650" b="1">
                <a:solidFill>
                  <a:srgbClr val="1C9A92"/>
                </a:solidFill>
                <a:latin typeface="Aptos"/>
                <a:ea typeface="Aptos"/>
                <a:cs typeface="Aptos"/>
              </a:rPr>
              <a:t>Storage</a:t>
            </a:r>
          </a:p>
        </p:txBody>
      </p:sp>
      <p:sp>
        <p:nvSpPr>
          <p:cNvPr id="15" name="">
            <a:extLst xmlns:a="http://schemas.openxmlformats.org/drawingml/2006/main">
              <a:ext uri="{FF2B5EF4-FFF2-40B4-BE49-F238E27FC236}">
                <a16:creationId xmlns:a16="http://schemas.microsoft.com/office/drawing/2014/main" id="{215EA06F-F6E8-4C3A-A89E-1CA7B6B07C63}"/>
              </a:ext>
            </a:extLst>
          </p:cNvPr>
          <p:cNvSpPr>
            <a:spLocks xmlns:a="http://schemas.openxmlformats.org/drawingml/2006/main" noGrp="1"/>
          </p:cNvSpPr>
          <p:nvPr/>
        </p:nvSpPr>
        <p:spPr>
          <a:xfrm xmlns:a="http://schemas.openxmlformats.org/drawingml/2006/main">
            <a:off x="2714625" y="4581525"/>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B3D"/>
                </a:solidFill>
                <a:latin typeface="Aptos"/>
                <a:ea typeface="Aptos"/>
                <a:cs typeface="Aptos"/>
              </a:defRPr>
            </a:defPPr>
          </a:lstStyle>
          <a:p xmlns:a="http://schemas.openxmlformats.org/drawingml/2006/main">
            <a:pPr algn="l">
              <a:defRPr sz="1650" b="0">
                <a:solidFill>
                  <a:srgbClr val="162B3D"/>
                </a:solidFill>
                <a:latin typeface="Aptos"/>
                <a:ea typeface="Aptos"/>
                <a:cs typeface="Aptos"/>
              </a:defRPr>
            </a:pPr>
            <a:r>
              <a:rPr sz="1650" b="0">
                <a:solidFill>
                  <a:srgbClr val="162B3D"/>
                </a:solidFill>
                <a:latin typeface="Aptos"/>
                <a:ea typeface="Aptos"/>
                <a:cs typeface="Aptos"/>
              </a:rPr>
              <a:t>Eight D flip-flops, one for each bit</a:t>
            </a:r>
          </a:p>
        </p:txBody>
      </p:sp>
      <p:sp>
        <p:nvSpPr>
          <p:cNvPr id="16" name="">
            <a:extLst xmlns:a="http://schemas.openxmlformats.org/drawingml/2006/main">
              <a:ext uri="{FF2B5EF4-FFF2-40B4-BE49-F238E27FC236}">
                <a16:creationId xmlns:a16="http://schemas.microsoft.com/office/drawing/2014/main" id="{68B6F13E-226D-46D6-90D8-F6EEB6F70D6C}"/>
              </a:ext>
            </a:extLst>
          </p:cNvPr>
          <p:cNvSpPr>
            <a:spLocks xmlns:a="http://schemas.openxmlformats.org/drawingml/2006/main" noGrp="1"/>
          </p:cNvSpPr>
          <p:nvPr/>
        </p:nvSpPr>
        <p:spPr>
          <a:xfrm xmlns:a="http://schemas.openxmlformats.org/drawingml/2006/main">
            <a:off x="7239000" y="5581650"/>
            <a:ext cx="3714750" cy="400050"/>
          </a:xfrm>
          <a:prstGeom xmlns:a="http://schemas.openxmlformats.org/drawingml/2006/main" prst="roundRect">
            <a:avLst>
              <a:gd name="adj" fmla="val 28571"/>
            </a:avLst>
          </a:prstGeom>
          <a:solidFill xmlns:a="http://schemas.openxmlformats.org/drawingml/2006/main">
            <a:srgbClr val="EAF0F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39AA6D5-0E6A-4830-9FE7-2C0543B9E31E}"/>
              </a:ext>
            </a:extLst>
          </p:cNvPr>
          <p:cNvSpPr>
            <a:spLocks xmlns:a="http://schemas.openxmlformats.org/drawingml/2006/main" noGrp="1"/>
          </p:cNvSpPr>
          <p:nvPr/>
        </p:nvSpPr>
        <p:spPr>
          <a:xfrm xmlns:a="http://schemas.openxmlformats.org/drawingml/2006/main">
            <a:off x="7315200" y="5600700"/>
            <a:ext cx="3562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1">
                <a:solidFill>
                  <a:srgbClr val="526779"/>
                </a:solidFill>
                <a:latin typeface="Aptos"/>
                <a:ea typeface="Aptos"/>
                <a:cs typeface="Aptos"/>
              </a:defRPr>
            </a:defPPr>
          </a:lstStyle>
          <a:p xmlns:a="http://schemas.openxmlformats.org/drawingml/2006/main">
            <a:pPr algn="ctr">
              <a:defRPr sz="1275" b="1">
                <a:solidFill>
                  <a:srgbClr val="526779"/>
                </a:solidFill>
                <a:latin typeface="Aptos"/>
                <a:ea typeface="Aptos"/>
                <a:cs typeface="Aptos"/>
              </a:defRPr>
            </a:pPr>
            <a:r>
              <a:rPr sz="1275" b="1">
                <a:solidFill>
                  <a:srgbClr val="526779"/>
                </a:solidFill>
                <a:latin typeface="Aptos"/>
                <a:ea typeface="Aptos"/>
                <a:cs typeface="Aptos"/>
              </a:rPr>
              <a:t>No reset input is specified in the project prompt</a:t>
            </a:r>
          </a:p>
        </p:txBody>
      </p:sp>
    </p:spTree>
    <p:extLst>
      <p:ext uri="{BB962C8B-B14F-4D97-AF65-F5344CB8AC3E}">
        <p14:creationId xmlns:p14="http://schemas.microsoft.com/office/powerpoint/2010/main" val="367019235"/>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5545F584-F86D-4E8D-AA15-4BD440F30421}"/>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0243A"/>
                </a:solidFill>
                <a:latin typeface="Aptos"/>
                <a:ea typeface="Aptos"/>
                <a:cs typeface="Aptos"/>
              </a:defRPr>
            </a:defPPr>
          </a:lstStyle>
          <a:p xmlns:a="http://schemas.openxmlformats.org/drawingml/2006/main">
            <a:pPr algn="l">
              <a:defRPr sz="3150" b="1">
                <a:solidFill>
                  <a:srgbClr val="10243A"/>
                </a:solidFill>
                <a:latin typeface="Aptos"/>
                <a:ea typeface="Aptos"/>
                <a:cs typeface="Aptos"/>
              </a:defRPr>
            </a:pPr>
            <a:r>
              <a:rPr sz="3150" b="1">
                <a:solidFill>
                  <a:srgbClr val="10243A"/>
                </a:solidFill>
                <a:latin typeface="Aptos"/>
                <a:ea typeface="Aptos"/>
                <a:cs typeface="Aptos"/>
              </a:rPr>
              <a:t>One bit: the building block</a:t>
            </a:r>
          </a:p>
        </p:txBody>
      </p:sp>
      <p:sp>
        <p:nvSpPr>
          <p:cNvPr id="2" name="">
            <a:extLst xmlns:a="http://schemas.openxmlformats.org/drawingml/2006/main">
              <a:ext uri="{FF2B5EF4-FFF2-40B4-BE49-F238E27FC236}">
                <a16:creationId xmlns:a16="http://schemas.microsoft.com/office/drawing/2014/main" id="{8D74DD9B-199D-44E2-A522-50B8074300F3}"/>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671E5223-7894-47A8-B443-131B444C7655}"/>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718391"/>
                </a:solidFill>
                <a:latin typeface="Aptos"/>
                <a:ea typeface="Aptos"/>
                <a:cs typeface="Aptos"/>
              </a:defRPr>
            </a:defPPr>
          </a:lstStyle>
          <a:p xmlns:a="http://schemas.openxmlformats.org/drawingml/2006/main">
            <a:pPr algn="r">
              <a:defRPr sz="1125" b="1">
                <a:solidFill>
                  <a:srgbClr val="718391"/>
                </a:solidFill>
                <a:latin typeface="Aptos"/>
                <a:ea typeface="Aptos"/>
                <a:cs typeface="Aptos"/>
              </a:defRPr>
            </a:pPr>
            <a:r>
              <a:rPr sz="1125" b="1">
                <a:solidFill>
                  <a:srgbClr val="718391"/>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37822F6B-A31E-4BC6-AA5F-169623316936}"/>
              </a:ext>
            </a:extLst>
          </p:cNvPr>
          <p:cNvSpPr>
            <a:spLocks xmlns:a="http://schemas.openxmlformats.org/drawingml/2006/main" noGrp="1"/>
          </p:cNvSpPr>
          <p:nvPr/>
        </p:nvSpPr>
        <p:spPr>
          <a:xfrm xmlns:a="http://schemas.openxmlformats.org/drawingml/2006/main">
            <a:off x="685800" y="1304925"/>
            <a:ext cx="976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0">
                <a:solidFill>
                  <a:srgbClr val="526779"/>
                </a:solidFill>
                <a:latin typeface="Aptos"/>
                <a:ea typeface="Aptos"/>
                <a:cs typeface="Aptos"/>
              </a:defRPr>
            </a:defPPr>
          </a:lstStyle>
          <a:p xmlns:a="http://schemas.openxmlformats.org/drawingml/2006/main">
            <a:pPr algn="l">
              <a:defRPr sz="1800" b="0">
                <a:solidFill>
                  <a:srgbClr val="526779"/>
                </a:solidFill>
                <a:latin typeface="Aptos"/>
                <a:ea typeface="Aptos"/>
                <a:cs typeface="Aptos"/>
              </a:defRPr>
            </a:pPr>
            <a:r>
              <a:rPr sz="1800" b="0">
                <a:solidFill>
                  <a:srgbClr val="526779"/>
                </a:solidFill>
                <a:latin typeface="Aptos"/>
                <a:ea typeface="Aptos"/>
                <a:cs typeface="Aptos"/>
              </a:rPr>
              <a:t>Each bit needs a choice between new data and its own old value.</a:t>
            </a:r>
          </a:p>
        </p:txBody>
      </p:sp>
      <p:sp>
        <p:nvSpPr>
          <p:cNvPr id="5" name="one-bit-mux">
            <a:extLst xmlns:a="http://schemas.openxmlformats.org/drawingml/2006/main">
              <a:ext uri="{FF2B5EF4-FFF2-40B4-BE49-F238E27FC236}">
                <a16:creationId xmlns:a16="http://schemas.microsoft.com/office/drawing/2014/main" id="{39BD663A-7928-4BE1-A267-C1B4858498A2}"/>
              </a:ext>
            </a:extLst>
          </p:cNvPr>
          <p:cNvSpPr>
            <a:spLocks xmlns:a="http://schemas.openxmlformats.org/drawingml/2006/main" noGrp="1"/>
          </p:cNvSpPr>
          <p:nvPr/>
        </p:nvSpPr>
        <p:spPr>
          <a:xfrm xmlns:a="http://schemas.openxmlformats.org/drawingml/2006/main">
            <a:off x="3429000" y="2524125"/>
            <a:ext cx="1809750" cy="1314450"/>
          </a:xfrm>
          <a:prstGeom xmlns:a="http://schemas.openxmlformats.org/drawingml/2006/main" prst="roundRect">
            <a:avLst>
              <a:gd name="adj" fmla="val 5797"/>
            </a:avLst>
          </a:prstGeom>
          <a:solidFill xmlns:a="http://schemas.openxmlformats.org/drawingml/2006/main">
            <a:srgbClr val="DDF4F0"/>
          </a:solidFill>
          <a:ln xmlns:a="http://schemas.openxmlformats.org/drawingml/2006/main" w="19050">
            <a:solidFill>
              <a:srgbClr val="1C9A92"/>
            </a:solidFill>
            <a:prstDash val="solid"/>
          </a:ln>
        </p:spPr>
      </p:sp>
      <p:sp>
        <p:nvSpPr>
          <p:cNvPr id="6" name="">
            <a:extLst xmlns:a="http://schemas.openxmlformats.org/drawingml/2006/main">
              <a:ext uri="{FF2B5EF4-FFF2-40B4-BE49-F238E27FC236}">
                <a16:creationId xmlns:a16="http://schemas.microsoft.com/office/drawing/2014/main" id="{71E508D9-2234-4890-9988-3DC454940E03}"/>
              </a:ext>
            </a:extLst>
          </p:cNvPr>
          <p:cNvSpPr>
            <a:spLocks xmlns:a="http://schemas.openxmlformats.org/drawingml/2006/main" noGrp="1"/>
          </p:cNvSpPr>
          <p:nvPr/>
        </p:nvSpPr>
        <p:spPr>
          <a:xfrm xmlns:a="http://schemas.openxmlformats.org/drawingml/2006/main">
            <a:off x="3571875" y="26765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00" b="1">
                <a:solidFill>
                  <a:srgbClr val="10243A"/>
                </a:solidFill>
                <a:latin typeface="Aptos"/>
                <a:ea typeface="Aptos"/>
                <a:cs typeface="Aptos"/>
              </a:defRPr>
            </a:defPPr>
          </a:lstStyle>
          <a:p xmlns:a="http://schemas.openxmlformats.org/drawingml/2006/main">
            <a:pPr algn="ctr">
              <a:defRPr sz="1800" b="1">
                <a:solidFill>
                  <a:srgbClr val="10243A"/>
                </a:solidFill>
                <a:latin typeface="Aptos"/>
                <a:ea typeface="Aptos"/>
                <a:cs typeface="Aptos"/>
              </a:defRPr>
            </a:pPr>
            <a:r>
              <a:rPr sz="1800" b="1">
                <a:solidFill>
                  <a:srgbClr val="10243A"/>
                </a:solidFill>
                <a:latin typeface="Aptos"/>
                <a:ea typeface="Aptos"/>
                <a:cs typeface="Aptos"/>
              </a:rPr>
              <a:t>2:1 MUX</a:t>
            </a:r>
          </a:p>
        </p:txBody>
      </p:sp>
      <p:sp>
        <p:nvSpPr>
          <p:cNvPr id="7" name="">
            <a:extLst xmlns:a="http://schemas.openxmlformats.org/drawingml/2006/main">
              <a:ext uri="{FF2B5EF4-FFF2-40B4-BE49-F238E27FC236}">
                <a16:creationId xmlns:a16="http://schemas.microsoft.com/office/drawing/2014/main" id="{FC6124E6-6A33-4029-B092-3D80B1FC7037}"/>
              </a:ext>
            </a:extLst>
          </p:cNvPr>
          <p:cNvSpPr>
            <a:spLocks xmlns:a="http://schemas.openxmlformats.org/drawingml/2006/main" noGrp="1"/>
          </p:cNvSpPr>
          <p:nvPr/>
        </p:nvSpPr>
        <p:spPr>
          <a:xfrm xmlns:a="http://schemas.openxmlformats.org/drawingml/2006/main">
            <a:off x="3571875" y="3067050"/>
            <a:ext cx="152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C9A92"/>
                </a:solidFill>
                <a:latin typeface="Aptos"/>
                <a:ea typeface="Aptos"/>
                <a:cs typeface="Aptos"/>
              </a:defRPr>
            </a:defPPr>
          </a:lstStyle>
          <a:p xmlns:a="http://schemas.openxmlformats.org/drawingml/2006/main">
            <a:pPr algn="ctr">
              <a:defRPr sz="1350" b="1">
                <a:solidFill>
                  <a:srgbClr val="1C9A92"/>
                </a:solidFill>
                <a:latin typeface="Aptos"/>
                <a:ea typeface="Aptos"/>
                <a:cs typeface="Aptos"/>
              </a:defRPr>
            </a:pPr>
            <a:r>
              <a:rPr sz="1350" b="1">
                <a:solidFill>
                  <a:srgbClr val="1C9A92"/>
                </a:solidFill>
                <a:latin typeface="Aptos"/>
                <a:ea typeface="Aptos"/>
                <a:cs typeface="Aptos"/>
              </a:rPr>
              <a:t>select = EN</a:t>
            </a:r>
          </a:p>
        </p:txBody>
      </p:sp>
      <p:sp>
        <p:nvSpPr>
          <p:cNvPr id="8" name="one-bit-dff">
            <a:extLst xmlns:a="http://schemas.openxmlformats.org/drawingml/2006/main">
              <a:ext uri="{FF2B5EF4-FFF2-40B4-BE49-F238E27FC236}">
                <a16:creationId xmlns:a16="http://schemas.microsoft.com/office/drawing/2014/main" id="{3D7C8487-2B7E-411B-97A1-2ADB7C5AD609}"/>
              </a:ext>
            </a:extLst>
          </p:cNvPr>
          <p:cNvSpPr>
            <a:spLocks xmlns:a="http://schemas.openxmlformats.org/drawingml/2006/main" noGrp="1"/>
          </p:cNvSpPr>
          <p:nvPr/>
        </p:nvSpPr>
        <p:spPr>
          <a:xfrm xmlns:a="http://schemas.openxmlformats.org/drawingml/2006/main">
            <a:off x="6572250" y="2619375"/>
            <a:ext cx="1809750" cy="1123950"/>
          </a:xfrm>
          <a:prstGeom xmlns:a="http://schemas.openxmlformats.org/drawingml/2006/main" prst="rect">
            <a:avLst/>
          </a:prstGeom>
          <a:solidFill xmlns:a="http://schemas.openxmlformats.org/drawingml/2006/main">
            <a:srgbClr val="FFFFFF"/>
          </a:solidFill>
          <a:ln xmlns:a="http://schemas.openxmlformats.org/drawingml/2006/main" w="19050">
            <a:solidFill>
              <a:srgbClr val="10243A"/>
            </a:solidFill>
            <a:prstDash val="solid"/>
          </a:ln>
        </p:spPr>
      </p:sp>
      <p:sp>
        <p:nvSpPr>
          <p:cNvPr id="9" name="">
            <a:extLst xmlns:a="http://schemas.openxmlformats.org/drawingml/2006/main">
              <a:ext uri="{FF2B5EF4-FFF2-40B4-BE49-F238E27FC236}">
                <a16:creationId xmlns:a16="http://schemas.microsoft.com/office/drawing/2014/main" id="{D95226B2-3DFF-43D9-B869-FFD341E6C8B2}"/>
              </a:ext>
            </a:extLst>
          </p:cNvPr>
          <p:cNvSpPr>
            <a:spLocks xmlns:a="http://schemas.openxmlformats.org/drawingml/2006/main" noGrp="1"/>
          </p:cNvSpPr>
          <p:nvPr/>
        </p:nvSpPr>
        <p:spPr>
          <a:xfrm xmlns:a="http://schemas.openxmlformats.org/drawingml/2006/main">
            <a:off x="6705600" y="2771775"/>
            <a:ext cx="15430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10243A"/>
                </a:solidFill>
                <a:latin typeface="Aptos"/>
                <a:ea typeface="Aptos"/>
                <a:cs typeface="Aptos"/>
              </a:defRPr>
            </a:defPPr>
          </a:lstStyle>
          <a:p xmlns:a="http://schemas.openxmlformats.org/drawingml/2006/main">
            <a:pPr algn="ctr">
              <a:defRPr sz="1650" b="1">
                <a:solidFill>
                  <a:srgbClr val="10243A"/>
                </a:solidFill>
                <a:latin typeface="Aptos"/>
                <a:ea typeface="Aptos"/>
                <a:cs typeface="Aptos"/>
              </a:defRPr>
            </a:pPr>
            <a:r>
              <a:rPr sz="1650" b="1">
                <a:solidFill>
                  <a:srgbClr val="10243A"/>
                </a:solidFill>
                <a:latin typeface="Aptos"/>
                <a:ea typeface="Aptos"/>
                <a:cs typeface="Aptos"/>
              </a:rPr>
              <a:t>D FLIP-FLOP</a:t>
            </a:r>
          </a:p>
        </p:txBody>
      </p:sp>
      <p:sp>
        <p:nvSpPr>
          <p:cNvPr id="10" name="">
            <a:extLst xmlns:a="http://schemas.openxmlformats.org/drawingml/2006/main">
              <a:ext uri="{FF2B5EF4-FFF2-40B4-BE49-F238E27FC236}">
                <a16:creationId xmlns:a16="http://schemas.microsoft.com/office/drawing/2014/main" id="{8ABB2F72-0394-42B5-B298-4F566BF4C2B3}"/>
              </a:ext>
            </a:extLst>
          </p:cNvPr>
          <p:cNvSpPr>
            <a:spLocks xmlns:a="http://schemas.openxmlformats.org/drawingml/2006/main" noGrp="1"/>
          </p:cNvSpPr>
          <p:nvPr/>
        </p:nvSpPr>
        <p:spPr>
          <a:xfrm xmlns:a="http://schemas.openxmlformats.org/drawingml/2006/main">
            <a:off x="6705600" y="3190875"/>
            <a:ext cx="1543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0">
                <a:solidFill>
                  <a:srgbClr val="526779"/>
                </a:solidFill>
                <a:latin typeface="Aptos"/>
                <a:ea typeface="Aptos"/>
                <a:cs typeface="Aptos"/>
              </a:defRPr>
            </a:defPPr>
          </a:lstStyle>
          <a:p xmlns:a="http://schemas.openxmlformats.org/drawingml/2006/main">
            <a:pPr algn="ctr">
              <a:defRPr sz="1350" b="0">
                <a:solidFill>
                  <a:srgbClr val="526779"/>
                </a:solidFill>
                <a:latin typeface="Aptos"/>
                <a:ea typeface="Aptos"/>
                <a:cs typeface="Aptos"/>
              </a:defRPr>
            </a:pPr>
            <a:r>
              <a:rPr sz="1350" b="0">
                <a:solidFill>
                  <a:srgbClr val="526779"/>
                </a:solidFill>
                <a:latin typeface="Aptos"/>
                <a:ea typeface="Aptos"/>
                <a:cs typeface="Aptos"/>
              </a:rPr>
              <a:t>stores one bit</a:t>
            </a:r>
          </a:p>
        </p:txBody>
      </p:sp>
      <p:sp>
        <p:nvSpPr>
          <p:cNvPr id="11" name="">
            <a:extLst xmlns:a="http://schemas.openxmlformats.org/drawingml/2006/main">
              <a:ext uri="{FF2B5EF4-FFF2-40B4-BE49-F238E27FC236}">
                <a16:creationId xmlns:a16="http://schemas.microsoft.com/office/drawing/2014/main" id="{65126329-83EE-4A60-BE75-B7192493BEF6}"/>
              </a:ext>
            </a:extLst>
          </p:cNvPr>
          <p:cNvSpPr>
            <a:spLocks xmlns:a="http://schemas.openxmlformats.org/drawingml/2006/main" noGrp="1"/>
          </p:cNvSpPr>
          <p:nvPr/>
        </p:nvSpPr>
        <p:spPr>
          <a:xfrm xmlns:a="http://schemas.openxmlformats.org/drawingml/2006/main">
            <a:off x="1666875" y="2857500"/>
            <a:ext cx="1762125" cy="0"/>
          </a:xfrm>
          <a:prstGeom xmlns:a="http://schemas.openxmlformats.org/drawingml/2006/main" prst="line">
            <a:avLst/>
          </a:prstGeom>
          <a:noFill xmlns:a="http://schemas.openxmlformats.org/drawingml/2006/main"/>
          <a:ln xmlns:a="http://schemas.openxmlformats.org/drawingml/2006/main" w="28575">
            <a:solidFill>
              <a:srgbClr val="4777A8"/>
            </a:solidFill>
            <a:prstDash val="solid"/>
          </a:ln>
        </p:spPr>
      </p:sp>
      <p:sp>
        <p:nvSpPr>
          <p:cNvPr id="12" name="">
            <a:extLst xmlns:a="http://schemas.openxmlformats.org/drawingml/2006/main">
              <a:ext uri="{FF2B5EF4-FFF2-40B4-BE49-F238E27FC236}">
                <a16:creationId xmlns:a16="http://schemas.microsoft.com/office/drawing/2014/main" id="{1D7C98AF-67B1-4957-AEEE-8C70C054201E}"/>
              </a:ext>
            </a:extLst>
          </p:cNvPr>
          <p:cNvSpPr>
            <a:spLocks xmlns:a="http://schemas.openxmlformats.org/drawingml/2006/main" noGrp="1"/>
          </p:cNvSpPr>
          <p:nvPr/>
        </p:nvSpPr>
        <p:spPr>
          <a:xfrm xmlns:a="http://schemas.openxmlformats.org/drawingml/2006/main">
            <a:off x="1123950" y="26479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4777A8"/>
                </a:solidFill>
                <a:latin typeface="Aptos"/>
                <a:ea typeface="Aptos"/>
                <a:cs typeface="Aptos"/>
              </a:defRPr>
            </a:defPPr>
          </a:lstStyle>
          <a:p xmlns:a="http://schemas.openxmlformats.org/drawingml/2006/main">
            <a:pPr algn="ctr">
              <a:defRPr sz="1725" b="1">
                <a:solidFill>
                  <a:srgbClr val="4777A8"/>
                </a:solidFill>
                <a:latin typeface="Aptos"/>
                <a:ea typeface="Aptos"/>
                <a:cs typeface="Aptos"/>
              </a:defRPr>
            </a:pPr>
            <a:r>
              <a:rPr sz="1725" b="1">
                <a:solidFill>
                  <a:srgbClr val="4777A8"/>
                </a:solidFill>
                <a:latin typeface="Aptos"/>
                <a:ea typeface="Aptos"/>
                <a:cs typeface="Aptos"/>
              </a:rPr>
              <a:t>Dᵢ</a:t>
            </a:r>
          </a:p>
        </p:txBody>
      </p:sp>
      <p:sp>
        <p:nvSpPr>
          <p:cNvPr id="13" name="">
            <a:extLst xmlns:a="http://schemas.openxmlformats.org/drawingml/2006/main">
              <a:ext uri="{FF2B5EF4-FFF2-40B4-BE49-F238E27FC236}">
                <a16:creationId xmlns:a16="http://schemas.microsoft.com/office/drawing/2014/main" id="{E007DC77-2772-477A-9B77-11FB5DA51AFA}"/>
              </a:ext>
            </a:extLst>
          </p:cNvPr>
          <p:cNvSpPr>
            <a:spLocks xmlns:a="http://schemas.openxmlformats.org/drawingml/2006/main" noGrp="1"/>
          </p:cNvSpPr>
          <p:nvPr/>
        </p:nvSpPr>
        <p:spPr>
          <a:xfrm xmlns:a="http://schemas.openxmlformats.org/drawingml/2006/main">
            <a:off x="5238750" y="3181350"/>
            <a:ext cx="1333500" cy="0"/>
          </a:xfrm>
          <a:prstGeom xmlns:a="http://schemas.openxmlformats.org/drawingml/2006/main" prst="line">
            <a:avLst/>
          </a:prstGeom>
          <a:noFill xmlns:a="http://schemas.openxmlformats.org/drawingml/2006/main"/>
          <a:ln xmlns:a="http://schemas.openxmlformats.org/drawingml/2006/main" w="28575">
            <a:solidFill>
              <a:srgbClr val="1C9A92"/>
            </a:solidFill>
            <a:prstDash val="solid"/>
          </a:ln>
        </p:spPr>
      </p:sp>
      <p:sp>
        <p:nvSpPr>
          <p:cNvPr id="14" name="">
            <a:extLst xmlns:a="http://schemas.openxmlformats.org/drawingml/2006/main">
              <a:ext uri="{FF2B5EF4-FFF2-40B4-BE49-F238E27FC236}">
                <a16:creationId xmlns:a16="http://schemas.microsoft.com/office/drawing/2014/main" id="{0642DEE7-5F77-48CC-9C0A-6ECE62D1A070}"/>
              </a:ext>
            </a:extLst>
          </p:cNvPr>
          <p:cNvSpPr>
            <a:spLocks xmlns:a="http://schemas.openxmlformats.org/drawingml/2006/main" noGrp="1"/>
          </p:cNvSpPr>
          <p:nvPr/>
        </p:nvSpPr>
        <p:spPr>
          <a:xfrm xmlns:a="http://schemas.openxmlformats.org/drawingml/2006/main">
            <a:off x="5314950" y="286702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526779"/>
                </a:solidFill>
                <a:latin typeface="Aptos"/>
                <a:ea typeface="Aptos"/>
                <a:cs typeface="Aptos"/>
              </a:defRPr>
            </a:defPPr>
          </a:lstStyle>
          <a:p xmlns:a="http://schemas.openxmlformats.org/drawingml/2006/main">
            <a:pPr algn="ctr">
              <a:defRPr sz="1200" b="0">
                <a:solidFill>
                  <a:srgbClr val="526779"/>
                </a:solidFill>
                <a:latin typeface="Aptos"/>
                <a:ea typeface="Aptos"/>
                <a:cs typeface="Aptos"/>
              </a:defRPr>
            </a:pPr>
            <a:r>
              <a:rPr sz="1200" b="0">
                <a:solidFill>
                  <a:srgbClr val="526779"/>
                </a:solidFill>
                <a:latin typeface="Aptos"/>
                <a:ea typeface="Aptos"/>
                <a:cs typeface="Aptos"/>
              </a:rPr>
              <a:t>selected value</a:t>
            </a:r>
          </a:p>
        </p:txBody>
      </p:sp>
      <p:sp>
        <p:nvSpPr>
          <p:cNvPr id="15" name="">
            <a:extLst xmlns:a="http://schemas.openxmlformats.org/drawingml/2006/main">
              <a:ext uri="{FF2B5EF4-FFF2-40B4-BE49-F238E27FC236}">
                <a16:creationId xmlns:a16="http://schemas.microsoft.com/office/drawing/2014/main" id="{72C8097E-0A58-411E-B1DC-14188E95FE0B}"/>
              </a:ext>
            </a:extLst>
          </p:cNvPr>
          <p:cNvSpPr>
            <a:spLocks xmlns:a="http://schemas.openxmlformats.org/drawingml/2006/main" noGrp="1"/>
          </p:cNvSpPr>
          <p:nvPr/>
        </p:nvSpPr>
        <p:spPr>
          <a:xfrm xmlns:a="http://schemas.openxmlformats.org/drawingml/2006/main">
            <a:off x="8382000" y="3181350"/>
            <a:ext cx="1981200" cy="0"/>
          </a:xfrm>
          <a:prstGeom xmlns:a="http://schemas.openxmlformats.org/drawingml/2006/main" prst="line">
            <a:avLst/>
          </a:prstGeom>
          <a:noFill xmlns:a="http://schemas.openxmlformats.org/drawingml/2006/main"/>
          <a:ln xmlns:a="http://schemas.openxmlformats.org/drawingml/2006/main" w="28575">
            <a:solidFill>
              <a:srgbClr val="317B63"/>
            </a:solidFill>
            <a:prstDash val="solid"/>
          </a:ln>
        </p:spPr>
      </p:sp>
      <p:sp>
        <p:nvSpPr>
          <p:cNvPr id="16" name="">
            <a:extLst xmlns:a="http://schemas.openxmlformats.org/drawingml/2006/main">
              <a:ext uri="{FF2B5EF4-FFF2-40B4-BE49-F238E27FC236}">
                <a16:creationId xmlns:a16="http://schemas.microsoft.com/office/drawing/2014/main" id="{B07396F1-62EE-4BB1-9C46-753ADC5A1094}"/>
              </a:ext>
            </a:extLst>
          </p:cNvPr>
          <p:cNvSpPr>
            <a:spLocks xmlns:a="http://schemas.openxmlformats.org/drawingml/2006/main" noGrp="1"/>
          </p:cNvSpPr>
          <p:nvPr/>
        </p:nvSpPr>
        <p:spPr>
          <a:xfrm xmlns:a="http://schemas.openxmlformats.org/drawingml/2006/main">
            <a:off x="8667750" y="27813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317B63"/>
                </a:solidFill>
                <a:latin typeface="Aptos"/>
                <a:ea typeface="Aptos"/>
                <a:cs typeface="Aptos"/>
              </a:defRPr>
            </a:defPPr>
          </a:lstStyle>
          <a:p xmlns:a="http://schemas.openxmlformats.org/drawingml/2006/main">
            <a:pPr algn="ctr">
              <a:defRPr sz="1500" b="1">
                <a:solidFill>
                  <a:srgbClr val="317B63"/>
                </a:solidFill>
                <a:latin typeface="Aptos"/>
                <a:ea typeface="Aptos"/>
                <a:cs typeface="Aptos"/>
              </a:defRPr>
            </a:pPr>
            <a:r>
              <a:rPr sz="1500" b="1">
                <a:solidFill>
                  <a:srgbClr val="317B63"/>
                </a:solidFill>
                <a:latin typeface="Aptos"/>
                <a:ea typeface="Aptos"/>
                <a:cs typeface="Aptos"/>
              </a:rPr>
              <a:t>Qᵢ (stored bit)</a:t>
            </a:r>
          </a:p>
        </p:txBody>
      </p:sp>
      <p:sp>
        <p:nvSpPr>
          <p:cNvPr id="17" name="">
            <a:extLst xmlns:a="http://schemas.openxmlformats.org/drawingml/2006/main">
              <a:ext uri="{FF2B5EF4-FFF2-40B4-BE49-F238E27FC236}">
                <a16:creationId xmlns:a16="http://schemas.microsoft.com/office/drawing/2014/main" id="{A93E6583-6C27-4553-A717-1A95F10F256A}"/>
              </a:ext>
            </a:extLst>
          </p:cNvPr>
          <p:cNvSpPr>
            <a:spLocks xmlns:a="http://schemas.openxmlformats.org/drawingml/2006/main" noGrp="1"/>
          </p:cNvSpPr>
          <p:nvPr/>
        </p:nvSpPr>
        <p:spPr>
          <a:xfrm xmlns:a="http://schemas.openxmlformats.org/drawingml/2006/main">
            <a:off x="10363200" y="3181350"/>
            <a:ext cx="0" cy="1314450"/>
          </a:xfrm>
          <a:prstGeom xmlns:a="http://schemas.openxmlformats.org/drawingml/2006/main" prst="line">
            <a:avLst/>
          </a:prstGeom>
          <a:noFill xmlns:a="http://schemas.openxmlformats.org/drawingml/2006/main"/>
          <a:ln xmlns:a="http://schemas.openxmlformats.org/drawingml/2006/main" w="28575">
            <a:solidFill>
              <a:srgbClr val="317B63"/>
            </a:solidFill>
            <a:prstDash val="solid"/>
          </a:ln>
        </p:spPr>
      </p:sp>
      <p:sp>
        <p:nvSpPr>
          <p:cNvPr id="18" name="">
            <a:extLst xmlns:a="http://schemas.openxmlformats.org/drawingml/2006/main">
              <a:ext uri="{FF2B5EF4-FFF2-40B4-BE49-F238E27FC236}">
                <a16:creationId xmlns:a16="http://schemas.microsoft.com/office/drawing/2014/main" id="{FFF0F341-6F88-40A4-914C-F2D5EA7EFD21}"/>
              </a:ext>
            </a:extLst>
          </p:cNvPr>
          <p:cNvSpPr>
            <a:spLocks xmlns:a="http://schemas.openxmlformats.org/drawingml/2006/main" noGrp="1"/>
          </p:cNvSpPr>
          <p:nvPr/>
        </p:nvSpPr>
        <p:spPr>
          <a:xfrm xmlns:a="http://schemas.openxmlformats.org/drawingml/2006/main">
            <a:off x="4333875" y="4495800"/>
            <a:ext cx="6029325" cy="0"/>
          </a:xfrm>
          <a:prstGeom xmlns:a="http://schemas.openxmlformats.org/drawingml/2006/main" prst="line">
            <a:avLst/>
          </a:prstGeom>
          <a:noFill xmlns:a="http://schemas.openxmlformats.org/drawingml/2006/main"/>
          <a:ln xmlns:a="http://schemas.openxmlformats.org/drawingml/2006/main" w="28575">
            <a:solidFill>
              <a:srgbClr val="317B63"/>
            </a:solidFill>
            <a:prstDash val="solid"/>
          </a:ln>
        </p:spPr>
      </p:sp>
      <p:sp>
        <p:nvSpPr>
          <p:cNvPr id="19" name="">
            <a:extLst xmlns:a="http://schemas.openxmlformats.org/drawingml/2006/main">
              <a:ext uri="{FF2B5EF4-FFF2-40B4-BE49-F238E27FC236}">
                <a16:creationId xmlns:a16="http://schemas.microsoft.com/office/drawing/2014/main" id="{F2D11B16-1B45-4BA7-82F8-AA94FB0F01EC}"/>
              </a:ext>
            </a:extLst>
          </p:cNvPr>
          <p:cNvSpPr>
            <a:spLocks xmlns:a="http://schemas.openxmlformats.org/drawingml/2006/main" noGrp="1"/>
          </p:cNvSpPr>
          <p:nvPr/>
        </p:nvSpPr>
        <p:spPr>
          <a:xfrm xmlns:a="http://schemas.openxmlformats.org/drawingml/2006/main">
            <a:off x="4333875" y="3838575"/>
            <a:ext cx="0" cy="657225"/>
          </a:xfrm>
          <a:prstGeom xmlns:a="http://schemas.openxmlformats.org/drawingml/2006/main" prst="line">
            <a:avLst/>
          </a:prstGeom>
          <a:noFill xmlns:a="http://schemas.openxmlformats.org/drawingml/2006/main"/>
          <a:ln xmlns:a="http://schemas.openxmlformats.org/drawingml/2006/main" w="28575">
            <a:solidFill>
              <a:srgbClr val="317B63"/>
            </a:solidFill>
            <a:prstDash val="solid"/>
          </a:ln>
        </p:spPr>
      </p:sp>
      <p:sp>
        <p:nvSpPr>
          <p:cNvPr id="20" name="">
            <a:extLst xmlns:a="http://schemas.openxmlformats.org/drawingml/2006/main">
              <a:ext uri="{FF2B5EF4-FFF2-40B4-BE49-F238E27FC236}">
                <a16:creationId xmlns:a16="http://schemas.microsoft.com/office/drawing/2014/main" id="{5C0E7D50-EA8D-49E0-AD6D-8953BE177B65}"/>
              </a:ext>
            </a:extLst>
          </p:cNvPr>
          <p:cNvSpPr>
            <a:spLocks xmlns:a="http://schemas.openxmlformats.org/drawingml/2006/main" noGrp="1"/>
          </p:cNvSpPr>
          <p:nvPr/>
        </p:nvSpPr>
        <p:spPr>
          <a:xfrm xmlns:a="http://schemas.openxmlformats.org/drawingml/2006/main">
            <a:off x="4657725" y="45720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317B63"/>
                </a:solidFill>
                <a:latin typeface="Aptos"/>
                <a:ea typeface="Aptos"/>
                <a:cs typeface="Aptos"/>
              </a:defRPr>
            </a:defPPr>
          </a:lstStyle>
          <a:p xmlns:a="http://schemas.openxmlformats.org/drawingml/2006/main">
            <a:pPr algn="ctr">
              <a:defRPr sz="1350" b="1">
                <a:solidFill>
                  <a:srgbClr val="317B63"/>
                </a:solidFill>
                <a:latin typeface="Aptos"/>
                <a:ea typeface="Aptos"/>
                <a:cs typeface="Aptos"/>
              </a:defRPr>
            </a:pPr>
            <a:r>
              <a:rPr sz="1350" b="1">
                <a:solidFill>
                  <a:srgbClr val="317B63"/>
                </a:solidFill>
                <a:latin typeface="Aptos"/>
                <a:ea typeface="Aptos"/>
                <a:cs typeface="Aptos"/>
              </a:rPr>
              <a:t>feedback: keep the old value when EN = 0</a:t>
            </a:r>
          </a:p>
        </p:txBody>
      </p:sp>
      <p:sp>
        <p:nvSpPr>
          <p:cNvPr id="21" name="">
            <a:extLst xmlns:a="http://schemas.openxmlformats.org/drawingml/2006/main">
              <a:ext uri="{FF2B5EF4-FFF2-40B4-BE49-F238E27FC236}">
                <a16:creationId xmlns:a16="http://schemas.microsoft.com/office/drawing/2014/main" id="{CF3A23DF-4C48-4500-9CD9-3C85277614DF}"/>
              </a:ext>
            </a:extLst>
          </p:cNvPr>
          <p:cNvSpPr>
            <a:spLocks xmlns:a="http://schemas.openxmlformats.org/drawingml/2006/main" noGrp="1"/>
          </p:cNvSpPr>
          <p:nvPr/>
        </p:nvSpPr>
        <p:spPr>
          <a:xfrm xmlns:a="http://schemas.openxmlformats.org/drawingml/2006/main">
            <a:off x="4333875" y="1885950"/>
            <a:ext cx="0" cy="638175"/>
          </a:xfrm>
          <a:prstGeom xmlns:a="http://schemas.openxmlformats.org/drawingml/2006/main" prst="line">
            <a:avLst/>
          </a:prstGeom>
          <a:noFill xmlns:a="http://schemas.openxmlformats.org/drawingml/2006/main"/>
          <a:ln xmlns:a="http://schemas.openxmlformats.org/drawingml/2006/main" w="28575">
            <a:solidFill>
              <a:srgbClr val="E88B3A"/>
            </a:solidFill>
            <a:prstDash val="solid"/>
          </a:ln>
        </p:spPr>
      </p:sp>
      <p:sp>
        <p:nvSpPr>
          <p:cNvPr id="22" name="">
            <a:extLst xmlns:a="http://schemas.openxmlformats.org/drawingml/2006/main">
              <a:ext uri="{FF2B5EF4-FFF2-40B4-BE49-F238E27FC236}">
                <a16:creationId xmlns:a16="http://schemas.microsoft.com/office/drawing/2014/main" id="{BD17C3B7-B295-426F-88C4-661B1280DA20}"/>
              </a:ext>
            </a:extLst>
          </p:cNvPr>
          <p:cNvSpPr>
            <a:spLocks xmlns:a="http://schemas.openxmlformats.org/drawingml/2006/main" noGrp="1"/>
          </p:cNvSpPr>
          <p:nvPr/>
        </p:nvSpPr>
        <p:spPr>
          <a:xfrm xmlns:a="http://schemas.openxmlformats.org/drawingml/2006/main">
            <a:off x="4048125" y="15621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E88B3A"/>
                </a:solidFill>
                <a:latin typeface="Aptos"/>
                <a:ea typeface="Aptos"/>
                <a:cs typeface="Aptos"/>
              </a:defRPr>
            </a:defPPr>
          </a:lstStyle>
          <a:p xmlns:a="http://schemas.openxmlformats.org/drawingml/2006/main">
            <a:pPr algn="ctr">
              <a:defRPr sz="1575" b="1">
                <a:solidFill>
                  <a:srgbClr val="E88B3A"/>
                </a:solidFill>
                <a:latin typeface="Aptos"/>
                <a:ea typeface="Aptos"/>
                <a:cs typeface="Aptos"/>
              </a:defRPr>
            </a:pPr>
            <a:r>
              <a:rPr sz="1575" b="1">
                <a:solidFill>
                  <a:srgbClr val="E88B3A"/>
                </a:solidFill>
                <a:latin typeface="Aptos"/>
                <a:ea typeface="Aptos"/>
                <a:cs typeface="Aptos"/>
              </a:rPr>
              <a:t>EN</a:t>
            </a:r>
          </a:p>
        </p:txBody>
      </p:sp>
      <p:sp>
        <p:nvSpPr>
          <p:cNvPr id="23" name="">
            <a:extLst xmlns:a="http://schemas.openxmlformats.org/drawingml/2006/main">
              <a:ext uri="{FF2B5EF4-FFF2-40B4-BE49-F238E27FC236}">
                <a16:creationId xmlns:a16="http://schemas.microsoft.com/office/drawing/2014/main" id="{D7A81431-52E0-447C-BE0B-BF9265390520}"/>
              </a:ext>
            </a:extLst>
          </p:cNvPr>
          <p:cNvSpPr>
            <a:spLocks xmlns:a="http://schemas.openxmlformats.org/drawingml/2006/main" noGrp="1"/>
          </p:cNvSpPr>
          <p:nvPr/>
        </p:nvSpPr>
        <p:spPr>
          <a:xfrm xmlns:a="http://schemas.openxmlformats.org/drawingml/2006/main">
            <a:off x="7477125" y="3743325"/>
            <a:ext cx="0" cy="352425"/>
          </a:xfrm>
          <a:prstGeom xmlns:a="http://schemas.openxmlformats.org/drawingml/2006/main" prst="line">
            <a:avLst/>
          </a:prstGeom>
          <a:noFill xmlns:a="http://schemas.openxmlformats.org/drawingml/2006/main"/>
          <a:ln xmlns:a="http://schemas.openxmlformats.org/drawingml/2006/main" w="28575">
            <a:solidFill>
              <a:srgbClr val="E88B3A"/>
            </a:solidFill>
            <a:prstDash val="solid"/>
          </a:ln>
        </p:spPr>
      </p:sp>
      <p:sp>
        <p:nvSpPr>
          <p:cNvPr id="24" name="">
            <a:extLst xmlns:a="http://schemas.openxmlformats.org/drawingml/2006/main">
              <a:ext uri="{FF2B5EF4-FFF2-40B4-BE49-F238E27FC236}">
                <a16:creationId xmlns:a16="http://schemas.microsoft.com/office/drawing/2014/main" id="{2D9ACA71-E6DF-49D4-BC95-77210048D18D}"/>
              </a:ext>
            </a:extLst>
          </p:cNvPr>
          <p:cNvSpPr>
            <a:spLocks xmlns:a="http://schemas.openxmlformats.org/drawingml/2006/main" noGrp="1"/>
          </p:cNvSpPr>
          <p:nvPr/>
        </p:nvSpPr>
        <p:spPr>
          <a:xfrm xmlns:a="http://schemas.openxmlformats.org/drawingml/2006/main">
            <a:off x="7105650" y="410527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E88B3A"/>
                </a:solidFill>
                <a:latin typeface="Aptos"/>
                <a:ea typeface="Aptos"/>
                <a:cs typeface="Aptos"/>
              </a:defRPr>
            </a:defPPr>
          </a:lstStyle>
          <a:p xmlns:a="http://schemas.openxmlformats.org/drawingml/2006/main">
            <a:pPr algn="ctr">
              <a:defRPr sz="1425" b="1">
                <a:solidFill>
                  <a:srgbClr val="E88B3A"/>
                </a:solidFill>
                <a:latin typeface="Aptos"/>
                <a:ea typeface="Aptos"/>
                <a:cs typeface="Aptos"/>
              </a:defRPr>
            </a:pPr>
            <a:r>
              <a:rPr sz="1425" b="1">
                <a:solidFill>
                  <a:srgbClr val="E88B3A"/>
                </a:solidFill>
                <a:latin typeface="Aptos"/>
                <a:ea typeface="Aptos"/>
                <a:cs typeface="Aptos"/>
              </a:rPr>
              <a:t>CLK ↑</a:t>
            </a:r>
          </a:p>
        </p:txBody>
      </p:sp>
      <p:sp>
        <p:nvSpPr>
          <p:cNvPr id="25" name="">
            <a:extLst xmlns:a="http://schemas.openxmlformats.org/drawingml/2006/main">
              <a:ext uri="{FF2B5EF4-FFF2-40B4-BE49-F238E27FC236}">
                <a16:creationId xmlns:a16="http://schemas.microsoft.com/office/drawing/2014/main" id="{645A8448-461A-44ED-A04B-3534E7DDA96C}"/>
              </a:ext>
            </a:extLst>
          </p:cNvPr>
          <p:cNvSpPr>
            <a:spLocks xmlns:a="http://schemas.openxmlformats.org/drawingml/2006/main" noGrp="1"/>
          </p:cNvSpPr>
          <p:nvPr/>
        </p:nvSpPr>
        <p:spPr>
          <a:xfrm xmlns:a="http://schemas.openxmlformats.org/drawingml/2006/main">
            <a:off x="1200150" y="3286125"/>
            <a:ext cx="1238250" cy="381000"/>
          </a:xfrm>
          <a:prstGeom xmlns:a="http://schemas.openxmlformats.org/drawingml/2006/main" prst="roundRect">
            <a:avLst>
              <a:gd name="adj" fmla="val 30000"/>
            </a:avLst>
          </a:prstGeom>
          <a:solidFill xmlns:a="http://schemas.openxmlformats.org/drawingml/2006/main">
            <a:srgbClr val="E5EEF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BA40AF8-DBE3-4358-AA77-9722510E5DAD}"/>
              </a:ext>
            </a:extLst>
          </p:cNvPr>
          <p:cNvSpPr>
            <a:spLocks xmlns:a="http://schemas.openxmlformats.org/drawingml/2006/main" noGrp="1"/>
          </p:cNvSpPr>
          <p:nvPr/>
        </p:nvSpPr>
        <p:spPr>
          <a:xfrm xmlns:a="http://schemas.openxmlformats.org/drawingml/2006/main">
            <a:off x="1276350" y="3305175"/>
            <a:ext cx="1085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1">
                <a:solidFill>
                  <a:srgbClr val="4777A8"/>
                </a:solidFill>
                <a:latin typeface="Aptos"/>
                <a:ea typeface="Aptos"/>
                <a:cs typeface="Aptos"/>
              </a:defRPr>
            </a:defPPr>
          </a:lstStyle>
          <a:p xmlns:a="http://schemas.openxmlformats.org/drawingml/2006/main">
            <a:pPr algn="ctr">
              <a:defRPr sz="1275" b="1">
                <a:solidFill>
                  <a:srgbClr val="4777A8"/>
                </a:solidFill>
                <a:latin typeface="Aptos"/>
                <a:ea typeface="Aptos"/>
                <a:cs typeface="Aptos"/>
              </a:defRPr>
            </a:pPr>
            <a:r>
              <a:rPr sz="1275" b="1">
                <a:solidFill>
                  <a:srgbClr val="4777A8"/>
                </a:solidFill>
                <a:latin typeface="Aptos"/>
                <a:ea typeface="Aptos"/>
                <a:cs typeface="Aptos"/>
              </a:rPr>
              <a:t>New data</a:t>
            </a:r>
          </a:p>
        </p:txBody>
      </p:sp>
      <p:sp>
        <p:nvSpPr>
          <p:cNvPr id="27" name="">
            <a:extLst xmlns:a="http://schemas.openxmlformats.org/drawingml/2006/main">
              <a:ext uri="{FF2B5EF4-FFF2-40B4-BE49-F238E27FC236}">
                <a16:creationId xmlns:a16="http://schemas.microsoft.com/office/drawing/2014/main" id="{D8CD16A8-D68C-403C-B203-B8A20B50EB67}"/>
              </a:ext>
            </a:extLst>
          </p:cNvPr>
          <p:cNvSpPr>
            <a:spLocks xmlns:a="http://schemas.openxmlformats.org/drawingml/2006/main" noGrp="1"/>
          </p:cNvSpPr>
          <p:nvPr/>
        </p:nvSpPr>
        <p:spPr>
          <a:xfrm xmlns:a="http://schemas.openxmlformats.org/drawingml/2006/main">
            <a:off x="685800" y="5476875"/>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10243A"/>
                </a:solidFill>
                <a:latin typeface="Aptos"/>
                <a:ea typeface="Aptos"/>
                <a:cs typeface="Aptos"/>
              </a:defRPr>
            </a:defPPr>
          </a:lstStyle>
          <a:p xmlns:a="http://schemas.openxmlformats.org/drawingml/2006/main">
            <a:pPr algn="l">
              <a:defRPr sz="1800" b="1">
                <a:solidFill>
                  <a:srgbClr val="10243A"/>
                </a:solidFill>
                <a:latin typeface="Aptos"/>
                <a:ea typeface="Aptos"/>
                <a:cs typeface="Aptos"/>
              </a:defRPr>
            </a:pPr>
            <a:r>
              <a:rPr sz="1800" b="1">
                <a:solidFill>
                  <a:srgbClr val="10243A"/>
                </a:solidFill>
                <a:latin typeface="Aptos"/>
                <a:ea typeface="Aptos"/>
                <a:cs typeface="Aptos"/>
              </a:rPr>
              <a:t>The MUX chooses what the flip-flop receives at its D input.</a:t>
            </a:r>
          </a:p>
        </p:txBody>
      </p:sp>
    </p:spTree>
    <p:extLst>
      <p:ext uri="{BB962C8B-B14F-4D97-AF65-F5344CB8AC3E}">
        <p14:creationId xmlns:p14="http://schemas.microsoft.com/office/powerpoint/2010/main" val="439823318"/>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7" name="slide-title">
            <a:extLst xmlns:a="http://schemas.openxmlformats.org/drawingml/2006/main">
              <a:ext uri="{FF2B5EF4-FFF2-40B4-BE49-F238E27FC236}">
                <a16:creationId xmlns:a16="http://schemas.microsoft.com/office/drawing/2014/main" id="{2D1126AA-AEDD-4861-8928-BF0C6068AB22}"/>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0243A"/>
                </a:solidFill>
                <a:latin typeface="Aptos"/>
                <a:ea typeface="Aptos"/>
                <a:cs typeface="Aptos"/>
              </a:defRPr>
            </a:defPPr>
          </a:lstStyle>
          <a:p xmlns:a="http://schemas.openxmlformats.org/drawingml/2006/main">
            <a:pPr algn="l">
              <a:defRPr sz="3150" b="1">
                <a:solidFill>
                  <a:srgbClr val="10243A"/>
                </a:solidFill>
                <a:latin typeface="Aptos"/>
                <a:ea typeface="Aptos"/>
                <a:cs typeface="Aptos"/>
              </a:defRPr>
            </a:pPr>
            <a:r>
              <a:rPr sz="3150" b="1">
                <a:solidFill>
                  <a:srgbClr val="10243A"/>
                </a:solidFill>
                <a:latin typeface="Aptos"/>
                <a:ea typeface="Aptos"/>
                <a:cs typeface="Aptos"/>
              </a:rPr>
              <a:t>Eight bits share one enable and one clock</a:t>
            </a:r>
          </a:p>
        </p:txBody>
      </p:sp>
      <p:sp>
        <p:nvSpPr>
          <p:cNvPr id="2" name="">
            <a:extLst xmlns:a="http://schemas.openxmlformats.org/drawingml/2006/main">
              <a:ext uri="{FF2B5EF4-FFF2-40B4-BE49-F238E27FC236}">
                <a16:creationId xmlns:a16="http://schemas.microsoft.com/office/drawing/2014/main" id="{BDAFC7A0-8BFB-40ED-AC96-541B2AAA0F4C}"/>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8D103991-6209-4B3D-9D9D-2BE7F2E58C6F}"/>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718391"/>
                </a:solidFill>
                <a:latin typeface="Aptos"/>
                <a:ea typeface="Aptos"/>
                <a:cs typeface="Aptos"/>
              </a:defRPr>
            </a:defPPr>
          </a:lstStyle>
          <a:p xmlns:a="http://schemas.openxmlformats.org/drawingml/2006/main">
            <a:pPr algn="r">
              <a:defRPr sz="1125" b="1">
                <a:solidFill>
                  <a:srgbClr val="718391"/>
                </a:solidFill>
                <a:latin typeface="Aptos"/>
                <a:ea typeface="Aptos"/>
                <a:cs typeface="Aptos"/>
              </a:defRPr>
            </a:pPr>
            <a:r>
              <a:rPr sz="1125" b="1">
                <a:solidFill>
                  <a:srgbClr val="718391"/>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4970DF7F-54E4-4406-9A9E-9AF0AE938A49}"/>
              </a:ext>
            </a:extLst>
          </p:cNvPr>
          <p:cNvSpPr>
            <a:spLocks xmlns:a="http://schemas.openxmlformats.org/drawingml/2006/main" noGrp="1"/>
          </p:cNvSpPr>
          <p:nvPr/>
        </p:nvSpPr>
        <p:spPr>
          <a:xfrm xmlns:a="http://schemas.openxmlformats.org/drawingml/2006/main">
            <a:off x="685800" y="13049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26779"/>
                </a:solidFill>
                <a:latin typeface="Aptos"/>
                <a:ea typeface="Aptos"/>
                <a:cs typeface="Aptos"/>
              </a:defRPr>
            </a:defPPr>
          </a:lstStyle>
          <a:p xmlns:a="http://schemas.openxmlformats.org/drawingml/2006/main">
            <a:pPr algn="l">
              <a:defRPr sz="1725" b="0">
                <a:solidFill>
                  <a:srgbClr val="526779"/>
                </a:solidFill>
                <a:latin typeface="Aptos"/>
                <a:ea typeface="Aptos"/>
                <a:cs typeface="Aptos"/>
              </a:defRPr>
            </a:pPr>
            <a:r>
              <a:rPr sz="1725" b="0">
                <a:solidFill>
                  <a:srgbClr val="526779"/>
                </a:solidFill>
                <a:latin typeface="Aptos"/>
                <a:ea typeface="Aptos"/>
                <a:cs typeface="Aptos"/>
              </a:rPr>
              <a:t>Repeat the one-bit cell eight times to store a complete byte.</a:t>
            </a:r>
          </a:p>
        </p:txBody>
      </p:sp>
      <p:sp>
        <p:nvSpPr>
          <p:cNvPr id="5" name="">
            <a:extLst xmlns:a="http://schemas.openxmlformats.org/drawingml/2006/main">
              <a:ext uri="{FF2B5EF4-FFF2-40B4-BE49-F238E27FC236}">
                <a16:creationId xmlns:a16="http://schemas.microsoft.com/office/drawing/2014/main" id="{3D89C7C5-7598-47DF-8F63-43F1481D2DE7}"/>
              </a:ext>
            </a:extLst>
          </p:cNvPr>
          <p:cNvSpPr>
            <a:spLocks xmlns:a="http://schemas.openxmlformats.org/drawingml/2006/main" noGrp="1"/>
          </p:cNvSpPr>
          <p:nvPr/>
        </p:nvSpPr>
        <p:spPr>
          <a:xfrm xmlns:a="http://schemas.openxmlformats.org/drawingml/2006/main">
            <a:off x="781050" y="17907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1">
                <a:solidFill>
                  <a:srgbClr val="526779"/>
                </a:solidFill>
                <a:latin typeface="Aptos"/>
                <a:ea typeface="Aptos"/>
                <a:cs typeface="Aptos"/>
              </a:defRPr>
            </a:defPPr>
          </a:lstStyle>
          <a:p xmlns:a="http://schemas.openxmlformats.org/drawingml/2006/main">
            <a:pPr algn="ctr">
              <a:defRPr sz="1200" b="1">
                <a:solidFill>
                  <a:srgbClr val="526779"/>
                </a:solidFill>
                <a:latin typeface="Aptos"/>
                <a:ea typeface="Aptos"/>
                <a:cs typeface="Aptos"/>
              </a:defRPr>
            </a:pPr>
            <a:r>
              <a:rPr sz="1200" b="1">
                <a:solidFill>
                  <a:srgbClr val="526779"/>
                </a:solidFill>
                <a:latin typeface="Aptos"/>
                <a:ea typeface="Aptos"/>
                <a:cs typeface="Aptos"/>
              </a:rPr>
              <a:t>INPUT</a:t>
            </a:r>
          </a:p>
        </p:txBody>
      </p:sp>
      <p:sp>
        <p:nvSpPr>
          <p:cNvPr id="6" name="">
            <a:extLst xmlns:a="http://schemas.openxmlformats.org/drawingml/2006/main">
              <a:ext uri="{FF2B5EF4-FFF2-40B4-BE49-F238E27FC236}">
                <a16:creationId xmlns:a16="http://schemas.microsoft.com/office/drawing/2014/main" id="{6A67C070-DFDB-40C9-ABF6-2698C5207D5A}"/>
              </a:ext>
            </a:extLst>
          </p:cNvPr>
          <p:cNvSpPr>
            <a:spLocks xmlns:a="http://schemas.openxmlformats.org/drawingml/2006/main" noGrp="1"/>
          </p:cNvSpPr>
          <p:nvPr/>
        </p:nvSpPr>
        <p:spPr>
          <a:xfrm xmlns:a="http://schemas.openxmlformats.org/drawingml/2006/main">
            <a:off x="2743200" y="1790700"/>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1">
                <a:solidFill>
                  <a:srgbClr val="526779"/>
                </a:solidFill>
                <a:latin typeface="Aptos"/>
                <a:ea typeface="Aptos"/>
                <a:cs typeface="Aptos"/>
              </a:defRPr>
            </a:defPPr>
          </a:lstStyle>
          <a:p xmlns:a="http://schemas.openxmlformats.org/drawingml/2006/main">
            <a:pPr algn="ctr">
              <a:defRPr sz="1200" b="1">
                <a:solidFill>
                  <a:srgbClr val="526779"/>
                </a:solidFill>
                <a:latin typeface="Aptos"/>
                <a:ea typeface="Aptos"/>
                <a:cs typeface="Aptos"/>
              </a:defRPr>
            </a:pPr>
            <a:r>
              <a:rPr sz="1200" b="1">
                <a:solidFill>
                  <a:srgbClr val="526779"/>
                </a:solidFill>
                <a:latin typeface="Aptos"/>
                <a:ea typeface="Aptos"/>
                <a:cs typeface="Aptos"/>
              </a:rPr>
              <a:t>MUX</a:t>
            </a:r>
          </a:p>
        </p:txBody>
      </p:sp>
      <p:sp>
        <p:nvSpPr>
          <p:cNvPr id="7" name="">
            <a:extLst xmlns:a="http://schemas.openxmlformats.org/drawingml/2006/main">
              <a:ext uri="{FF2B5EF4-FFF2-40B4-BE49-F238E27FC236}">
                <a16:creationId xmlns:a16="http://schemas.microsoft.com/office/drawing/2014/main" id="{7A8AD28B-6EAC-4270-8BB1-6D23C17C3CA8}"/>
              </a:ext>
            </a:extLst>
          </p:cNvPr>
          <p:cNvSpPr>
            <a:spLocks xmlns:a="http://schemas.openxmlformats.org/drawingml/2006/main" noGrp="1"/>
          </p:cNvSpPr>
          <p:nvPr/>
        </p:nvSpPr>
        <p:spPr>
          <a:xfrm xmlns:a="http://schemas.openxmlformats.org/drawingml/2006/main">
            <a:off x="4857750" y="179070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1">
                <a:solidFill>
                  <a:srgbClr val="526779"/>
                </a:solidFill>
                <a:latin typeface="Aptos"/>
                <a:ea typeface="Aptos"/>
                <a:cs typeface="Aptos"/>
              </a:defRPr>
            </a:defPPr>
          </a:lstStyle>
          <a:p xmlns:a="http://schemas.openxmlformats.org/drawingml/2006/main">
            <a:pPr algn="ctr">
              <a:defRPr sz="1200" b="1">
                <a:solidFill>
                  <a:srgbClr val="526779"/>
                </a:solidFill>
                <a:latin typeface="Aptos"/>
                <a:ea typeface="Aptos"/>
                <a:cs typeface="Aptos"/>
              </a:defRPr>
            </a:pPr>
            <a:r>
              <a:rPr sz="1200" b="1">
                <a:solidFill>
                  <a:srgbClr val="526779"/>
                </a:solidFill>
                <a:latin typeface="Aptos"/>
                <a:ea typeface="Aptos"/>
                <a:cs typeface="Aptos"/>
              </a:rPr>
              <a:t>D FLIP-FLOP</a:t>
            </a:r>
          </a:p>
        </p:txBody>
      </p:sp>
      <p:sp>
        <p:nvSpPr>
          <p:cNvPr id="8" name="">
            <a:extLst xmlns:a="http://schemas.openxmlformats.org/drawingml/2006/main">
              <a:ext uri="{FF2B5EF4-FFF2-40B4-BE49-F238E27FC236}">
                <a16:creationId xmlns:a16="http://schemas.microsoft.com/office/drawing/2014/main" id="{B423EE32-373A-44E0-9596-DBC22CDC9485}"/>
              </a:ext>
            </a:extLst>
          </p:cNvPr>
          <p:cNvSpPr>
            <a:spLocks xmlns:a="http://schemas.openxmlformats.org/drawingml/2006/main" noGrp="1"/>
          </p:cNvSpPr>
          <p:nvPr/>
        </p:nvSpPr>
        <p:spPr>
          <a:xfrm xmlns:a="http://schemas.openxmlformats.org/drawingml/2006/main">
            <a:off x="7239000" y="1790700"/>
            <a:ext cx="128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1">
                <a:solidFill>
                  <a:srgbClr val="526779"/>
                </a:solidFill>
                <a:latin typeface="Aptos"/>
                <a:ea typeface="Aptos"/>
                <a:cs typeface="Aptos"/>
              </a:defRPr>
            </a:defPPr>
          </a:lstStyle>
          <a:p xmlns:a="http://schemas.openxmlformats.org/drawingml/2006/main">
            <a:pPr algn="ctr">
              <a:defRPr sz="1200" b="1">
                <a:solidFill>
                  <a:srgbClr val="526779"/>
                </a:solidFill>
                <a:latin typeface="Aptos"/>
                <a:ea typeface="Aptos"/>
                <a:cs typeface="Aptos"/>
              </a:defRPr>
            </a:pPr>
            <a:r>
              <a:rPr sz="1200" b="1">
                <a:solidFill>
                  <a:srgbClr val="526779"/>
                </a:solidFill>
                <a:latin typeface="Aptos"/>
                <a:ea typeface="Aptos"/>
                <a:cs typeface="Aptos"/>
              </a:rPr>
              <a:t>OUTPUT</a:t>
            </a:r>
          </a:p>
        </p:txBody>
      </p:sp>
      <p:sp>
        <p:nvSpPr>
          <p:cNvPr id="9" name="">
            <a:extLst xmlns:a="http://schemas.openxmlformats.org/drawingml/2006/main">
              <a:ext uri="{FF2B5EF4-FFF2-40B4-BE49-F238E27FC236}">
                <a16:creationId xmlns:a16="http://schemas.microsoft.com/office/drawing/2014/main" id="{A98E12C3-CD64-41E6-8CCA-DC8404095EB7}"/>
              </a:ext>
            </a:extLst>
          </p:cNvPr>
          <p:cNvSpPr>
            <a:spLocks xmlns:a="http://schemas.openxmlformats.org/drawingml/2006/main" noGrp="1"/>
          </p:cNvSpPr>
          <p:nvPr/>
        </p:nvSpPr>
        <p:spPr>
          <a:xfrm xmlns:a="http://schemas.openxmlformats.org/drawingml/2006/main">
            <a:off x="876300" y="22002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4777A8"/>
                </a:solidFill>
                <a:latin typeface="Aptos"/>
                <a:ea typeface="Aptos"/>
                <a:cs typeface="Aptos"/>
              </a:defRPr>
            </a:defPPr>
          </a:lstStyle>
          <a:p xmlns:a="http://schemas.openxmlformats.org/drawingml/2006/main">
            <a:pPr algn="ctr">
              <a:defRPr sz="1425" b="1">
                <a:solidFill>
                  <a:srgbClr val="4777A8"/>
                </a:solidFill>
                <a:latin typeface="Aptos"/>
                <a:ea typeface="Aptos"/>
                <a:cs typeface="Aptos"/>
              </a:defRPr>
            </a:pPr>
            <a:r>
              <a:rPr sz="1425" b="1">
                <a:solidFill>
                  <a:srgbClr val="4777A8"/>
                </a:solidFill>
                <a:latin typeface="Aptos"/>
                <a:ea typeface="Aptos"/>
                <a:cs typeface="Aptos"/>
              </a:rPr>
              <a:t>D7</a:t>
            </a:r>
          </a:p>
        </p:txBody>
      </p:sp>
      <p:sp>
        <p:nvSpPr>
          <p:cNvPr id="10" name="">
            <a:extLst xmlns:a="http://schemas.openxmlformats.org/drawingml/2006/main">
              <a:ext uri="{FF2B5EF4-FFF2-40B4-BE49-F238E27FC236}">
                <a16:creationId xmlns:a16="http://schemas.microsoft.com/office/drawing/2014/main" id="{F5C07423-E39C-4F11-B0BA-B73165F3D505}"/>
              </a:ext>
            </a:extLst>
          </p:cNvPr>
          <p:cNvSpPr>
            <a:spLocks xmlns:a="http://schemas.openxmlformats.org/drawingml/2006/main" noGrp="1"/>
          </p:cNvSpPr>
          <p:nvPr/>
        </p:nvSpPr>
        <p:spPr>
          <a:xfrm xmlns:a="http://schemas.openxmlformats.org/drawingml/2006/main">
            <a:off x="1619250" y="2343150"/>
            <a:ext cx="1123950" cy="0"/>
          </a:xfrm>
          <a:prstGeom xmlns:a="http://schemas.openxmlformats.org/drawingml/2006/main" prst="line">
            <a:avLst/>
          </a:prstGeom>
          <a:noFill xmlns:a="http://schemas.openxmlformats.org/drawingml/2006/main"/>
          <a:ln xmlns:a="http://schemas.openxmlformats.org/drawingml/2006/main" w="19050">
            <a:solidFill>
              <a:srgbClr val="4777A8"/>
            </a:solidFill>
            <a:prstDash val="solid"/>
          </a:ln>
        </p:spPr>
      </p:sp>
      <p:sp>
        <p:nvSpPr>
          <p:cNvPr id="11" name="mux-7">
            <a:extLst xmlns:a="http://schemas.openxmlformats.org/drawingml/2006/main">
              <a:ext uri="{FF2B5EF4-FFF2-40B4-BE49-F238E27FC236}">
                <a16:creationId xmlns:a16="http://schemas.microsoft.com/office/drawing/2014/main" id="{4913BBB6-2BCA-4C3B-A5DA-A8F15B133A20}"/>
              </a:ext>
            </a:extLst>
          </p:cNvPr>
          <p:cNvSpPr>
            <a:spLocks xmlns:a="http://schemas.openxmlformats.org/drawingml/2006/main" noGrp="1"/>
          </p:cNvSpPr>
          <p:nvPr/>
        </p:nvSpPr>
        <p:spPr>
          <a:xfrm xmlns:a="http://schemas.openxmlformats.org/drawingml/2006/main">
            <a:off x="2743200" y="2152650"/>
            <a:ext cx="1190625" cy="381000"/>
          </a:xfrm>
          <a:prstGeom xmlns:a="http://schemas.openxmlformats.org/drawingml/2006/main" prst="roundRect">
            <a:avLst>
              <a:gd name="adj" fmla="val 20000"/>
            </a:avLst>
          </a:prstGeom>
          <a:solidFill xmlns:a="http://schemas.openxmlformats.org/drawingml/2006/main">
            <a:srgbClr val="DDF4F0"/>
          </a:solidFill>
          <a:ln xmlns:a="http://schemas.openxmlformats.org/drawingml/2006/main" w="14288">
            <a:solidFill>
              <a:srgbClr val="1C9A92"/>
            </a:solidFill>
            <a:prstDash val="solid"/>
          </a:ln>
        </p:spPr>
      </p:sp>
      <p:sp>
        <p:nvSpPr>
          <p:cNvPr id="12" name="">
            <a:extLst xmlns:a="http://schemas.openxmlformats.org/drawingml/2006/main">
              <a:ext uri="{FF2B5EF4-FFF2-40B4-BE49-F238E27FC236}">
                <a16:creationId xmlns:a16="http://schemas.microsoft.com/office/drawing/2014/main" id="{4194385F-9A7C-4F36-B870-65A929F1B513}"/>
              </a:ext>
            </a:extLst>
          </p:cNvPr>
          <p:cNvSpPr>
            <a:spLocks xmlns:a="http://schemas.openxmlformats.org/drawingml/2006/main" noGrp="1"/>
          </p:cNvSpPr>
          <p:nvPr/>
        </p:nvSpPr>
        <p:spPr>
          <a:xfrm xmlns:a="http://schemas.openxmlformats.org/drawingml/2006/main">
            <a:off x="2790825" y="21907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MUX 7</a:t>
            </a:r>
          </a:p>
        </p:txBody>
      </p:sp>
      <p:sp>
        <p:nvSpPr>
          <p:cNvPr id="13" name="">
            <a:extLst xmlns:a="http://schemas.openxmlformats.org/drawingml/2006/main">
              <a:ext uri="{FF2B5EF4-FFF2-40B4-BE49-F238E27FC236}">
                <a16:creationId xmlns:a16="http://schemas.microsoft.com/office/drawing/2014/main" id="{85FA38F0-14D3-4350-A1E1-5F4FF026B982}"/>
              </a:ext>
            </a:extLst>
          </p:cNvPr>
          <p:cNvSpPr>
            <a:spLocks xmlns:a="http://schemas.openxmlformats.org/drawingml/2006/main" noGrp="1"/>
          </p:cNvSpPr>
          <p:nvPr/>
        </p:nvSpPr>
        <p:spPr>
          <a:xfrm xmlns:a="http://schemas.openxmlformats.org/drawingml/2006/main">
            <a:off x="3933825" y="2343150"/>
            <a:ext cx="923925" cy="0"/>
          </a:xfrm>
          <a:prstGeom xmlns:a="http://schemas.openxmlformats.org/drawingml/2006/main" prst="line">
            <a:avLst/>
          </a:prstGeom>
          <a:noFill xmlns:a="http://schemas.openxmlformats.org/drawingml/2006/main"/>
          <a:ln xmlns:a="http://schemas.openxmlformats.org/drawingml/2006/main" w="19050">
            <a:solidFill>
              <a:srgbClr val="1C9A92"/>
            </a:solidFill>
            <a:prstDash val="solid"/>
          </a:ln>
        </p:spPr>
      </p:sp>
      <p:sp>
        <p:nvSpPr>
          <p:cNvPr id="14" name="dff-7">
            <a:extLst xmlns:a="http://schemas.openxmlformats.org/drawingml/2006/main">
              <a:ext uri="{FF2B5EF4-FFF2-40B4-BE49-F238E27FC236}">
                <a16:creationId xmlns:a16="http://schemas.microsoft.com/office/drawing/2014/main" id="{BE639A29-F4CA-4F00-AD96-CBE41E11F5B4}"/>
              </a:ext>
            </a:extLst>
          </p:cNvPr>
          <p:cNvSpPr>
            <a:spLocks xmlns:a="http://schemas.openxmlformats.org/drawingml/2006/main" noGrp="1"/>
          </p:cNvSpPr>
          <p:nvPr/>
        </p:nvSpPr>
        <p:spPr>
          <a:xfrm xmlns:a="http://schemas.openxmlformats.org/drawingml/2006/main">
            <a:off x="4857750" y="2152650"/>
            <a:ext cx="1476375"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10243A"/>
            </a:solidFill>
            <a:prstDash val="solid"/>
          </a:ln>
        </p:spPr>
      </p:sp>
      <p:sp>
        <p:nvSpPr>
          <p:cNvPr id="15" name="">
            <a:extLst xmlns:a="http://schemas.openxmlformats.org/drawingml/2006/main">
              <a:ext uri="{FF2B5EF4-FFF2-40B4-BE49-F238E27FC236}">
                <a16:creationId xmlns:a16="http://schemas.microsoft.com/office/drawing/2014/main" id="{6A339BE4-F7E2-4435-A165-57890D389F8D}"/>
              </a:ext>
            </a:extLst>
          </p:cNvPr>
          <p:cNvSpPr>
            <a:spLocks xmlns:a="http://schemas.openxmlformats.org/drawingml/2006/main" noGrp="1"/>
          </p:cNvSpPr>
          <p:nvPr/>
        </p:nvSpPr>
        <p:spPr>
          <a:xfrm xmlns:a="http://schemas.openxmlformats.org/drawingml/2006/main">
            <a:off x="4905375" y="21907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DFF 7</a:t>
            </a:r>
          </a:p>
        </p:txBody>
      </p:sp>
      <p:sp>
        <p:nvSpPr>
          <p:cNvPr id="16" name="">
            <a:extLst xmlns:a="http://schemas.openxmlformats.org/drawingml/2006/main">
              <a:ext uri="{FF2B5EF4-FFF2-40B4-BE49-F238E27FC236}">
                <a16:creationId xmlns:a16="http://schemas.microsoft.com/office/drawing/2014/main" id="{81D516E5-B690-4EAD-8E3C-B31BFD0E5531}"/>
              </a:ext>
            </a:extLst>
          </p:cNvPr>
          <p:cNvSpPr>
            <a:spLocks xmlns:a="http://schemas.openxmlformats.org/drawingml/2006/main" noGrp="1"/>
          </p:cNvSpPr>
          <p:nvPr/>
        </p:nvSpPr>
        <p:spPr>
          <a:xfrm xmlns:a="http://schemas.openxmlformats.org/drawingml/2006/main">
            <a:off x="6334125" y="2343150"/>
            <a:ext cx="1085850" cy="0"/>
          </a:xfrm>
          <a:prstGeom xmlns:a="http://schemas.openxmlformats.org/drawingml/2006/main" prst="line">
            <a:avLst/>
          </a:prstGeom>
          <a:noFill xmlns:a="http://schemas.openxmlformats.org/drawingml/2006/main"/>
          <a:ln xmlns:a="http://schemas.openxmlformats.org/drawingml/2006/main" w="19050">
            <a:solidFill>
              <a:srgbClr val="317B63"/>
            </a:solidFill>
            <a:prstDash val="solid"/>
          </a:ln>
        </p:spPr>
      </p:sp>
      <p:sp>
        <p:nvSpPr>
          <p:cNvPr id="17" name="">
            <a:extLst xmlns:a="http://schemas.openxmlformats.org/drawingml/2006/main">
              <a:ext uri="{FF2B5EF4-FFF2-40B4-BE49-F238E27FC236}">
                <a16:creationId xmlns:a16="http://schemas.microsoft.com/office/drawing/2014/main" id="{405D214A-9DC0-4F3A-AA19-3FE5988EE20C}"/>
              </a:ext>
            </a:extLst>
          </p:cNvPr>
          <p:cNvSpPr>
            <a:spLocks xmlns:a="http://schemas.openxmlformats.org/drawingml/2006/main" noGrp="1"/>
          </p:cNvSpPr>
          <p:nvPr/>
        </p:nvSpPr>
        <p:spPr>
          <a:xfrm xmlns:a="http://schemas.openxmlformats.org/drawingml/2006/main">
            <a:off x="7477125" y="22002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317B63"/>
                </a:solidFill>
                <a:latin typeface="Aptos"/>
                <a:ea typeface="Aptos"/>
                <a:cs typeface="Aptos"/>
              </a:defRPr>
            </a:defPPr>
          </a:lstStyle>
          <a:p xmlns:a="http://schemas.openxmlformats.org/drawingml/2006/main">
            <a:pPr algn="ctr">
              <a:defRPr sz="1425" b="1">
                <a:solidFill>
                  <a:srgbClr val="317B63"/>
                </a:solidFill>
                <a:latin typeface="Aptos"/>
                <a:ea typeface="Aptos"/>
                <a:cs typeface="Aptos"/>
              </a:defRPr>
            </a:pPr>
            <a:r>
              <a:rPr sz="1425" b="1">
                <a:solidFill>
                  <a:srgbClr val="317B63"/>
                </a:solidFill>
                <a:latin typeface="Aptos"/>
                <a:ea typeface="Aptos"/>
                <a:cs typeface="Aptos"/>
              </a:rPr>
              <a:t>Q7</a:t>
            </a:r>
          </a:p>
        </p:txBody>
      </p:sp>
      <p:sp>
        <p:nvSpPr>
          <p:cNvPr id="18" name="">
            <a:extLst xmlns:a="http://schemas.openxmlformats.org/drawingml/2006/main">
              <a:ext uri="{FF2B5EF4-FFF2-40B4-BE49-F238E27FC236}">
                <a16:creationId xmlns:a16="http://schemas.microsoft.com/office/drawing/2014/main" id="{B7508C42-289F-4EFF-9AFA-51AE51E8991D}"/>
              </a:ext>
            </a:extLst>
          </p:cNvPr>
          <p:cNvSpPr>
            <a:spLocks xmlns:a="http://schemas.openxmlformats.org/drawingml/2006/main" noGrp="1"/>
          </p:cNvSpPr>
          <p:nvPr/>
        </p:nvSpPr>
        <p:spPr>
          <a:xfrm xmlns:a="http://schemas.openxmlformats.org/drawingml/2006/main">
            <a:off x="876300" y="26574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4777A8"/>
                </a:solidFill>
                <a:latin typeface="Aptos"/>
                <a:ea typeface="Aptos"/>
                <a:cs typeface="Aptos"/>
              </a:defRPr>
            </a:defPPr>
          </a:lstStyle>
          <a:p xmlns:a="http://schemas.openxmlformats.org/drawingml/2006/main">
            <a:pPr algn="ctr">
              <a:defRPr sz="1425" b="1">
                <a:solidFill>
                  <a:srgbClr val="4777A8"/>
                </a:solidFill>
                <a:latin typeface="Aptos"/>
                <a:ea typeface="Aptos"/>
                <a:cs typeface="Aptos"/>
              </a:defRPr>
            </a:pPr>
            <a:r>
              <a:rPr sz="1425" b="1">
                <a:solidFill>
                  <a:srgbClr val="4777A8"/>
                </a:solidFill>
                <a:latin typeface="Aptos"/>
                <a:ea typeface="Aptos"/>
                <a:cs typeface="Aptos"/>
              </a:rPr>
              <a:t>D6</a:t>
            </a:r>
          </a:p>
        </p:txBody>
      </p:sp>
      <p:sp>
        <p:nvSpPr>
          <p:cNvPr id="19" name="">
            <a:extLst xmlns:a="http://schemas.openxmlformats.org/drawingml/2006/main">
              <a:ext uri="{FF2B5EF4-FFF2-40B4-BE49-F238E27FC236}">
                <a16:creationId xmlns:a16="http://schemas.microsoft.com/office/drawing/2014/main" id="{9E5E51BE-52AE-4950-B4BD-F0B033CEA663}"/>
              </a:ext>
            </a:extLst>
          </p:cNvPr>
          <p:cNvSpPr>
            <a:spLocks xmlns:a="http://schemas.openxmlformats.org/drawingml/2006/main" noGrp="1"/>
          </p:cNvSpPr>
          <p:nvPr/>
        </p:nvSpPr>
        <p:spPr>
          <a:xfrm xmlns:a="http://schemas.openxmlformats.org/drawingml/2006/main">
            <a:off x="1619250" y="2800350"/>
            <a:ext cx="1123950" cy="0"/>
          </a:xfrm>
          <a:prstGeom xmlns:a="http://schemas.openxmlformats.org/drawingml/2006/main" prst="line">
            <a:avLst/>
          </a:prstGeom>
          <a:noFill xmlns:a="http://schemas.openxmlformats.org/drawingml/2006/main"/>
          <a:ln xmlns:a="http://schemas.openxmlformats.org/drawingml/2006/main" w="19050">
            <a:solidFill>
              <a:srgbClr val="4777A8"/>
            </a:solidFill>
            <a:prstDash val="solid"/>
          </a:ln>
        </p:spPr>
      </p:sp>
      <p:sp>
        <p:nvSpPr>
          <p:cNvPr id="20" name="mux-6">
            <a:extLst xmlns:a="http://schemas.openxmlformats.org/drawingml/2006/main">
              <a:ext uri="{FF2B5EF4-FFF2-40B4-BE49-F238E27FC236}">
                <a16:creationId xmlns:a16="http://schemas.microsoft.com/office/drawing/2014/main" id="{453A09EB-33F3-4798-A7B1-E499AF55E133}"/>
              </a:ext>
            </a:extLst>
          </p:cNvPr>
          <p:cNvSpPr>
            <a:spLocks xmlns:a="http://schemas.openxmlformats.org/drawingml/2006/main" noGrp="1"/>
          </p:cNvSpPr>
          <p:nvPr/>
        </p:nvSpPr>
        <p:spPr>
          <a:xfrm xmlns:a="http://schemas.openxmlformats.org/drawingml/2006/main">
            <a:off x="2743200" y="2609850"/>
            <a:ext cx="1190625" cy="381000"/>
          </a:xfrm>
          <a:prstGeom xmlns:a="http://schemas.openxmlformats.org/drawingml/2006/main" prst="roundRect">
            <a:avLst>
              <a:gd name="adj" fmla="val 20000"/>
            </a:avLst>
          </a:prstGeom>
          <a:solidFill xmlns:a="http://schemas.openxmlformats.org/drawingml/2006/main">
            <a:srgbClr val="DDF4F0"/>
          </a:solidFill>
          <a:ln xmlns:a="http://schemas.openxmlformats.org/drawingml/2006/main" w="14288">
            <a:solidFill>
              <a:srgbClr val="1C9A92"/>
            </a:solidFill>
            <a:prstDash val="solid"/>
          </a:ln>
        </p:spPr>
      </p:sp>
      <p:sp>
        <p:nvSpPr>
          <p:cNvPr id="21" name="">
            <a:extLst xmlns:a="http://schemas.openxmlformats.org/drawingml/2006/main">
              <a:ext uri="{FF2B5EF4-FFF2-40B4-BE49-F238E27FC236}">
                <a16:creationId xmlns:a16="http://schemas.microsoft.com/office/drawing/2014/main" id="{8E26746B-0FB1-4E7D-AD53-1318AEE31BBD}"/>
              </a:ext>
            </a:extLst>
          </p:cNvPr>
          <p:cNvSpPr>
            <a:spLocks xmlns:a="http://schemas.openxmlformats.org/drawingml/2006/main" noGrp="1"/>
          </p:cNvSpPr>
          <p:nvPr/>
        </p:nvSpPr>
        <p:spPr>
          <a:xfrm xmlns:a="http://schemas.openxmlformats.org/drawingml/2006/main">
            <a:off x="2790825" y="26479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MUX 6</a:t>
            </a:r>
          </a:p>
        </p:txBody>
      </p:sp>
      <p:sp>
        <p:nvSpPr>
          <p:cNvPr id="22" name="">
            <a:extLst xmlns:a="http://schemas.openxmlformats.org/drawingml/2006/main">
              <a:ext uri="{FF2B5EF4-FFF2-40B4-BE49-F238E27FC236}">
                <a16:creationId xmlns:a16="http://schemas.microsoft.com/office/drawing/2014/main" id="{11491372-0AB6-4A79-90BD-4F4F2E210184}"/>
              </a:ext>
            </a:extLst>
          </p:cNvPr>
          <p:cNvSpPr>
            <a:spLocks xmlns:a="http://schemas.openxmlformats.org/drawingml/2006/main" noGrp="1"/>
          </p:cNvSpPr>
          <p:nvPr/>
        </p:nvSpPr>
        <p:spPr>
          <a:xfrm xmlns:a="http://schemas.openxmlformats.org/drawingml/2006/main">
            <a:off x="3933825" y="2800350"/>
            <a:ext cx="923925" cy="0"/>
          </a:xfrm>
          <a:prstGeom xmlns:a="http://schemas.openxmlformats.org/drawingml/2006/main" prst="line">
            <a:avLst/>
          </a:prstGeom>
          <a:noFill xmlns:a="http://schemas.openxmlformats.org/drawingml/2006/main"/>
          <a:ln xmlns:a="http://schemas.openxmlformats.org/drawingml/2006/main" w="19050">
            <a:solidFill>
              <a:srgbClr val="1C9A92"/>
            </a:solidFill>
            <a:prstDash val="solid"/>
          </a:ln>
        </p:spPr>
      </p:sp>
      <p:sp>
        <p:nvSpPr>
          <p:cNvPr id="23" name="dff-6">
            <a:extLst xmlns:a="http://schemas.openxmlformats.org/drawingml/2006/main">
              <a:ext uri="{FF2B5EF4-FFF2-40B4-BE49-F238E27FC236}">
                <a16:creationId xmlns:a16="http://schemas.microsoft.com/office/drawing/2014/main" id="{A9113E77-6632-40DC-B7FE-F25F392960F1}"/>
              </a:ext>
            </a:extLst>
          </p:cNvPr>
          <p:cNvSpPr>
            <a:spLocks xmlns:a="http://schemas.openxmlformats.org/drawingml/2006/main" noGrp="1"/>
          </p:cNvSpPr>
          <p:nvPr/>
        </p:nvSpPr>
        <p:spPr>
          <a:xfrm xmlns:a="http://schemas.openxmlformats.org/drawingml/2006/main">
            <a:off x="4857750" y="2609850"/>
            <a:ext cx="1476375"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10243A"/>
            </a:solidFill>
            <a:prstDash val="solid"/>
          </a:ln>
        </p:spPr>
      </p:sp>
      <p:sp>
        <p:nvSpPr>
          <p:cNvPr id="24" name="">
            <a:extLst xmlns:a="http://schemas.openxmlformats.org/drawingml/2006/main">
              <a:ext uri="{FF2B5EF4-FFF2-40B4-BE49-F238E27FC236}">
                <a16:creationId xmlns:a16="http://schemas.microsoft.com/office/drawing/2014/main" id="{F28624D3-71B9-400F-90E8-9921EAD79751}"/>
              </a:ext>
            </a:extLst>
          </p:cNvPr>
          <p:cNvSpPr>
            <a:spLocks xmlns:a="http://schemas.openxmlformats.org/drawingml/2006/main" noGrp="1"/>
          </p:cNvSpPr>
          <p:nvPr/>
        </p:nvSpPr>
        <p:spPr>
          <a:xfrm xmlns:a="http://schemas.openxmlformats.org/drawingml/2006/main">
            <a:off x="4905375" y="26479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DFF 6</a:t>
            </a:r>
          </a:p>
        </p:txBody>
      </p:sp>
      <p:sp>
        <p:nvSpPr>
          <p:cNvPr id="25" name="">
            <a:extLst xmlns:a="http://schemas.openxmlformats.org/drawingml/2006/main">
              <a:ext uri="{FF2B5EF4-FFF2-40B4-BE49-F238E27FC236}">
                <a16:creationId xmlns:a16="http://schemas.microsoft.com/office/drawing/2014/main" id="{0899423C-CD25-47A7-A23E-D1BBCFDD3FC4}"/>
              </a:ext>
            </a:extLst>
          </p:cNvPr>
          <p:cNvSpPr>
            <a:spLocks xmlns:a="http://schemas.openxmlformats.org/drawingml/2006/main" noGrp="1"/>
          </p:cNvSpPr>
          <p:nvPr/>
        </p:nvSpPr>
        <p:spPr>
          <a:xfrm xmlns:a="http://schemas.openxmlformats.org/drawingml/2006/main">
            <a:off x="6334125" y="2800350"/>
            <a:ext cx="1085850" cy="0"/>
          </a:xfrm>
          <a:prstGeom xmlns:a="http://schemas.openxmlformats.org/drawingml/2006/main" prst="line">
            <a:avLst/>
          </a:prstGeom>
          <a:noFill xmlns:a="http://schemas.openxmlformats.org/drawingml/2006/main"/>
          <a:ln xmlns:a="http://schemas.openxmlformats.org/drawingml/2006/main" w="19050">
            <a:solidFill>
              <a:srgbClr val="317B63"/>
            </a:solidFill>
            <a:prstDash val="solid"/>
          </a:ln>
        </p:spPr>
      </p:sp>
      <p:sp>
        <p:nvSpPr>
          <p:cNvPr id="26" name="">
            <a:extLst xmlns:a="http://schemas.openxmlformats.org/drawingml/2006/main">
              <a:ext uri="{FF2B5EF4-FFF2-40B4-BE49-F238E27FC236}">
                <a16:creationId xmlns:a16="http://schemas.microsoft.com/office/drawing/2014/main" id="{1C51256D-2F07-4C29-978B-E9F52A8A69D0}"/>
              </a:ext>
            </a:extLst>
          </p:cNvPr>
          <p:cNvSpPr>
            <a:spLocks xmlns:a="http://schemas.openxmlformats.org/drawingml/2006/main" noGrp="1"/>
          </p:cNvSpPr>
          <p:nvPr/>
        </p:nvSpPr>
        <p:spPr>
          <a:xfrm xmlns:a="http://schemas.openxmlformats.org/drawingml/2006/main">
            <a:off x="7477125" y="26574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317B63"/>
                </a:solidFill>
                <a:latin typeface="Aptos"/>
                <a:ea typeface="Aptos"/>
                <a:cs typeface="Aptos"/>
              </a:defRPr>
            </a:defPPr>
          </a:lstStyle>
          <a:p xmlns:a="http://schemas.openxmlformats.org/drawingml/2006/main">
            <a:pPr algn="ctr">
              <a:defRPr sz="1425" b="1">
                <a:solidFill>
                  <a:srgbClr val="317B63"/>
                </a:solidFill>
                <a:latin typeface="Aptos"/>
                <a:ea typeface="Aptos"/>
                <a:cs typeface="Aptos"/>
              </a:defRPr>
            </a:pPr>
            <a:r>
              <a:rPr sz="1425" b="1">
                <a:solidFill>
                  <a:srgbClr val="317B63"/>
                </a:solidFill>
                <a:latin typeface="Aptos"/>
                <a:ea typeface="Aptos"/>
                <a:cs typeface="Aptos"/>
              </a:rPr>
              <a:t>Q6</a:t>
            </a:r>
          </a:p>
        </p:txBody>
      </p:sp>
      <p:sp>
        <p:nvSpPr>
          <p:cNvPr id="27" name="">
            <a:extLst xmlns:a="http://schemas.openxmlformats.org/drawingml/2006/main">
              <a:ext uri="{FF2B5EF4-FFF2-40B4-BE49-F238E27FC236}">
                <a16:creationId xmlns:a16="http://schemas.microsoft.com/office/drawing/2014/main" id="{21693515-EEEA-4341-A0B5-D468D3934D9B}"/>
              </a:ext>
            </a:extLst>
          </p:cNvPr>
          <p:cNvSpPr>
            <a:spLocks xmlns:a="http://schemas.openxmlformats.org/drawingml/2006/main" noGrp="1"/>
          </p:cNvSpPr>
          <p:nvPr/>
        </p:nvSpPr>
        <p:spPr>
          <a:xfrm xmlns:a="http://schemas.openxmlformats.org/drawingml/2006/main">
            <a:off x="876300" y="31146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4777A8"/>
                </a:solidFill>
                <a:latin typeface="Aptos"/>
                <a:ea typeface="Aptos"/>
                <a:cs typeface="Aptos"/>
              </a:defRPr>
            </a:defPPr>
          </a:lstStyle>
          <a:p xmlns:a="http://schemas.openxmlformats.org/drawingml/2006/main">
            <a:pPr algn="ctr">
              <a:defRPr sz="1425" b="1">
                <a:solidFill>
                  <a:srgbClr val="4777A8"/>
                </a:solidFill>
                <a:latin typeface="Aptos"/>
                <a:ea typeface="Aptos"/>
                <a:cs typeface="Aptos"/>
              </a:defRPr>
            </a:pPr>
            <a:r>
              <a:rPr sz="1425" b="1">
                <a:solidFill>
                  <a:srgbClr val="4777A8"/>
                </a:solidFill>
                <a:latin typeface="Aptos"/>
                <a:ea typeface="Aptos"/>
                <a:cs typeface="Aptos"/>
              </a:rPr>
              <a:t>D5</a:t>
            </a:r>
          </a:p>
        </p:txBody>
      </p:sp>
      <p:sp>
        <p:nvSpPr>
          <p:cNvPr id="28" name="">
            <a:extLst xmlns:a="http://schemas.openxmlformats.org/drawingml/2006/main">
              <a:ext uri="{FF2B5EF4-FFF2-40B4-BE49-F238E27FC236}">
                <a16:creationId xmlns:a16="http://schemas.microsoft.com/office/drawing/2014/main" id="{4F32F563-22C4-43AE-BE1C-689A13EB9F28}"/>
              </a:ext>
            </a:extLst>
          </p:cNvPr>
          <p:cNvSpPr>
            <a:spLocks xmlns:a="http://schemas.openxmlformats.org/drawingml/2006/main" noGrp="1"/>
          </p:cNvSpPr>
          <p:nvPr/>
        </p:nvSpPr>
        <p:spPr>
          <a:xfrm xmlns:a="http://schemas.openxmlformats.org/drawingml/2006/main">
            <a:off x="1619250" y="3257550"/>
            <a:ext cx="1123950" cy="0"/>
          </a:xfrm>
          <a:prstGeom xmlns:a="http://schemas.openxmlformats.org/drawingml/2006/main" prst="line">
            <a:avLst/>
          </a:prstGeom>
          <a:noFill xmlns:a="http://schemas.openxmlformats.org/drawingml/2006/main"/>
          <a:ln xmlns:a="http://schemas.openxmlformats.org/drawingml/2006/main" w="19050">
            <a:solidFill>
              <a:srgbClr val="4777A8"/>
            </a:solidFill>
            <a:prstDash val="solid"/>
          </a:ln>
        </p:spPr>
      </p:sp>
      <p:sp>
        <p:nvSpPr>
          <p:cNvPr id="29" name="mux-5">
            <a:extLst xmlns:a="http://schemas.openxmlformats.org/drawingml/2006/main">
              <a:ext uri="{FF2B5EF4-FFF2-40B4-BE49-F238E27FC236}">
                <a16:creationId xmlns:a16="http://schemas.microsoft.com/office/drawing/2014/main" id="{CCF80BE1-C2D6-498B-8148-D763F225832A}"/>
              </a:ext>
            </a:extLst>
          </p:cNvPr>
          <p:cNvSpPr>
            <a:spLocks xmlns:a="http://schemas.openxmlformats.org/drawingml/2006/main" noGrp="1"/>
          </p:cNvSpPr>
          <p:nvPr/>
        </p:nvSpPr>
        <p:spPr>
          <a:xfrm xmlns:a="http://schemas.openxmlformats.org/drawingml/2006/main">
            <a:off x="2743200" y="3067050"/>
            <a:ext cx="1190625" cy="381000"/>
          </a:xfrm>
          <a:prstGeom xmlns:a="http://schemas.openxmlformats.org/drawingml/2006/main" prst="roundRect">
            <a:avLst>
              <a:gd name="adj" fmla="val 20000"/>
            </a:avLst>
          </a:prstGeom>
          <a:solidFill xmlns:a="http://schemas.openxmlformats.org/drawingml/2006/main">
            <a:srgbClr val="DDF4F0"/>
          </a:solidFill>
          <a:ln xmlns:a="http://schemas.openxmlformats.org/drawingml/2006/main" w="14288">
            <a:solidFill>
              <a:srgbClr val="1C9A92"/>
            </a:solidFill>
            <a:prstDash val="solid"/>
          </a:ln>
        </p:spPr>
      </p:sp>
      <p:sp>
        <p:nvSpPr>
          <p:cNvPr id="30" name="">
            <a:extLst xmlns:a="http://schemas.openxmlformats.org/drawingml/2006/main">
              <a:ext uri="{FF2B5EF4-FFF2-40B4-BE49-F238E27FC236}">
                <a16:creationId xmlns:a16="http://schemas.microsoft.com/office/drawing/2014/main" id="{63F232F0-05AA-4C16-A26F-E65FA6B08C55}"/>
              </a:ext>
            </a:extLst>
          </p:cNvPr>
          <p:cNvSpPr>
            <a:spLocks xmlns:a="http://schemas.openxmlformats.org/drawingml/2006/main" noGrp="1"/>
          </p:cNvSpPr>
          <p:nvPr/>
        </p:nvSpPr>
        <p:spPr>
          <a:xfrm xmlns:a="http://schemas.openxmlformats.org/drawingml/2006/main">
            <a:off x="2790825" y="31051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MUX 5</a:t>
            </a:r>
          </a:p>
        </p:txBody>
      </p:sp>
      <p:sp>
        <p:nvSpPr>
          <p:cNvPr id="31" name="">
            <a:extLst xmlns:a="http://schemas.openxmlformats.org/drawingml/2006/main">
              <a:ext uri="{FF2B5EF4-FFF2-40B4-BE49-F238E27FC236}">
                <a16:creationId xmlns:a16="http://schemas.microsoft.com/office/drawing/2014/main" id="{E12EAADA-B0CD-4B43-AF0B-A3D173087C09}"/>
              </a:ext>
            </a:extLst>
          </p:cNvPr>
          <p:cNvSpPr>
            <a:spLocks xmlns:a="http://schemas.openxmlformats.org/drawingml/2006/main" noGrp="1"/>
          </p:cNvSpPr>
          <p:nvPr/>
        </p:nvSpPr>
        <p:spPr>
          <a:xfrm xmlns:a="http://schemas.openxmlformats.org/drawingml/2006/main">
            <a:off x="3933825" y="3257550"/>
            <a:ext cx="923925" cy="0"/>
          </a:xfrm>
          <a:prstGeom xmlns:a="http://schemas.openxmlformats.org/drawingml/2006/main" prst="line">
            <a:avLst/>
          </a:prstGeom>
          <a:noFill xmlns:a="http://schemas.openxmlformats.org/drawingml/2006/main"/>
          <a:ln xmlns:a="http://schemas.openxmlformats.org/drawingml/2006/main" w="19050">
            <a:solidFill>
              <a:srgbClr val="1C9A92"/>
            </a:solidFill>
            <a:prstDash val="solid"/>
          </a:ln>
        </p:spPr>
      </p:sp>
      <p:sp>
        <p:nvSpPr>
          <p:cNvPr id="32" name="dff-5">
            <a:extLst xmlns:a="http://schemas.openxmlformats.org/drawingml/2006/main">
              <a:ext uri="{FF2B5EF4-FFF2-40B4-BE49-F238E27FC236}">
                <a16:creationId xmlns:a16="http://schemas.microsoft.com/office/drawing/2014/main" id="{7683A912-A975-45E0-8007-82C52B1F55C5}"/>
              </a:ext>
            </a:extLst>
          </p:cNvPr>
          <p:cNvSpPr>
            <a:spLocks xmlns:a="http://schemas.openxmlformats.org/drawingml/2006/main" noGrp="1"/>
          </p:cNvSpPr>
          <p:nvPr/>
        </p:nvSpPr>
        <p:spPr>
          <a:xfrm xmlns:a="http://schemas.openxmlformats.org/drawingml/2006/main">
            <a:off x="4857750" y="3067050"/>
            <a:ext cx="1476375"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10243A"/>
            </a:solidFill>
            <a:prstDash val="solid"/>
          </a:ln>
        </p:spPr>
      </p:sp>
      <p:sp>
        <p:nvSpPr>
          <p:cNvPr id="33" name="">
            <a:extLst xmlns:a="http://schemas.openxmlformats.org/drawingml/2006/main">
              <a:ext uri="{FF2B5EF4-FFF2-40B4-BE49-F238E27FC236}">
                <a16:creationId xmlns:a16="http://schemas.microsoft.com/office/drawing/2014/main" id="{8204CFAC-DD5F-42BD-A690-E50549E1BF14}"/>
              </a:ext>
            </a:extLst>
          </p:cNvPr>
          <p:cNvSpPr>
            <a:spLocks xmlns:a="http://schemas.openxmlformats.org/drawingml/2006/main" noGrp="1"/>
          </p:cNvSpPr>
          <p:nvPr/>
        </p:nvSpPr>
        <p:spPr>
          <a:xfrm xmlns:a="http://schemas.openxmlformats.org/drawingml/2006/main">
            <a:off x="4905375" y="31051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DFF 5</a:t>
            </a:r>
          </a:p>
        </p:txBody>
      </p:sp>
      <p:sp>
        <p:nvSpPr>
          <p:cNvPr id="34" name="">
            <a:extLst xmlns:a="http://schemas.openxmlformats.org/drawingml/2006/main">
              <a:ext uri="{FF2B5EF4-FFF2-40B4-BE49-F238E27FC236}">
                <a16:creationId xmlns:a16="http://schemas.microsoft.com/office/drawing/2014/main" id="{55C9F046-1463-4D83-9CFD-0A49031EA857}"/>
              </a:ext>
            </a:extLst>
          </p:cNvPr>
          <p:cNvSpPr>
            <a:spLocks xmlns:a="http://schemas.openxmlformats.org/drawingml/2006/main" noGrp="1"/>
          </p:cNvSpPr>
          <p:nvPr/>
        </p:nvSpPr>
        <p:spPr>
          <a:xfrm xmlns:a="http://schemas.openxmlformats.org/drawingml/2006/main">
            <a:off x="6334125" y="3257550"/>
            <a:ext cx="1085850" cy="0"/>
          </a:xfrm>
          <a:prstGeom xmlns:a="http://schemas.openxmlformats.org/drawingml/2006/main" prst="line">
            <a:avLst/>
          </a:prstGeom>
          <a:noFill xmlns:a="http://schemas.openxmlformats.org/drawingml/2006/main"/>
          <a:ln xmlns:a="http://schemas.openxmlformats.org/drawingml/2006/main" w="19050">
            <a:solidFill>
              <a:srgbClr val="317B63"/>
            </a:solidFill>
            <a:prstDash val="solid"/>
          </a:ln>
        </p:spPr>
      </p:sp>
      <p:sp>
        <p:nvSpPr>
          <p:cNvPr id="35" name="">
            <a:extLst xmlns:a="http://schemas.openxmlformats.org/drawingml/2006/main">
              <a:ext uri="{FF2B5EF4-FFF2-40B4-BE49-F238E27FC236}">
                <a16:creationId xmlns:a16="http://schemas.microsoft.com/office/drawing/2014/main" id="{06E3703D-76B8-4076-99E7-46C835D920E8}"/>
              </a:ext>
            </a:extLst>
          </p:cNvPr>
          <p:cNvSpPr>
            <a:spLocks xmlns:a="http://schemas.openxmlformats.org/drawingml/2006/main" noGrp="1"/>
          </p:cNvSpPr>
          <p:nvPr/>
        </p:nvSpPr>
        <p:spPr>
          <a:xfrm xmlns:a="http://schemas.openxmlformats.org/drawingml/2006/main">
            <a:off x="7477125" y="31146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317B63"/>
                </a:solidFill>
                <a:latin typeface="Aptos"/>
                <a:ea typeface="Aptos"/>
                <a:cs typeface="Aptos"/>
              </a:defRPr>
            </a:defPPr>
          </a:lstStyle>
          <a:p xmlns:a="http://schemas.openxmlformats.org/drawingml/2006/main">
            <a:pPr algn="ctr">
              <a:defRPr sz="1425" b="1">
                <a:solidFill>
                  <a:srgbClr val="317B63"/>
                </a:solidFill>
                <a:latin typeface="Aptos"/>
                <a:ea typeface="Aptos"/>
                <a:cs typeface="Aptos"/>
              </a:defRPr>
            </a:pPr>
            <a:r>
              <a:rPr sz="1425" b="1">
                <a:solidFill>
                  <a:srgbClr val="317B63"/>
                </a:solidFill>
                <a:latin typeface="Aptos"/>
                <a:ea typeface="Aptos"/>
                <a:cs typeface="Aptos"/>
              </a:rPr>
              <a:t>Q5</a:t>
            </a:r>
          </a:p>
        </p:txBody>
      </p:sp>
      <p:sp>
        <p:nvSpPr>
          <p:cNvPr id="36" name="">
            <a:extLst xmlns:a="http://schemas.openxmlformats.org/drawingml/2006/main">
              <a:ext uri="{FF2B5EF4-FFF2-40B4-BE49-F238E27FC236}">
                <a16:creationId xmlns:a16="http://schemas.microsoft.com/office/drawing/2014/main" id="{6D18C942-0341-48FB-A13D-125F0BF7AEE7}"/>
              </a:ext>
            </a:extLst>
          </p:cNvPr>
          <p:cNvSpPr>
            <a:spLocks xmlns:a="http://schemas.openxmlformats.org/drawingml/2006/main" noGrp="1"/>
          </p:cNvSpPr>
          <p:nvPr/>
        </p:nvSpPr>
        <p:spPr>
          <a:xfrm xmlns:a="http://schemas.openxmlformats.org/drawingml/2006/main">
            <a:off x="876300" y="35718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4777A8"/>
                </a:solidFill>
                <a:latin typeface="Aptos"/>
                <a:ea typeface="Aptos"/>
                <a:cs typeface="Aptos"/>
              </a:defRPr>
            </a:defPPr>
          </a:lstStyle>
          <a:p xmlns:a="http://schemas.openxmlformats.org/drawingml/2006/main">
            <a:pPr algn="ctr">
              <a:defRPr sz="1425" b="1">
                <a:solidFill>
                  <a:srgbClr val="4777A8"/>
                </a:solidFill>
                <a:latin typeface="Aptos"/>
                <a:ea typeface="Aptos"/>
                <a:cs typeface="Aptos"/>
              </a:defRPr>
            </a:pPr>
            <a:r>
              <a:rPr sz="1425" b="1">
                <a:solidFill>
                  <a:srgbClr val="4777A8"/>
                </a:solidFill>
                <a:latin typeface="Aptos"/>
                <a:ea typeface="Aptos"/>
                <a:cs typeface="Aptos"/>
              </a:rPr>
              <a:t>D4</a:t>
            </a:r>
          </a:p>
        </p:txBody>
      </p:sp>
      <p:sp>
        <p:nvSpPr>
          <p:cNvPr id="37" name="">
            <a:extLst xmlns:a="http://schemas.openxmlformats.org/drawingml/2006/main">
              <a:ext uri="{FF2B5EF4-FFF2-40B4-BE49-F238E27FC236}">
                <a16:creationId xmlns:a16="http://schemas.microsoft.com/office/drawing/2014/main" id="{BAA49019-4919-419D-9118-63C6D41F9C67}"/>
              </a:ext>
            </a:extLst>
          </p:cNvPr>
          <p:cNvSpPr>
            <a:spLocks xmlns:a="http://schemas.openxmlformats.org/drawingml/2006/main" noGrp="1"/>
          </p:cNvSpPr>
          <p:nvPr/>
        </p:nvSpPr>
        <p:spPr>
          <a:xfrm xmlns:a="http://schemas.openxmlformats.org/drawingml/2006/main">
            <a:off x="1619250" y="3714750"/>
            <a:ext cx="1123950" cy="0"/>
          </a:xfrm>
          <a:prstGeom xmlns:a="http://schemas.openxmlformats.org/drawingml/2006/main" prst="line">
            <a:avLst/>
          </a:prstGeom>
          <a:noFill xmlns:a="http://schemas.openxmlformats.org/drawingml/2006/main"/>
          <a:ln xmlns:a="http://schemas.openxmlformats.org/drawingml/2006/main" w="19050">
            <a:solidFill>
              <a:srgbClr val="4777A8"/>
            </a:solidFill>
            <a:prstDash val="solid"/>
          </a:ln>
        </p:spPr>
      </p:sp>
      <p:sp>
        <p:nvSpPr>
          <p:cNvPr id="38" name="mux-4">
            <a:extLst xmlns:a="http://schemas.openxmlformats.org/drawingml/2006/main">
              <a:ext uri="{FF2B5EF4-FFF2-40B4-BE49-F238E27FC236}">
                <a16:creationId xmlns:a16="http://schemas.microsoft.com/office/drawing/2014/main" id="{6B7EB53D-E116-445E-B408-B4110F3F175A}"/>
              </a:ext>
            </a:extLst>
          </p:cNvPr>
          <p:cNvSpPr>
            <a:spLocks xmlns:a="http://schemas.openxmlformats.org/drawingml/2006/main" noGrp="1"/>
          </p:cNvSpPr>
          <p:nvPr/>
        </p:nvSpPr>
        <p:spPr>
          <a:xfrm xmlns:a="http://schemas.openxmlformats.org/drawingml/2006/main">
            <a:off x="2743200" y="3524250"/>
            <a:ext cx="1190625" cy="381000"/>
          </a:xfrm>
          <a:prstGeom xmlns:a="http://schemas.openxmlformats.org/drawingml/2006/main" prst="roundRect">
            <a:avLst>
              <a:gd name="adj" fmla="val 20000"/>
            </a:avLst>
          </a:prstGeom>
          <a:solidFill xmlns:a="http://schemas.openxmlformats.org/drawingml/2006/main">
            <a:srgbClr val="DDF4F0"/>
          </a:solidFill>
          <a:ln xmlns:a="http://schemas.openxmlformats.org/drawingml/2006/main" w="14288">
            <a:solidFill>
              <a:srgbClr val="1C9A92"/>
            </a:solidFill>
            <a:prstDash val="solid"/>
          </a:ln>
        </p:spPr>
      </p:sp>
      <p:sp>
        <p:nvSpPr>
          <p:cNvPr id="39" name="">
            <a:extLst xmlns:a="http://schemas.openxmlformats.org/drawingml/2006/main">
              <a:ext uri="{FF2B5EF4-FFF2-40B4-BE49-F238E27FC236}">
                <a16:creationId xmlns:a16="http://schemas.microsoft.com/office/drawing/2014/main" id="{14A72402-AEF6-4B38-986D-7C5608573A55}"/>
              </a:ext>
            </a:extLst>
          </p:cNvPr>
          <p:cNvSpPr>
            <a:spLocks xmlns:a="http://schemas.openxmlformats.org/drawingml/2006/main" noGrp="1"/>
          </p:cNvSpPr>
          <p:nvPr/>
        </p:nvSpPr>
        <p:spPr>
          <a:xfrm xmlns:a="http://schemas.openxmlformats.org/drawingml/2006/main">
            <a:off x="2790825" y="35623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MUX 4</a:t>
            </a:r>
          </a:p>
        </p:txBody>
      </p:sp>
      <p:sp>
        <p:nvSpPr>
          <p:cNvPr id="40" name="">
            <a:extLst xmlns:a="http://schemas.openxmlformats.org/drawingml/2006/main">
              <a:ext uri="{FF2B5EF4-FFF2-40B4-BE49-F238E27FC236}">
                <a16:creationId xmlns:a16="http://schemas.microsoft.com/office/drawing/2014/main" id="{EADFBAB5-DF75-483D-BC10-C1A3A5DA3997}"/>
              </a:ext>
            </a:extLst>
          </p:cNvPr>
          <p:cNvSpPr>
            <a:spLocks xmlns:a="http://schemas.openxmlformats.org/drawingml/2006/main" noGrp="1"/>
          </p:cNvSpPr>
          <p:nvPr/>
        </p:nvSpPr>
        <p:spPr>
          <a:xfrm xmlns:a="http://schemas.openxmlformats.org/drawingml/2006/main">
            <a:off x="3933825" y="3714750"/>
            <a:ext cx="923925" cy="0"/>
          </a:xfrm>
          <a:prstGeom xmlns:a="http://schemas.openxmlformats.org/drawingml/2006/main" prst="line">
            <a:avLst/>
          </a:prstGeom>
          <a:noFill xmlns:a="http://schemas.openxmlformats.org/drawingml/2006/main"/>
          <a:ln xmlns:a="http://schemas.openxmlformats.org/drawingml/2006/main" w="19050">
            <a:solidFill>
              <a:srgbClr val="1C9A92"/>
            </a:solidFill>
            <a:prstDash val="solid"/>
          </a:ln>
        </p:spPr>
      </p:sp>
      <p:sp>
        <p:nvSpPr>
          <p:cNvPr id="41" name="dff-4">
            <a:extLst xmlns:a="http://schemas.openxmlformats.org/drawingml/2006/main">
              <a:ext uri="{FF2B5EF4-FFF2-40B4-BE49-F238E27FC236}">
                <a16:creationId xmlns:a16="http://schemas.microsoft.com/office/drawing/2014/main" id="{82CF31ED-B318-4198-8F95-D76FDC90D169}"/>
              </a:ext>
            </a:extLst>
          </p:cNvPr>
          <p:cNvSpPr>
            <a:spLocks xmlns:a="http://schemas.openxmlformats.org/drawingml/2006/main" noGrp="1"/>
          </p:cNvSpPr>
          <p:nvPr/>
        </p:nvSpPr>
        <p:spPr>
          <a:xfrm xmlns:a="http://schemas.openxmlformats.org/drawingml/2006/main">
            <a:off x="4857750" y="3524250"/>
            <a:ext cx="1476375"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10243A"/>
            </a:solidFill>
            <a:prstDash val="solid"/>
          </a:ln>
        </p:spPr>
      </p:sp>
      <p:sp>
        <p:nvSpPr>
          <p:cNvPr id="42" name="">
            <a:extLst xmlns:a="http://schemas.openxmlformats.org/drawingml/2006/main">
              <a:ext uri="{FF2B5EF4-FFF2-40B4-BE49-F238E27FC236}">
                <a16:creationId xmlns:a16="http://schemas.microsoft.com/office/drawing/2014/main" id="{629F1E8C-D0B1-4A6C-AB3C-984C56B00E5C}"/>
              </a:ext>
            </a:extLst>
          </p:cNvPr>
          <p:cNvSpPr>
            <a:spLocks xmlns:a="http://schemas.openxmlformats.org/drawingml/2006/main" noGrp="1"/>
          </p:cNvSpPr>
          <p:nvPr/>
        </p:nvSpPr>
        <p:spPr>
          <a:xfrm xmlns:a="http://schemas.openxmlformats.org/drawingml/2006/main">
            <a:off x="4905375" y="35623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DFF 4</a:t>
            </a:r>
          </a:p>
        </p:txBody>
      </p:sp>
      <p:sp>
        <p:nvSpPr>
          <p:cNvPr id="43" name="">
            <a:extLst xmlns:a="http://schemas.openxmlformats.org/drawingml/2006/main">
              <a:ext uri="{FF2B5EF4-FFF2-40B4-BE49-F238E27FC236}">
                <a16:creationId xmlns:a16="http://schemas.microsoft.com/office/drawing/2014/main" id="{1C80CCBC-BD0C-4659-9A1E-EA9971A790AA}"/>
              </a:ext>
            </a:extLst>
          </p:cNvPr>
          <p:cNvSpPr>
            <a:spLocks xmlns:a="http://schemas.openxmlformats.org/drawingml/2006/main" noGrp="1"/>
          </p:cNvSpPr>
          <p:nvPr/>
        </p:nvSpPr>
        <p:spPr>
          <a:xfrm xmlns:a="http://schemas.openxmlformats.org/drawingml/2006/main">
            <a:off x="6334125" y="3714750"/>
            <a:ext cx="1085850" cy="0"/>
          </a:xfrm>
          <a:prstGeom xmlns:a="http://schemas.openxmlformats.org/drawingml/2006/main" prst="line">
            <a:avLst/>
          </a:prstGeom>
          <a:noFill xmlns:a="http://schemas.openxmlformats.org/drawingml/2006/main"/>
          <a:ln xmlns:a="http://schemas.openxmlformats.org/drawingml/2006/main" w="19050">
            <a:solidFill>
              <a:srgbClr val="317B63"/>
            </a:solidFill>
            <a:prstDash val="solid"/>
          </a:ln>
        </p:spPr>
      </p:sp>
      <p:sp>
        <p:nvSpPr>
          <p:cNvPr id="44" name="">
            <a:extLst xmlns:a="http://schemas.openxmlformats.org/drawingml/2006/main">
              <a:ext uri="{FF2B5EF4-FFF2-40B4-BE49-F238E27FC236}">
                <a16:creationId xmlns:a16="http://schemas.microsoft.com/office/drawing/2014/main" id="{ABF43186-495F-4C43-B4F5-E5BDF201A534}"/>
              </a:ext>
            </a:extLst>
          </p:cNvPr>
          <p:cNvSpPr>
            <a:spLocks xmlns:a="http://schemas.openxmlformats.org/drawingml/2006/main" noGrp="1"/>
          </p:cNvSpPr>
          <p:nvPr/>
        </p:nvSpPr>
        <p:spPr>
          <a:xfrm xmlns:a="http://schemas.openxmlformats.org/drawingml/2006/main">
            <a:off x="7477125" y="35718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317B63"/>
                </a:solidFill>
                <a:latin typeface="Aptos"/>
                <a:ea typeface="Aptos"/>
                <a:cs typeface="Aptos"/>
              </a:defRPr>
            </a:defPPr>
          </a:lstStyle>
          <a:p xmlns:a="http://schemas.openxmlformats.org/drawingml/2006/main">
            <a:pPr algn="ctr">
              <a:defRPr sz="1425" b="1">
                <a:solidFill>
                  <a:srgbClr val="317B63"/>
                </a:solidFill>
                <a:latin typeface="Aptos"/>
                <a:ea typeface="Aptos"/>
                <a:cs typeface="Aptos"/>
              </a:defRPr>
            </a:pPr>
            <a:r>
              <a:rPr sz="1425" b="1">
                <a:solidFill>
                  <a:srgbClr val="317B63"/>
                </a:solidFill>
                <a:latin typeface="Aptos"/>
                <a:ea typeface="Aptos"/>
                <a:cs typeface="Aptos"/>
              </a:rPr>
              <a:t>Q4</a:t>
            </a:r>
          </a:p>
        </p:txBody>
      </p:sp>
      <p:sp>
        <p:nvSpPr>
          <p:cNvPr id="45" name="">
            <a:extLst xmlns:a="http://schemas.openxmlformats.org/drawingml/2006/main">
              <a:ext uri="{FF2B5EF4-FFF2-40B4-BE49-F238E27FC236}">
                <a16:creationId xmlns:a16="http://schemas.microsoft.com/office/drawing/2014/main" id="{52C23198-F120-4237-8523-8A152BA5865C}"/>
              </a:ext>
            </a:extLst>
          </p:cNvPr>
          <p:cNvSpPr>
            <a:spLocks xmlns:a="http://schemas.openxmlformats.org/drawingml/2006/main" noGrp="1"/>
          </p:cNvSpPr>
          <p:nvPr/>
        </p:nvSpPr>
        <p:spPr>
          <a:xfrm xmlns:a="http://schemas.openxmlformats.org/drawingml/2006/main">
            <a:off x="876300" y="40290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4777A8"/>
                </a:solidFill>
                <a:latin typeface="Aptos"/>
                <a:ea typeface="Aptos"/>
                <a:cs typeface="Aptos"/>
              </a:defRPr>
            </a:defPPr>
          </a:lstStyle>
          <a:p xmlns:a="http://schemas.openxmlformats.org/drawingml/2006/main">
            <a:pPr algn="ctr">
              <a:defRPr sz="1425" b="1">
                <a:solidFill>
                  <a:srgbClr val="4777A8"/>
                </a:solidFill>
                <a:latin typeface="Aptos"/>
                <a:ea typeface="Aptos"/>
                <a:cs typeface="Aptos"/>
              </a:defRPr>
            </a:pPr>
            <a:r>
              <a:rPr sz="1425" b="1">
                <a:solidFill>
                  <a:srgbClr val="4777A8"/>
                </a:solidFill>
                <a:latin typeface="Aptos"/>
                <a:ea typeface="Aptos"/>
                <a:cs typeface="Aptos"/>
              </a:rPr>
              <a:t>D3</a:t>
            </a:r>
          </a:p>
        </p:txBody>
      </p:sp>
      <p:sp>
        <p:nvSpPr>
          <p:cNvPr id="46" name="">
            <a:extLst xmlns:a="http://schemas.openxmlformats.org/drawingml/2006/main">
              <a:ext uri="{FF2B5EF4-FFF2-40B4-BE49-F238E27FC236}">
                <a16:creationId xmlns:a16="http://schemas.microsoft.com/office/drawing/2014/main" id="{12484FEE-8584-42F4-8B52-15051168EF05}"/>
              </a:ext>
            </a:extLst>
          </p:cNvPr>
          <p:cNvSpPr>
            <a:spLocks xmlns:a="http://schemas.openxmlformats.org/drawingml/2006/main" noGrp="1"/>
          </p:cNvSpPr>
          <p:nvPr/>
        </p:nvSpPr>
        <p:spPr>
          <a:xfrm xmlns:a="http://schemas.openxmlformats.org/drawingml/2006/main">
            <a:off x="1619250" y="4171950"/>
            <a:ext cx="1123950" cy="0"/>
          </a:xfrm>
          <a:prstGeom xmlns:a="http://schemas.openxmlformats.org/drawingml/2006/main" prst="line">
            <a:avLst/>
          </a:prstGeom>
          <a:noFill xmlns:a="http://schemas.openxmlformats.org/drawingml/2006/main"/>
          <a:ln xmlns:a="http://schemas.openxmlformats.org/drawingml/2006/main" w="19050">
            <a:solidFill>
              <a:srgbClr val="4777A8"/>
            </a:solidFill>
            <a:prstDash val="solid"/>
          </a:ln>
        </p:spPr>
      </p:sp>
      <p:sp>
        <p:nvSpPr>
          <p:cNvPr id="47" name="mux-3">
            <a:extLst xmlns:a="http://schemas.openxmlformats.org/drawingml/2006/main">
              <a:ext uri="{FF2B5EF4-FFF2-40B4-BE49-F238E27FC236}">
                <a16:creationId xmlns:a16="http://schemas.microsoft.com/office/drawing/2014/main" id="{5B1D3AE5-94DF-42AA-A551-22CE35A5DB65}"/>
              </a:ext>
            </a:extLst>
          </p:cNvPr>
          <p:cNvSpPr>
            <a:spLocks xmlns:a="http://schemas.openxmlformats.org/drawingml/2006/main" noGrp="1"/>
          </p:cNvSpPr>
          <p:nvPr/>
        </p:nvSpPr>
        <p:spPr>
          <a:xfrm xmlns:a="http://schemas.openxmlformats.org/drawingml/2006/main">
            <a:off x="2743200" y="3981450"/>
            <a:ext cx="1190625" cy="381000"/>
          </a:xfrm>
          <a:prstGeom xmlns:a="http://schemas.openxmlformats.org/drawingml/2006/main" prst="roundRect">
            <a:avLst>
              <a:gd name="adj" fmla="val 20000"/>
            </a:avLst>
          </a:prstGeom>
          <a:solidFill xmlns:a="http://schemas.openxmlformats.org/drawingml/2006/main">
            <a:srgbClr val="DDF4F0"/>
          </a:solidFill>
          <a:ln xmlns:a="http://schemas.openxmlformats.org/drawingml/2006/main" w="14288">
            <a:solidFill>
              <a:srgbClr val="1C9A92"/>
            </a:solidFill>
            <a:prstDash val="solid"/>
          </a:ln>
        </p:spPr>
      </p:sp>
      <p:sp>
        <p:nvSpPr>
          <p:cNvPr id="48" name="">
            <a:extLst xmlns:a="http://schemas.openxmlformats.org/drawingml/2006/main">
              <a:ext uri="{FF2B5EF4-FFF2-40B4-BE49-F238E27FC236}">
                <a16:creationId xmlns:a16="http://schemas.microsoft.com/office/drawing/2014/main" id="{720C1662-4523-4172-ACCE-217134728C62}"/>
              </a:ext>
            </a:extLst>
          </p:cNvPr>
          <p:cNvSpPr>
            <a:spLocks xmlns:a="http://schemas.openxmlformats.org/drawingml/2006/main" noGrp="1"/>
          </p:cNvSpPr>
          <p:nvPr/>
        </p:nvSpPr>
        <p:spPr>
          <a:xfrm xmlns:a="http://schemas.openxmlformats.org/drawingml/2006/main">
            <a:off x="2790825" y="40195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MUX 3</a:t>
            </a:r>
          </a:p>
        </p:txBody>
      </p:sp>
      <p:sp>
        <p:nvSpPr>
          <p:cNvPr id="49" name="">
            <a:extLst xmlns:a="http://schemas.openxmlformats.org/drawingml/2006/main">
              <a:ext uri="{FF2B5EF4-FFF2-40B4-BE49-F238E27FC236}">
                <a16:creationId xmlns:a16="http://schemas.microsoft.com/office/drawing/2014/main" id="{F8BB2353-F4FA-4917-B4C6-5B635AF54D21}"/>
              </a:ext>
            </a:extLst>
          </p:cNvPr>
          <p:cNvSpPr>
            <a:spLocks xmlns:a="http://schemas.openxmlformats.org/drawingml/2006/main" noGrp="1"/>
          </p:cNvSpPr>
          <p:nvPr/>
        </p:nvSpPr>
        <p:spPr>
          <a:xfrm xmlns:a="http://schemas.openxmlformats.org/drawingml/2006/main">
            <a:off x="3933825" y="4171950"/>
            <a:ext cx="923925" cy="0"/>
          </a:xfrm>
          <a:prstGeom xmlns:a="http://schemas.openxmlformats.org/drawingml/2006/main" prst="line">
            <a:avLst/>
          </a:prstGeom>
          <a:noFill xmlns:a="http://schemas.openxmlformats.org/drawingml/2006/main"/>
          <a:ln xmlns:a="http://schemas.openxmlformats.org/drawingml/2006/main" w="19050">
            <a:solidFill>
              <a:srgbClr val="1C9A92"/>
            </a:solidFill>
            <a:prstDash val="solid"/>
          </a:ln>
        </p:spPr>
      </p:sp>
      <p:sp>
        <p:nvSpPr>
          <p:cNvPr id="50" name="dff-3">
            <a:extLst xmlns:a="http://schemas.openxmlformats.org/drawingml/2006/main">
              <a:ext uri="{FF2B5EF4-FFF2-40B4-BE49-F238E27FC236}">
                <a16:creationId xmlns:a16="http://schemas.microsoft.com/office/drawing/2014/main" id="{FE4012CB-3B95-46F5-B0A7-784701983D6D}"/>
              </a:ext>
            </a:extLst>
          </p:cNvPr>
          <p:cNvSpPr>
            <a:spLocks xmlns:a="http://schemas.openxmlformats.org/drawingml/2006/main" noGrp="1"/>
          </p:cNvSpPr>
          <p:nvPr/>
        </p:nvSpPr>
        <p:spPr>
          <a:xfrm xmlns:a="http://schemas.openxmlformats.org/drawingml/2006/main">
            <a:off x="4857750" y="3981450"/>
            <a:ext cx="1476375"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10243A"/>
            </a:solidFill>
            <a:prstDash val="solid"/>
          </a:ln>
        </p:spPr>
      </p:sp>
      <p:sp>
        <p:nvSpPr>
          <p:cNvPr id="51" name="">
            <a:extLst xmlns:a="http://schemas.openxmlformats.org/drawingml/2006/main">
              <a:ext uri="{FF2B5EF4-FFF2-40B4-BE49-F238E27FC236}">
                <a16:creationId xmlns:a16="http://schemas.microsoft.com/office/drawing/2014/main" id="{B4D8EDC2-9D35-49DE-83F5-3FFEEBB42CF1}"/>
              </a:ext>
            </a:extLst>
          </p:cNvPr>
          <p:cNvSpPr>
            <a:spLocks xmlns:a="http://schemas.openxmlformats.org/drawingml/2006/main" noGrp="1"/>
          </p:cNvSpPr>
          <p:nvPr/>
        </p:nvSpPr>
        <p:spPr>
          <a:xfrm xmlns:a="http://schemas.openxmlformats.org/drawingml/2006/main">
            <a:off x="4905375" y="40195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DFF 3</a:t>
            </a:r>
          </a:p>
        </p:txBody>
      </p:sp>
      <p:sp>
        <p:nvSpPr>
          <p:cNvPr id="52" name="">
            <a:extLst xmlns:a="http://schemas.openxmlformats.org/drawingml/2006/main">
              <a:ext uri="{FF2B5EF4-FFF2-40B4-BE49-F238E27FC236}">
                <a16:creationId xmlns:a16="http://schemas.microsoft.com/office/drawing/2014/main" id="{217CB7BF-4D3E-43B1-8BA1-5062AD50EE25}"/>
              </a:ext>
            </a:extLst>
          </p:cNvPr>
          <p:cNvSpPr>
            <a:spLocks xmlns:a="http://schemas.openxmlformats.org/drawingml/2006/main" noGrp="1"/>
          </p:cNvSpPr>
          <p:nvPr/>
        </p:nvSpPr>
        <p:spPr>
          <a:xfrm xmlns:a="http://schemas.openxmlformats.org/drawingml/2006/main">
            <a:off x="6334125" y="4171950"/>
            <a:ext cx="1085850" cy="0"/>
          </a:xfrm>
          <a:prstGeom xmlns:a="http://schemas.openxmlformats.org/drawingml/2006/main" prst="line">
            <a:avLst/>
          </a:prstGeom>
          <a:noFill xmlns:a="http://schemas.openxmlformats.org/drawingml/2006/main"/>
          <a:ln xmlns:a="http://schemas.openxmlformats.org/drawingml/2006/main" w="19050">
            <a:solidFill>
              <a:srgbClr val="317B63"/>
            </a:solidFill>
            <a:prstDash val="solid"/>
          </a:ln>
        </p:spPr>
      </p:sp>
      <p:sp>
        <p:nvSpPr>
          <p:cNvPr id="53" name="">
            <a:extLst xmlns:a="http://schemas.openxmlformats.org/drawingml/2006/main">
              <a:ext uri="{FF2B5EF4-FFF2-40B4-BE49-F238E27FC236}">
                <a16:creationId xmlns:a16="http://schemas.microsoft.com/office/drawing/2014/main" id="{EF7E632F-8DEF-4A9B-93F0-BF4FFD865FA5}"/>
              </a:ext>
            </a:extLst>
          </p:cNvPr>
          <p:cNvSpPr>
            <a:spLocks xmlns:a="http://schemas.openxmlformats.org/drawingml/2006/main" noGrp="1"/>
          </p:cNvSpPr>
          <p:nvPr/>
        </p:nvSpPr>
        <p:spPr>
          <a:xfrm xmlns:a="http://schemas.openxmlformats.org/drawingml/2006/main">
            <a:off x="7477125" y="40290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317B63"/>
                </a:solidFill>
                <a:latin typeface="Aptos"/>
                <a:ea typeface="Aptos"/>
                <a:cs typeface="Aptos"/>
              </a:defRPr>
            </a:defPPr>
          </a:lstStyle>
          <a:p xmlns:a="http://schemas.openxmlformats.org/drawingml/2006/main">
            <a:pPr algn="ctr">
              <a:defRPr sz="1425" b="1">
                <a:solidFill>
                  <a:srgbClr val="317B63"/>
                </a:solidFill>
                <a:latin typeface="Aptos"/>
                <a:ea typeface="Aptos"/>
                <a:cs typeface="Aptos"/>
              </a:defRPr>
            </a:pPr>
            <a:r>
              <a:rPr sz="1425" b="1">
                <a:solidFill>
                  <a:srgbClr val="317B63"/>
                </a:solidFill>
                <a:latin typeface="Aptos"/>
                <a:ea typeface="Aptos"/>
                <a:cs typeface="Aptos"/>
              </a:rPr>
              <a:t>Q3</a:t>
            </a:r>
          </a:p>
        </p:txBody>
      </p:sp>
      <p:sp>
        <p:nvSpPr>
          <p:cNvPr id="54" name="">
            <a:extLst xmlns:a="http://schemas.openxmlformats.org/drawingml/2006/main">
              <a:ext uri="{FF2B5EF4-FFF2-40B4-BE49-F238E27FC236}">
                <a16:creationId xmlns:a16="http://schemas.microsoft.com/office/drawing/2014/main" id="{382B6662-F350-4150-A589-900C26248E82}"/>
              </a:ext>
            </a:extLst>
          </p:cNvPr>
          <p:cNvSpPr>
            <a:spLocks xmlns:a="http://schemas.openxmlformats.org/drawingml/2006/main" noGrp="1"/>
          </p:cNvSpPr>
          <p:nvPr/>
        </p:nvSpPr>
        <p:spPr>
          <a:xfrm xmlns:a="http://schemas.openxmlformats.org/drawingml/2006/main">
            <a:off x="876300" y="44862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4777A8"/>
                </a:solidFill>
                <a:latin typeface="Aptos"/>
                <a:ea typeface="Aptos"/>
                <a:cs typeface="Aptos"/>
              </a:defRPr>
            </a:defPPr>
          </a:lstStyle>
          <a:p xmlns:a="http://schemas.openxmlformats.org/drawingml/2006/main">
            <a:pPr algn="ctr">
              <a:defRPr sz="1425" b="1">
                <a:solidFill>
                  <a:srgbClr val="4777A8"/>
                </a:solidFill>
                <a:latin typeface="Aptos"/>
                <a:ea typeface="Aptos"/>
                <a:cs typeface="Aptos"/>
              </a:defRPr>
            </a:pPr>
            <a:r>
              <a:rPr sz="1425" b="1">
                <a:solidFill>
                  <a:srgbClr val="4777A8"/>
                </a:solidFill>
                <a:latin typeface="Aptos"/>
                <a:ea typeface="Aptos"/>
                <a:cs typeface="Aptos"/>
              </a:rPr>
              <a:t>D2</a:t>
            </a:r>
          </a:p>
        </p:txBody>
      </p:sp>
      <p:sp>
        <p:nvSpPr>
          <p:cNvPr id="55" name="">
            <a:extLst xmlns:a="http://schemas.openxmlformats.org/drawingml/2006/main">
              <a:ext uri="{FF2B5EF4-FFF2-40B4-BE49-F238E27FC236}">
                <a16:creationId xmlns:a16="http://schemas.microsoft.com/office/drawing/2014/main" id="{B02256BE-835C-423D-B340-EBC8CF2B6B74}"/>
              </a:ext>
            </a:extLst>
          </p:cNvPr>
          <p:cNvSpPr>
            <a:spLocks xmlns:a="http://schemas.openxmlformats.org/drawingml/2006/main" noGrp="1"/>
          </p:cNvSpPr>
          <p:nvPr/>
        </p:nvSpPr>
        <p:spPr>
          <a:xfrm xmlns:a="http://schemas.openxmlformats.org/drawingml/2006/main">
            <a:off x="1619250" y="4629150"/>
            <a:ext cx="1123950" cy="0"/>
          </a:xfrm>
          <a:prstGeom xmlns:a="http://schemas.openxmlformats.org/drawingml/2006/main" prst="line">
            <a:avLst/>
          </a:prstGeom>
          <a:noFill xmlns:a="http://schemas.openxmlformats.org/drawingml/2006/main"/>
          <a:ln xmlns:a="http://schemas.openxmlformats.org/drawingml/2006/main" w="19050">
            <a:solidFill>
              <a:srgbClr val="4777A8"/>
            </a:solidFill>
            <a:prstDash val="solid"/>
          </a:ln>
        </p:spPr>
      </p:sp>
      <p:sp>
        <p:nvSpPr>
          <p:cNvPr id="56" name="mux-2">
            <a:extLst xmlns:a="http://schemas.openxmlformats.org/drawingml/2006/main">
              <a:ext uri="{FF2B5EF4-FFF2-40B4-BE49-F238E27FC236}">
                <a16:creationId xmlns:a16="http://schemas.microsoft.com/office/drawing/2014/main" id="{E42C0766-F6DE-47E4-8EAE-B6F5E176E525}"/>
              </a:ext>
            </a:extLst>
          </p:cNvPr>
          <p:cNvSpPr>
            <a:spLocks xmlns:a="http://schemas.openxmlformats.org/drawingml/2006/main" noGrp="1"/>
          </p:cNvSpPr>
          <p:nvPr/>
        </p:nvSpPr>
        <p:spPr>
          <a:xfrm xmlns:a="http://schemas.openxmlformats.org/drawingml/2006/main">
            <a:off x="2743200" y="4438650"/>
            <a:ext cx="1190625" cy="381000"/>
          </a:xfrm>
          <a:prstGeom xmlns:a="http://schemas.openxmlformats.org/drawingml/2006/main" prst="roundRect">
            <a:avLst>
              <a:gd name="adj" fmla="val 20000"/>
            </a:avLst>
          </a:prstGeom>
          <a:solidFill xmlns:a="http://schemas.openxmlformats.org/drawingml/2006/main">
            <a:srgbClr val="DDF4F0"/>
          </a:solidFill>
          <a:ln xmlns:a="http://schemas.openxmlformats.org/drawingml/2006/main" w="14288">
            <a:solidFill>
              <a:srgbClr val="1C9A92"/>
            </a:solidFill>
            <a:prstDash val="solid"/>
          </a:ln>
        </p:spPr>
      </p:sp>
      <p:sp>
        <p:nvSpPr>
          <p:cNvPr id="57" name="">
            <a:extLst xmlns:a="http://schemas.openxmlformats.org/drawingml/2006/main">
              <a:ext uri="{FF2B5EF4-FFF2-40B4-BE49-F238E27FC236}">
                <a16:creationId xmlns:a16="http://schemas.microsoft.com/office/drawing/2014/main" id="{0EF83227-5782-4821-919B-ABA2665FED93}"/>
              </a:ext>
            </a:extLst>
          </p:cNvPr>
          <p:cNvSpPr>
            <a:spLocks xmlns:a="http://schemas.openxmlformats.org/drawingml/2006/main" noGrp="1"/>
          </p:cNvSpPr>
          <p:nvPr/>
        </p:nvSpPr>
        <p:spPr>
          <a:xfrm xmlns:a="http://schemas.openxmlformats.org/drawingml/2006/main">
            <a:off x="2790825" y="44767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MUX 2</a:t>
            </a:r>
          </a:p>
        </p:txBody>
      </p:sp>
      <p:sp>
        <p:nvSpPr>
          <p:cNvPr id="58" name="">
            <a:extLst xmlns:a="http://schemas.openxmlformats.org/drawingml/2006/main">
              <a:ext uri="{FF2B5EF4-FFF2-40B4-BE49-F238E27FC236}">
                <a16:creationId xmlns:a16="http://schemas.microsoft.com/office/drawing/2014/main" id="{5EFD11CC-A15C-41F9-84A4-4A714C3EBE8F}"/>
              </a:ext>
            </a:extLst>
          </p:cNvPr>
          <p:cNvSpPr>
            <a:spLocks xmlns:a="http://schemas.openxmlformats.org/drawingml/2006/main" noGrp="1"/>
          </p:cNvSpPr>
          <p:nvPr/>
        </p:nvSpPr>
        <p:spPr>
          <a:xfrm xmlns:a="http://schemas.openxmlformats.org/drawingml/2006/main">
            <a:off x="3933825" y="4629150"/>
            <a:ext cx="923925" cy="0"/>
          </a:xfrm>
          <a:prstGeom xmlns:a="http://schemas.openxmlformats.org/drawingml/2006/main" prst="line">
            <a:avLst/>
          </a:prstGeom>
          <a:noFill xmlns:a="http://schemas.openxmlformats.org/drawingml/2006/main"/>
          <a:ln xmlns:a="http://schemas.openxmlformats.org/drawingml/2006/main" w="19050">
            <a:solidFill>
              <a:srgbClr val="1C9A92"/>
            </a:solidFill>
            <a:prstDash val="solid"/>
          </a:ln>
        </p:spPr>
      </p:sp>
      <p:sp>
        <p:nvSpPr>
          <p:cNvPr id="59" name="dff-2">
            <a:extLst xmlns:a="http://schemas.openxmlformats.org/drawingml/2006/main">
              <a:ext uri="{FF2B5EF4-FFF2-40B4-BE49-F238E27FC236}">
                <a16:creationId xmlns:a16="http://schemas.microsoft.com/office/drawing/2014/main" id="{DF1AF786-9F29-4159-9BBC-0F144E1F4BB6}"/>
              </a:ext>
            </a:extLst>
          </p:cNvPr>
          <p:cNvSpPr>
            <a:spLocks xmlns:a="http://schemas.openxmlformats.org/drawingml/2006/main" noGrp="1"/>
          </p:cNvSpPr>
          <p:nvPr/>
        </p:nvSpPr>
        <p:spPr>
          <a:xfrm xmlns:a="http://schemas.openxmlformats.org/drawingml/2006/main">
            <a:off x="4857750" y="4438650"/>
            <a:ext cx="1476375"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10243A"/>
            </a:solidFill>
            <a:prstDash val="solid"/>
          </a:ln>
        </p:spPr>
      </p:sp>
      <p:sp>
        <p:nvSpPr>
          <p:cNvPr id="60" name="">
            <a:extLst xmlns:a="http://schemas.openxmlformats.org/drawingml/2006/main">
              <a:ext uri="{FF2B5EF4-FFF2-40B4-BE49-F238E27FC236}">
                <a16:creationId xmlns:a16="http://schemas.microsoft.com/office/drawing/2014/main" id="{C9345F39-286E-4C2F-9F63-6C39DB0404EA}"/>
              </a:ext>
            </a:extLst>
          </p:cNvPr>
          <p:cNvSpPr>
            <a:spLocks xmlns:a="http://schemas.openxmlformats.org/drawingml/2006/main" noGrp="1"/>
          </p:cNvSpPr>
          <p:nvPr/>
        </p:nvSpPr>
        <p:spPr>
          <a:xfrm xmlns:a="http://schemas.openxmlformats.org/drawingml/2006/main">
            <a:off x="4905375" y="44767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DFF 2</a:t>
            </a:r>
          </a:p>
        </p:txBody>
      </p:sp>
      <p:sp>
        <p:nvSpPr>
          <p:cNvPr id="61" name="">
            <a:extLst xmlns:a="http://schemas.openxmlformats.org/drawingml/2006/main">
              <a:ext uri="{FF2B5EF4-FFF2-40B4-BE49-F238E27FC236}">
                <a16:creationId xmlns:a16="http://schemas.microsoft.com/office/drawing/2014/main" id="{5F630E14-A7B1-4DEF-ADAE-CBE9E96959FD}"/>
              </a:ext>
            </a:extLst>
          </p:cNvPr>
          <p:cNvSpPr>
            <a:spLocks xmlns:a="http://schemas.openxmlformats.org/drawingml/2006/main" noGrp="1"/>
          </p:cNvSpPr>
          <p:nvPr/>
        </p:nvSpPr>
        <p:spPr>
          <a:xfrm xmlns:a="http://schemas.openxmlformats.org/drawingml/2006/main">
            <a:off x="6334125" y="4629150"/>
            <a:ext cx="1085850" cy="0"/>
          </a:xfrm>
          <a:prstGeom xmlns:a="http://schemas.openxmlformats.org/drawingml/2006/main" prst="line">
            <a:avLst/>
          </a:prstGeom>
          <a:noFill xmlns:a="http://schemas.openxmlformats.org/drawingml/2006/main"/>
          <a:ln xmlns:a="http://schemas.openxmlformats.org/drawingml/2006/main" w="19050">
            <a:solidFill>
              <a:srgbClr val="317B63"/>
            </a:solidFill>
            <a:prstDash val="solid"/>
          </a:ln>
        </p:spPr>
      </p:sp>
      <p:sp>
        <p:nvSpPr>
          <p:cNvPr id="62" name="">
            <a:extLst xmlns:a="http://schemas.openxmlformats.org/drawingml/2006/main">
              <a:ext uri="{FF2B5EF4-FFF2-40B4-BE49-F238E27FC236}">
                <a16:creationId xmlns:a16="http://schemas.microsoft.com/office/drawing/2014/main" id="{15D5ACAD-C9D2-487F-B6E4-E25A7955DA8F}"/>
              </a:ext>
            </a:extLst>
          </p:cNvPr>
          <p:cNvSpPr>
            <a:spLocks xmlns:a="http://schemas.openxmlformats.org/drawingml/2006/main" noGrp="1"/>
          </p:cNvSpPr>
          <p:nvPr/>
        </p:nvSpPr>
        <p:spPr>
          <a:xfrm xmlns:a="http://schemas.openxmlformats.org/drawingml/2006/main">
            <a:off x="7477125" y="44862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317B63"/>
                </a:solidFill>
                <a:latin typeface="Aptos"/>
                <a:ea typeface="Aptos"/>
                <a:cs typeface="Aptos"/>
              </a:defRPr>
            </a:defPPr>
          </a:lstStyle>
          <a:p xmlns:a="http://schemas.openxmlformats.org/drawingml/2006/main">
            <a:pPr algn="ctr">
              <a:defRPr sz="1425" b="1">
                <a:solidFill>
                  <a:srgbClr val="317B63"/>
                </a:solidFill>
                <a:latin typeface="Aptos"/>
                <a:ea typeface="Aptos"/>
                <a:cs typeface="Aptos"/>
              </a:defRPr>
            </a:pPr>
            <a:r>
              <a:rPr sz="1425" b="1">
                <a:solidFill>
                  <a:srgbClr val="317B63"/>
                </a:solidFill>
                <a:latin typeface="Aptos"/>
                <a:ea typeface="Aptos"/>
                <a:cs typeface="Aptos"/>
              </a:rPr>
              <a:t>Q2</a:t>
            </a:r>
          </a:p>
        </p:txBody>
      </p:sp>
      <p:sp>
        <p:nvSpPr>
          <p:cNvPr id="63" name="">
            <a:extLst xmlns:a="http://schemas.openxmlformats.org/drawingml/2006/main">
              <a:ext uri="{FF2B5EF4-FFF2-40B4-BE49-F238E27FC236}">
                <a16:creationId xmlns:a16="http://schemas.microsoft.com/office/drawing/2014/main" id="{BBC8650E-94DA-46CC-B230-5D2CC8635700}"/>
              </a:ext>
            </a:extLst>
          </p:cNvPr>
          <p:cNvSpPr>
            <a:spLocks xmlns:a="http://schemas.openxmlformats.org/drawingml/2006/main" noGrp="1"/>
          </p:cNvSpPr>
          <p:nvPr/>
        </p:nvSpPr>
        <p:spPr>
          <a:xfrm xmlns:a="http://schemas.openxmlformats.org/drawingml/2006/main">
            <a:off x="876300" y="49434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4777A8"/>
                </a:solidFill>
                <a:latin typeface="Aptos"/>
                <a:ea typeface="Aptos"/>
                <a:cs typeface="Aptos"/>
              </a:defRPr>
            </a:defPPr>
          </a:lstStyle>
          <a:p xmlns:a="http://schemas.openxmlformats.org/drawingml/2006/main">
            <a:pPr algn="ctr">
              <a:defRPr sz="1425" b="1">
                <a:solidFill>
                  <a:srgbClr val="4777A8"/>
                </a:solidFill>
                <a:latin typeface="Aptos"/>
                <a:ea typeface="Aptos"/>
                <a:cs typeface="Aptos"/>
              </a:defRPr>
            </a:pPr>
            <a:r>
              <a:rPr sz="1425" b="1">
                <a:solidFill>
                  <a:srgbClr val="4777A8"/>
                </a:solidFill>
                <a:latin typeface="Aptos"/>
                <a:ea typeface="Aptos"/>
                <a:cs typeface="Aptos"/>
              </a:rPr>
              <a:t>D1</a:t>
            </a:r>
          </a:p>
        </p:txBody>
      </p:sp>
      <p:sp>
        <p:nvSpPr>
          <p:cNvPr id="64" name="">
            <a:extLst xmlns:a="http://schemas.openxmlformats.org/drawingml/2006/main">
              <a:ext uri="{FF2B5EF4-FFF2-40B4-BE49-F238E27FC236}">
                <a16:creationId xmlns:a16="http://schemas.microsoft.com/office/drawing/2014/main" id="{0CE88491-2894-4C53-9282-13712561F439}"/>
              </a:ext>
            </a:extLst>
          </p:cNvPr>
          <p:cNvSpPr>
            <a:spLocks xmlns:a="http://schemas.openxmlformats.org/drawingml/2006/main" noGrp="1"/>
          </p:cNvSpPr>
          <p:nvPr/>
        </p:nvSpPr>
        <p:spPr>
          <a:xfrm xmlns:a="http://schemas.openxmlformats.org/drawingml/2006/main">
            <a:off x="1619250" y="5086350"/>
            <a:ext cx="1123950" cy="0"/>
          </a:xfrm>
          <a:prstGeom xmlns:a="http://schemas.openxmlformats.org/drawingml/2006/main" prst="line">
            <a:avLst/>
          </a:prstGeom>
          <a:noFill xmlns:a="http://schemas.openxmlformats.org/drawingml/2006/main"/>
          <a:ln xmlns:a="http://schemas.openxmlformats.org/drawingml/2006/main" w="19050">
            <a:solidFill>
              <a:srgbClr val="4777A8"/>
            </a:solidFill>
            <a:prstDash val="solid"/>
          </a:ln>
        </p:spPr>
      </p:sp>
      <p:sp>
        <p:nvSpPr>
          <p:cNvPr id="65" name="mux-1">
            <a:extLst xmlns:a="http://schemas.openxmlformats.org/drawingml/2006/main">
              <a:ext uri="{FF2B5EF4-FFF2-40B4-BE49-F238E27FC236}">
                <a16:creationId xmlns:a16="http://schemas.microsoft.com/office/drawing/2014/main" id="{3BD4F08A-C270-4E9D-91AB-38929FD97B06}"/>
              </a:ext>
            </a:extLst>
          </p:cNvPr>
          <p:cNvSpPr>
            <a:spLocks xmlns:a="http://schemas.openxmlformats.org/drawingml/2006/main" noGrp="1"/>
          </p:cNvSpPr>
          <p:nvPr/>
        </p:nvSpPr>
        <p:spPr>
          <a:xfrm xmlns:a="http://schemas.openxmlformats.org/drawingml/2006/main">
            <a:off x="2743200" y="4895850"/>
            <a:ext cx="1190625" cy="381000"/>
          </a:xfrm>
          <a:prstGeom xmlns:a="http://schemas.openxmlformats.org/drawingml/2006/main" prst="roundRect">
            <a:avLst>
              <a:gd name="adj" fmla="val 20000"/>
            </a:avLst>
          </a:prstGeom>
          <a:solidFill xmlns:a="http://schemas.openxmlformats.org/drawingml/2006/main">
            <a:srgbClr val="DDF4F0"/>
          </a:solidFill>
          <a:ln xmlns:a="http://schemas.openxmlformats.org/drawingml/2006/main" w="14288">
            <a:solidFill>
              <a:srgbClr val="1C9A92"/>
            </a:solidFill>
            <a:prstDash val="solid"/>
          </a:ln>
        </p:spPr>
      </p:sp>
      <p:sp>
        <p:nvSpPr>
          <p:cNvPr id="66" name="">
            <a:extLst xmlns:a="http://schemas.openxmlformats.org/drawingml/2006/main">
              <a:ext uri="{FF2B5EF4-FFF2-40B4-BE49-F238E27FC236}">
                <a16:creationId xmlns:a16="http://schemas.microsoft.com/office/drawing/2014/main" id="{4DE08C85-2706-4893-8C6E-765B422765C5}"/>
              </a:ext>
            </a:extLst>
          </p:cNvPr>
          <p:cNvSpPr>
            <a:spLocks xmlns:a="http://schemas.openxmlformats.org/drawingml/2006/main" noGrp="1"/>
          </p:cNvSpPr>
          <p:nvPr/>
        </p:nvSpPr>
        <p:spPr>
          <a:xfrm xmlns:a="http://schemas.openxmlformats.org/drawingml/2006/main">
            <a:off x="2790825" y="49339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MUX 1</a:t>
            </a:r>
          </a:p>
        </p:txBody>
      </p:sp>
      <p:sp>
        <p:nvSpPr>
          <p:cNvPr id="67" name="">
            <a:extLst xmlns:a="http://schemas.openxmlformats.org/drawingml/2006/main">
              <a:ext uri="{FF2B5EF4-FFF2-40B4-BE49-F238E27FC236}">
                <a16:creationId xmlns:a16="http://schemas.microsoft.com/office/drawing/2014/main" id="{21612217-53AD-4A18-B421-EB576805FC3F}"/>
              </a:ext>
            </a:extLst>
          </p:cNvPr>
          <p:cNvSpPr>
            <a:spLocks xmlns:a="http://schemas.openxmlformats.org/drawingml/2006/main" noGrp="1"/>
          </p:cNvSpPr>
          <p:nvPr/>
        </p:nvSpPr>
        <p:spPr>
          <a:xfrm xmlns:a="http://schemas.openxmlformats.org/drawingml/2006/main">
            <a:off x="3933825" y="5086350"/>
            <a:ext cx="923925" cy="0"/>
          </a:xfrm>
          <a:prstGeom xmlns:a="http://schemas.openxmlformats.org/drawingml/2006/main" prst="line">
            <a:avLst/>
          </a:prstGeom>
          <a:noFill xmlns:a="http://schemas.openxmlformats.org/drawingml/2006/main"/>
          <a:ln xmlns:a="http://schemas.openxmlformats.org/drawingml/2006/main" w="19050">
            <a:solidFill>
              <a:srgbClr val="1C9A92"/>
            </a:solidFill>
            <a:prstDash val="solid"/>
          </a:ln>
        </p:spPr>
      </p:sp>
      <p:sp>
        <p:nvSpPr>
          <p:cNvPr id="68" name="dff-1">
            <a:extLst xmlns:a="http://schemas.openxmlformats.org/drawingml/2006/main">
              <a:ext uri="{FF2B5EF4-FFF2-40B4-BE49-F238E27FC236}">
                <a16:creationId xmlns:a16="http://schemas.microsoft.com/office/drawing/2014/main" id="{65B7652F-FFBB-47B8-A520-803D111561FE}"/>
              </a:ext>
            </a:extLst>
          </p:cNvPr>
          <p:cNvSpPr>
            <a:spLocks xmlns:a="http://schemas.openxmlformats.org/drawingml/2006/main" noGrp="1"/>
          </p:cNvSpPr>
          <p:nvPr/>
        </p:nvSpPr>
        <p:spPr>
          <a:xfrm xmlns:a="http://schemas.openxmlformats.org/drawingml/2006/main">
            <a:off x="4857750" y="4895850"/>
            <a:ext cx="1476375"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10243A"/>
            </a:solidFill>
            <a:prstDash val="solid"/>
          </a:ln>
        </p:spPr>
      </p:sp>
      <p:sp>
        <p:nvSpPr>
          <p:cNvPr id="69" name="">
            <a:extLst xmlns:a="http://schemas.openxmlformats.org/drawingml/2006/main">
              <a:ext uri="{FF2B5EF4-FFF2-40B4-BE49-F238E27FC236}">
                <a16:creationId xmlns:a16="http://schemas.microsoft.com/office/drawing/2014/main" id="{7538A467-5395-4F9C-A07C-C61101EF7FE1}"/>
              </a:ext>
            </a:extLst>
          </p:cNvPr>
          <p:cNvSpPr>
            <a:spLocks xmlns:a="http://schemas.openxmlformats.org/drawingml/2006/main" noGrp="1"/>
          </p:cNvSpPr>
          <p:nvPr/>
        </p:nvSpPr>
        <p:spPr>
          <a:xfrm xmlns:a="http://schemas.openxmlformats.org/drawingml/2006/main">
            <a:off x="4905375" y="49339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DFF 1</a:t>
            </a:r>
          </a:p>
        </p:txBody>
      </p:sp>
      <p:sp>
        <p:nvSpPr>
          <p:cNvPr id="70" name="">
            <a:extLst xmlns:a="http://schemas.openxmlformats.org/drawingml/2006/main">
              <a:ext uri="{FF2B5EF4-FFF2-40B4-BE49-F238E27FC236}">
                <a16:creationId xmlns:a16="http://schemas.microsoft.com/office/drawing/2014/main" id="{BB589129-5BE4-4092-8DD8-9B075E8C748F}"/>
              </a:ext>
            </a:extLst>
          </p:cNvPr>
          <p:cNvSpPr>
            <a:spLocks xmlns:a="http://schemas.openxmlformats.org/drawingml/2006/main" noGrp="1"/>
          </p:cNvSpPr>
          <p:nvPr/>
        </p:nvSpPr>
        <p:spPr>
          <a:xfrm xmlns:a="http://schemas.openxmlformats.org/drawingml/2006/main">
            <a:off x="6334125" y="5086350"/>
            <a:ext cx="1085850" cy="0"/>
          </a:xfrm>
          <a:prstGeom xmlns:a="http://schemas.openxmlformats.org/drawingml/2006/main" prst="line">
            <a:avLst/>
          </a:prstGeom>
          <a:noFill xmlns:a="http://schemas.openxmlformats.org/drawingml/2006/main"/>
          <a:ln xmlns:a="http://schemas.openxmlformats.org/drawingml/2006/main" w="19050">
            <a:solidFill>
              <a:srgbClr val="317B63"/>
            </a:solidFill>
            <a:prstDash val="solid"/>
          </a:ln>
        </p:spPr>
      </p:sp>
      <p:sp>
        <p:nvSpPr>
          <p:cNvPr id="71" name="">
            <a:extLst xmlns:a="http://schemas.openxmlformats.org/drawingml/2006/main">
              <a:ext uri="{FF2B5EF4-FFF2-40B4-BE49-F238E27FC236}">
                <a16:creationId xmlns:a16="http://schemas.microsoft.com/office/drawing/2014/main" id="{F3AA2F87-A8CD-4D1F-9EAE-C38FD02BB043}"/>
              </a:ext>
            </a:extLst>
          </p:cNvPr>
          <p:cNvSpPr>
            <a:spLocks xmlns:a="http://schemas.openxmlformats.org/drawingml/2006/main" noGrp="1"/>
          </p:cNvSpPr>
          <p:nvPr/>
        </p:nvSpPr>
        <p:spPr>
          <a:xfrm xmlns:a="http://schemas.openxmlformats.org/drawingml/2006/main">
            <a:off x="7477125" y="49434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317B63"/>
                </a:solidFill>
                <a:latin typeface="Aptos"/>
                <a:ea typeface="Aptos"/>
                <a:cs typeface="Aptos"/>
              </a:defRPr>
            </a:defPPr>
          </a:lstStyle>
          <a:p xmlns:a="http://schemas.openxmlformats.org/drawingml/2006/main">
            <a:pPr algn="ctr">
              <a:defRPr sz="1425" b="1">
                <a:solidFill>
                  <a:srgbClr val="317B63"/>
                </a:solidFill>
                <a:latin typeface="Aptos"/>
                <a:ea typeface="Aptos"/>
                <a:cs typeface="Aptos"/>
              </a:defRPr>
            </a:pPr>
            <a:r>
              <a:rPr sz="1425" b="1">
                <a:solidFill>
                  <a:srgbClr val="317B63"/>
                </a:solidFill>
                <a:latin typeface="Aptos"/>
                <a:ea typeface="Aptos"/>
                <a:cs typeface="Aptos"/>
              </a:rPr>
              <a:t>Q1</a:t>
            </a:r>
          </a:p>
        </p:txBody>
      </p:sp>
      <p:sp>
        <p:nvSpPr>
          <p:cNvPr id="72" name="">
            <a:extLst xmlns:a="http://schemas.openxmlformats.org/drawingml/2006/main">
              <a:ext uri="{FF2B5EF4-FFF2-40B4-BE49-F238E27FC236}">
                <a16:creationId xmlns:a16="http://schemas.microsoft.com/office/drawing/2014/main" id="{811F2D40-1D15-4FBD-A732-51FB709C9746}"/>
              </a:ext>
            </a:extLst>
          </p:cNvPr>
          <p:cNvSpPr>
            <a:spLocks xmlns:a="http://schemas.openxmlformats.org/drawingml/2006/main" noGrp="1"/>
          </p:cNvSpPr>
          <p:nvPr/>
        </p:nvSpPr>
        <p:spPr>
          <a:xfrm xmlns:a="http://schemas.openxmlformats.org/drawingml/2006/main">
            <a:off x="876300" y="54006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4777A8"/>
                </a:solidFill>
                <a:latin typeface="Aptos"/>
                <a:ea typeface="Aptos"/>
                <a:cs typeface="Aptos"/>
              </a:defRPr>
            </a:defPPr>
          </a:lstStyle>
          <a:p xmlns:a="http://schemas.openxmlformats.org/drawingml/2006/main">
            <a:pPr algn="ctr">
              <a:defRPr sz="1425" b="1">
                <a:solidFill>
                  <a:srgbClr val="4777A8"/>
                </a:solidFill>
                <a:latin typeface="Aptos"/>
                <a:ea typeface="Aptos"/>
                <a:cs typeface="Aptos"/>
              </a:defRPr>
            </a:pPr>
            <a:r>
              <a:rPr sz="1425" b="1">
                <a:solidFill>
                  <a:srgbClr val="4777A8"/>
                </a:solidFill>
                <a:latin typeface="Aptos"/>
                <a:ea typeface="Aptos"/>
                <a:cs typeface="Aptos"/>
              </a:rPr>
              <a:t>D0</a:t>
            </a:r>
          </a:p>
        </p:txBody>
      </p:sp>
      <p:sp>
        <p:nvSpPr>
          <p:cNvPr id="73" name="">
            <a:extLst xmlns:a="http://schemas.openxmlformats.org/drawingml/2006/main">
              <a:ext uri="{FF2B5EF4-FFF2-40B4-BE49-F238E27FC236}">
                <a16:creationId xmlns:a16="http://schemas.microsoft.com/office/drawing/2014/main" id="{D761C34D-47A6-4370-AB25-AEC41E53B3AF}"/>
              </a:ext>
            </a:extLst>
          </p:cNvPr>
          <p:cNvSpPr>
            <a:spLocks xmlns:a="http://schemas.openxmlformats.org/drawingml/2006/main" noGrp="1"/>
          </p:cNvSpPr>
          <p:nvPr/>
        </p:nvSpPr>
        <p:spPr>
          <a:xfrm xmlns:a="http://schemas.openxmlformats.org/drawingml/2006/main">
            <a:off x="1619250" y="5543550"/>
            <a:ext cx="1123950" cy="0"/>
          </a:xfrm>
          <a:prstGeom xmlns:a="http://schemas.openxmlformats.org/drawingml/2006/main" prst="line">
            <a:avLst/>
          </a:prstGeom>
          <a:noFill xmlns:a="http://schemas.openxmlformats.org/drawingml/2006/main"/>
          <a:ln xmlns:a="http://schemas.openxmlformats.org/drawingml/2006/main" w="19050">
            <a:solidFill>
              <a:srgbClr val="4777A8"/>
            </a:solidFill>
            <a:prstDash val="solid"/>
          </a:ln>
        </p:spPr>
      </p:sp>
      <p:sp>
        <p:nvSpPr>
          <p:cNvPr id="74" name="mux-0">
            <a:extLst xmlns:a="http://schemas.openxmlformats.org/drawingml/2006/main">
              <a:ext uri="{FF2B5EF4-FFF2-40B4-BE49-F238E27FC236}">
                <a16:creationId xmlns:a16="http://schemas.microsoft.com/office/drawing/2014/main" id="{307D4EAC-E410-4217-87D4-951CD082122B}"/>
              </a:ext>
            </a:extLst>
          </p:cNvPr>
          <p:cNvSpPr>
            <a:spLocks xmlns:a="http://schemas.openxmlformats.org/drawingml/2006/main" noGrp="1"/>
          </p:cNvSpPr>
          <p:nvPr/>
        </p:nvSpPr>
        <p:spPr>
          <a:xfrm xmlns:a="http://schemas.openxmlformats.org/drawingml/2006/main">
            <a:off x="2743200" y="5353050"/>
            <a:ext cx="1190625" cy="381000"/>
          </a:xfrm>
          <a:prstGeom xmlns:a="http://schemas.openxmlformats.org/drawingml/2006/main" prst="roundRect">
            <a:avLst>
              <a:gd name="adj" fmla="val 20000"/>
            </a:avLst>
          </a:prstGeom>
          <a:solidFill xmlns:a="http://schemas.openxmlformats.org/drawingml/2006/main">
            <a:srgbClr val="DDF4F0"/>
          </a:solidFill>
          <a:ln xmlns:a="http://schemas.openxmlformats.org/drawingml/2006/main" w="14288">
            <a:solidFill>
              <a:srgbClr val="1C9A92"/>
            </a:solidFill>
            <a:prstDash val="solid"/>
          </a:ln>
        </p:spPr>
      </p:sp>
      <p:sp>
        <p:nvSpPr>
          <p:cNvPr id="75" name="">
            <a:extLst xmlns:a="http://schemas.openxmlformats.org/drawingml/2006/main">
              <a:ext uri="{FF2B5EF4-FFF2-40B4-BE49-F238E27FC236}">
                <a16:creationId xmlns:a16="http://schemas.microsoft.com/office/drawing/2014/main" id="{F89DA396-D972-48A2-935F-C302357B5AB9}"/>
              </a:ext>
            </a:extLst>
          </p:cNvPr>
          <p:cNvSpPr>
            <a:spLocks xmlns:a="http://schemas.openxmlformats.org/drawingml/2006/main" noGrp="1"/>
          </p:cNvSpPr>
          <p:nvPr/>
        </p:nvSpPr>
        <p:spPr>
          <a:xfrm xmlns:a="http://schemas.openxmlformats.org/drawingml/2006/main">
            <a:off x="2790825" y="53911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MUX 0</a:t>
            </a:r>
          </a:p>
        </p:txBody>
      </p:sp>
      <p:sp>
        <p:nvSpPr>
          <p:cNvPr id="76" name="">
            <a:extLst xmlns:a="http://schemas.openxmlformats.org/drawingml/2006/main">
              <a:ext uri="{FF2B5EF4-FFF2-40B4-BE49-F238E27FC236}">
                <a16:creationId xmlns:a16="http://schemas.microsoft.com/office/drawing/2014/main" id="{22E64F66-51E1-4441-885B-78D32286FAFF}"/>
              </a:ext>
            </a:extLst>
          </p:cNvPr>
          <p:cNvSpPr>
            <a:spLocks xmlns:a="http://schemas.openxmlformats.org/drawingml/2006/main" noGrp="1"/>
          </p:cNvSpPr>
          <p:nvPr/>
        </p:nvSpPr>
        <p:spPr>
          <a:xfrm xmlns:a="http://schemas.openxmlformats.org/drawingml/2006/main">
            <a:off x="3933825" y="5543550"/>
            <a:ext cx="923925" cy="0"/>
          </a:xfrm>
          <a:prstGeom xmlns:a="http://schemas.openxmlformats.org/drawingml/2006/main" prst="line">
            <a:avLst/>
          </a:prstGeom>
          <a:noFill xmlns:a="http://schemas.openxmlformats.org/drawingml/2006/main"/>
          <a:ln xmlns:a="http://schemas.openxmlformats.org/drawingml/2006/main" w="19050">
            <a:solidFill>
              <a:srgbClr val="1C9A92"/>
            </a:solidFill>
            <a:prstDash val="solid"/>
          </a:ln>
        </p:spPr>
      </p:sp>
      <p:sp>
        <p:nvSpPr>
          <p:cNvPr id="77" name="dff-0">
            <a:extLst xmlns:a="http://schemas.openxmlformats.org/drawingml/2006/main">
              <a:ext uri="{FF2B5EF4-FFF2-40B4-BE49-F238E27FC236}">
                <a16:creationId xmlns:a16="http://schemas.microsoft.com/office/drawing/2014/main" id="{B418AF7C-5370-426B-9EF1-0658F72AD64A}"/>
              </a:ext>
            </a:extLst>
          </p:cNvPr>
          <p:cNvSpPr>
            <a:spLocks xmlns:a="http://schemas.openxmlformats.org/drawingml/2006/main" noGrp="1"/>
          </p:cNvSpPr>
          <p:nvPr/>
        </p:nvSpPr>
        <p:spPr>
          <a:xfrm xmlns:a="http://schemas.openxmlformats.org/drawingml/2006/main">
            <a:off x="4857750" y="5353050"/>
            <a:ext cx="1476375"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10243A"/>
            </a:solidFill>
            <a:prstDash val="solid"/>
          </a:ln>
        </p:spPr>
      </p:sp>
      <p:sp>
        <p:nvSpPr>
          <p:cNvPr id="78" name="">
            <a:extLst xmlns:a="http://schemas.openxmlformats.org/drawingml/2006/main">
              <a:ext uri="{FF2B5EF4-FFF2-40B4-BE49-F238E27FC236}">
                <a16:creationId xmlns:a16="http://schemas.microsoft.com/office/drawing/2014/main" id="{3A58168F-2D84-44F8-841C-98E7C86B9E71}"/>
              </a:ext>
            </a:extLst>
          </p:cNvPr>
          <p:cNvSpPr>
            <a:spLocks xmlns:a="http://schemas.openxmlformats.org/drawingml/2006/main" noGrp="1"/>
          </p:cNvSpPr>
          <p:nvPr/>
        </p:nvSpPr>
        <p:spPr>
          <a:xfrm xmlns:a="http://schemas.openxmlformats.org/drawingml/2006/main">
            <a:off x="4905375" y="53911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DFF 0</a:t>
            </a:r>
          </a:p>
        </p:txBody>
      </p:sp>
      <p:sp>
        <p:nvSpPr>
          <p:cNvPr id="79" name="">
            <a:extLst xmlns:a="http://schemas.openxmlformats.org/drawingml/2006/main">
              <a:ext uri="{FF2B5EF4-FFF2-40B4-BE49-F238E27FC236}">
                <a16:creationId xmlns:a16="http://schemas.microsoft.com/office/drawing/2014/main" id="{6E9A68BE-CE7C-43D8-842E-71B0EBED3D9F}"/>
              </a:ext>
            </a:extLst>
          </p:cNvPr>
          <p:cNvSpPr>
            <a:spLocks xmlns:a="http://schemas.openxmlformats.org/drawingml/2006/main" noGrp="1"/>
          </p:cNvSpPr>
          <p:nvPr/>
        </p:nvSpPr>
        <p:spPr>
          <a:xfrm xmlns:a="http://schemas.openxmlformats.org/drawingml/2006/main">
            <a:off x="6334125" y="5543550"/>
            <a:ext cx="1085850" cy="0"/>
          </a:xfrm>
          <a:prstGeom xmlns:a="http://schemas.openxmlformats.org/drawingml/2006/main" prst="line">
            <a:avLst/>
          </a:prstGeom>
          <a:noFill xmlns:a="http://schemas.openxmlformats.org/drawingml/2006/main"/>
          <a:ln xmlns:a="http://schemas.openxmlformats.org/drawingml/2006/main" w="19050">
            <a:solidFill>
              <a:srgbClr val="317B63"/>
            </a:solidFill>
            <a:prstDash val="solid"/>
          </a:ln>
        </p:spPr>
      </p:sp>
      <p:sp>
        <p:nvSpPr>
          <p:cNvPr id="80" name="">
            <a:extLst xmlns:a="http://schemas.openxmlformats.org/drawingml/2006/main">
              <a:ext uri="{FF2B5EF4-FFF2-40B4-BE49-F238E27FC236}">
                <a16:creationId xmlns:a16="http://schemas.microsoft.com/office/drawing/2014/main" id="{63C51193-31F6-4D43-B8A5-00CED7F7C2ED}"/>
              </a:ext>
            </a:extLst>
          </p:cNvPr>
          <p:cNvSpPr>
            <a:spLocks xmlns:a="http://schemas.openxmlformats.org/drawingml/2006/main" noGrp="1"/>
          </p:cNvSpPr>
          <p:nvPr/>
        </p:nvSpPr>
        <p:spPr>
          <a:xfrm xmlns:a="http://schemas.openxmlformats.org/drawingml/2006/main">
            <a:off x="7477125" y="5400675"/>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317B63"/>
                </a:solidFill>
                <a:latin typeface="Aptos"/>
                <a:ea typeface="Aptos"/>
                <a:cs typeface="Aptos"/>
              </a:defRPr>
            </a:defPPr>
          </a:lstStyle>
          <a:p xmlns:a="http://schemas.openxmlformats.org/drawingml/2006/main">
            <a:pPr algn="ctr">
              <a:defRPr sz="1425" b="1">
                <a:solidFill>
                  <a:srgbClr val="317B63"/>
                </a:solidFill>
                <a:latin typeface="Aptos"/>
                <a:ea typeface="Aptos"/>
                <a:cs typeface="Aptos"/>
              </a:defRPr>
            </a:pPr>
            <a:r>
              <a:rPr sz="1425" b="1">
                <a:solidFill>
                  <a:srgbClr val="317B63"/>
                </a:solidFill>
                <a:latin typeface="Aptos"/>
                <a:ea typeface="Aptos"/>
                <a:cs typeface="Aptos"/>
              </a:rPr>
              <a:t>Q0</a:t>
            </a:r>
          </a:p>
        </p:txBody>
      </p:sp>
      <p:sp>
        <p:nvSpPr>
          <p:cNvPr id="81" name="">
            <a:extLst xmlns:a="http://schemas.openxmlformats.org/drawingml/2006/main">
              <a:ext uri="{FF2B5EF4-FFF2-40B4-BE49-F238E27FC236}">
                <a16:creationId xmlns:a16="http://schemas.microsoft.com/office/drawing/2014/main" id="{15B734B3-416E-425B-A873-4F04290984BF}"/>
              </a:ext>
            </a:extLst>
          </p:cNvPr>
          <p:cNvSpPr>
            <a:spLocks xmlns:a="http://schemas.openxmlformats.org/drawingml/2006/main" noGrp="1"/>
          </p:cNvSpPr>
          <p:nvPr/>
        </p:nvSpPr>
        <p:spPr>
          <a:xfrm xmlns:a="http://schemas.openxmlformats.org/drawingml/2006/main">
            <a:off x="8229600" y="25527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E88B3A"/>
                </a:solidFill>
                <a:latin typeface="Aptos"/>
                <a:ea typeface="Aptos"/>
                <a:cs typeface="Aptos"/>
              </a:defRPr>
            </a:defPPr>
          </a:lstStyle>
          <a:p xmlns:a="http://schemas.openxmlformats.org/drawingml/2006/main">
            <a:pPr algn="l">
              <a:defRPr sz="1425" b="1">
                <a:solidFill>
                  <a:srgbClr val="E88B3A"/>
                </a:solidFill>
                <a:latin typeface="Aptos"/>
                <a:ea typeface="Aptos"/>
                <a:cs typeface="Aptos"/>
              </a:defRPr>
            </a:pPr>
            <a:r>
              <a:rPr sz="1425" b="1">
                <a:solidFill>
                  <a:srgbClr val="E88B3A"/>
                </a:solidFill>
                <a:latin typeface="Aptos"/>
                <a:ea typeface="Aptos"/>
                <a:cs typeface="Aptos"/>
              </a:rPr>
              <a:t>Shared controls</a:t>
            </a:r>
          </a:p>
        </p:txBody>
      </p:sp>
      <p:sp>
        <p:nvSpPr>
          <p:cNvPr id="82" name="">
            <a:extLst xmlns:a="http://schemas.openxmlformats.org/drawingml/2006/main">
              <a:ext uri="{FF2B5EF4-FFF2-40B4-BE49-F238E27FC236}">
                <a16:creationId xmlns:a16="http://schemas.microsoft.com/office/drawing/2014/main" id="{23DD2D05-4B86-4EFF-AF29-04FC393C4B72}"/>
              </a:ext>
            </a:extLst>
          </p:cNvPr>
          <p:cNvSpPr>
            <a:spLocks xmlns:a="http://schemas.openxmlformats.org/drawingml/2006/main" noGrp="1"/>
          </p:cNvSpPr>
          <p:nvPr/>
        </p:nvSpPr>
        <p:spPr>
          <a:xfrm xmlns:a="http://schemas.openxmlformats.org/drawingml/2006/main">
            <a:off x="8229600" y="2943225"/>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26779"/>
                </a:solidFill>
                <a:latin typeface="Aptos"/>
                <a:ea typeface="Aptos"/>
                <a:cs typeface="Aptos"/>
              </a:defRPr>
            </a:defPPr>
          </a:lstStyle>
          <a:p xmlns:a="http://schemas.openxmlformats.org/drawingml/2006/main">
            <a:pPr algn="l">
              <a:defRPr sz="1425" b="0">
                <a:solidFill>
                  <a:srgbClr val="526779"/>
                </a:solidFill>
                <a:latin typeface="Aptos"/>
                <a:ea typeface="Aptos"/>
                <a:cs typeface="Aptos"/>
              </a:defRPr>
            </a:pPr>
            <a:r>
              <a:rPr sz="1425" b="0">
                <a:solidFill>
                  <a:srgbClr val="526779"/>
                </a:solidFill>
                <a:latin typeface="Aptos"/>
                <a:ea typeface="Aptos"/>
                <a:cs typeface="Aptos"/>
              </a:rPr>
              <a:t>EN drives all MUX select pins.</a:t>
            </a:r>
          </a:p>
        </p:txBody>
      </p:sp>
      <p:sp>
        <p:nvSpPr>
          <p:cNvPr id="83" name="">
            <a:extLst xmlns:a="http://schemas.openxmlformats.org/drawingml/2006/main">
              <a:ext uri="{FF2B5EF4-FFF2-40B4-BE49-F238E27FC236}">
                <a16:creationId xmlns:a16="http://schemas.microsoft.com/office/drawing/2014/main" id="{8D342A65-A605-4C7A-ADAC-4E43690C7C56}"/>
              </a:ext>
            </a:extLst>
          </p:cNvPr>
          <p:cNvSpPr>
            <a:spLocks xmlns:a="http://schemas.openxmlformats.org/drawingml/2006/main" noGrp="1"/>
          </p:cNvSpPr>
          <p:nvPr/>
        </p:nvSpPr>
        <p:spPr>
          <a:xfrm xmlns:a="http://schemas.openxmlformats.org/drawingml/2006/main">
            <a:off x="8229600" y="34861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26779"/>
                </a:solidFill>
                <a:latin typeface="Aptos"/>
                <a:ea typeface="Aptos"/>
                <a:cs typeface="Aptos"/>
              </a:defRPr>
            </a:defPPr>
          </a:lstStyle>
          <a:p xmlns:a="http://schemas.openxmlformats.org/drawingml/2006/main">
            <a:pPr algn="l">
              <a:defRPr sz="1425" b="0">
                <a:solidFill>
                  <a:srgbClr val="526779"/>
                </a:solidFill>
                <a:latin typeface="Aptos"/>
                <a:ea typeface="Aptos"/>
                <a:cs typeface="Aptos"/>
              </a:defRPr>
            </a:pPr>
            <a:r>
              <a:rPr sz="1425" b="0">
                <a:solidFill>
                  <a:srgbClr val="526779"/>
                </a:solidFill>
                <a:latin typeface="Aptos"/>
                <a:ea typeface="Aptos"/>
                <a:cs typeface="Aptos"/>
              </a:rPr>
              <a:t>CLK drives all flip-flops.</a:t>
            </a:r>
          </a:p>
        </p:txBody>
      </p:sp>
      <p:sp>
        <p:nvSpPr>
          <p:cNvPr id="84" name="">
            <a:extLst xmlns:a="http://schemas.openxmlformats.org/drawingml/2006/main">
              <a:ext uri="{FF2B5EF4-FFF2-40B4-BE49-F238E27FC236}">
                <a16:creationId xmlns:a16="http://schemas.microsoft.com/office/drawing/2014/main" id="{DC2C6AA1-9B39-4EB0-935C-2A8F87A413F2}"/>
              </a:ext>
            </a:extLst>
          </p:cNvPr>
          <p:cNvSpPr>
            <a:spLocks xmlns:a="http://schemas.openxmlformats.org/drawingml/2006/main" noGrp="1"/>
          </p:cNvSpPr>
          <p:nvPr/>
        </p:nvSpPr>
        <p:spPr>
          <a:xfrm xmlns:a="http://schemas.openxmlformats.org/drawingml/2006/main">
            <a:off x="8229600" y="4029075"/>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317B63"/>
                </a:solidFill>
                <a:latin typeface="Aptos"/>
                <a:ea typeface="Aptos"/>
                <a:cs typeface="Aptos"/>
              </a:defRPr>
            </a:defPPr>
          </a:lstStyle>
          <a:p xmlns:a="http://schemas.openxmlformats.org/drawingml/2006/main">
            <a:pPr algn="l">
              <a:defRPr sz="1425" b="1">
                <a:solidFill>
                  <a:srgbClr val="317B63"/>
                </a:solidFill>
                <a:latin typeface="Aptos"/>
                <a:ea typeface="Aptos"/>
                <a:cs typeface="Aptos"/>
              </a:defRPr>
            </a:pPr>
            <a:r>
              <a:rPr sz="1425" b="1">
                <a:solidFill>
                  <a:srgbClr val="317B63"/>
                </a:solidFill>
                <a:latin typeface="Aptos"/>
                <a:ea typeface="Aptos"/>
                <a:cs typeface="Aptos"/>
              </a:rPr>
              <a:t>Each Qᵢ feeds back to its own MUX.</a:t>
            </a:r>
          </a:p>
        </p:txBody>
      </p:sp>
      <p:sp>
        <p:nvSpPr>
          <p:cNvPr id="85" name="">
            <a:extLst xmlns:a="http://schemas.openxmlformats.org/drawingml/2006/main">
              <a:ext uri="{FF2B5EF4-FFF2-40B4-BE49-F238E27FC236}">
                <a16:creationId xmlns:a16="http://schemas.microsoft.com/office/drawing/2014/main" id="{25AE2706-F8D3-4FA9-9803-91405991D225}"/>
              </a:ext>
            </a:extLst>
          </p:cNvPr>
          <p:cNvSpPr>
            <a:spLocks xmlns:a="http://schemas.openxmlformats.org/drawingml/2006/main" noGrp="1"/>
          </p:cNvSpPr>
          <p:nvPr/>
        </p:nvSpPr>
        <p:spPr>
          <a:xfrm xmlns:a="http://schemas.openxmlformats.org/drawingml/2006/main">
            <a:off x="8239125" y="4914900"/>
            <a:ext cx="2571750" cy="428625"/>
          </a:xfrm>
          <a:prstGeom xmlns:a="http://schemas.openxmlformats.org/drawingml/2006/main" prst="roundRect">
            <a:avLst>
              <a:gd name="adj" fmla="val 26667"/>
            </a:avLst>
          </a:prstGeom>
          <a:solidFill xmlns:a="http://schemas.openxmlformats.org/drawingml/2006/main">
            <a:srgbClr val="EAF0F3"/>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54B8569F-5BF9-4155-902F-D8489082DBD9}"/>
              </a:ext>
            </a:extLst>
          </p:cNvPr>
          <p:cNvSpPr>
            <a:spLocks xmlns:a="http://schemas.openxmlformats.org/drawingml/2006/main" noGrp="1"/>
          </p:cNvSpPr>
          <p:nvPr/>
        </p:nvSpPr>
        <p:spPr>
          <a:xfrm xmlns:a="http://schemas.openxmlformats.org/drawingml/2006/main">
            <a:off x="8315325" y="4933950"/>
            <a:ext cx="2419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0243A"/>
                </a:solidFill>
                <a:latin typeface="Aptos"/>
                <a:ea typeface="Aptos"/>
                <a:cs typeface="Aptos"/>
              </a:defRPr>
            </a:defPPr>
          </a:lstStyle>
          <a:p xmlns:a="http://schemas.openxmlformats.org/drawingml/2006/main">
            <a:pPr algn="ctr">
              <a:defRPr sz="1350" b="1">
                <a:solidFill>
                  <a:srgbClr val="10243A"/>
                </a:solidFill>
                <a:latin typeface="Aptos"/>
                <a:ea typeface="Aptos"/>
                <a:cs typeface="Aptos"/>
              </a:defRPr>
            </a:pPr>
            <a:r>
              <a:rPr sz="1350" b="1">
                <a:solidFill>
                  <a:srgbClr val="10243A"/>
                </a:solidFill>
                <a:latin typeface="Aptos"/>
                <a:ea typeface="Aptos"/>
                <a:cs typeface="Aptos"/>
              </a:rPr>
              <a:t>8 MUXes + 8 D flip-flops</a:t>
            </a:r>
          </a:p>
        </p:txBody>
      </p:sp>
    </p:spTree>
    <p:extLst>
      <p:ext uri="{BB962C8B-B14F-4D97-AF65-F5344CB8AC3E}">
        <p14:creationId xmlns:p14="http://schemas.microsoft.com/office/powerpoint/2010/main" val="1771757771"/>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CF1F5CF4-D0EA-4DC4-8D7E-FEEB23E0CF23}"/>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0243A"/>
                </a:solidFill>
                <a:latin typeface="Aptos"/>
                <a:ea typeface="Aptos"/>
                <a:cs typeface="Aptos"/>
              </a:defRPr>
            </a:defPPr>
          </a:lstStyle>
          <a:p xmlns:a="http://schemas.openxmlformats.org/drawingml/2006/main">
            <a:pPr algn="l">
              <a:defRPr sz="3150" b="1">
                <a:solidFill>
                  <a:srgbClr val="10243A"/>
                </a:solidFill>
                <a:latin typeface="Aptos"/>
                <a:ea typeface="Aptos"/>
                <a:cs typeface="Aptos"/>
              </a:defRPr>
            </a:pPr>
            <a:r>
              <a:rPr sz="3150" b="1">
                <a:solidFill>
                  <a:srgbClr val="10243A"/>
                </a:solidFill>
                <a:latin typeface="Aptos"/>
                <a:ea typeface="Aptos"/>
                <a:cs typeface="Aptos"/>
              </a:rPr>
              <a:t>The load-enable rule</a:t>
            </a:r>
          </a:p>
        </p:txBody>
      </p:sp>
      <p:sp>
        <p:nvSpPr>
          <p:cNvPr id="2" name="">
            <a:extLst xmlns:a="http://schemas.openxmlformats.org/drawingml/2006/main">
              <a:ext uri="{FF2B5EF4-FFF2-40B4-BE49-F238E27FC236}">
                <a16:creationId xmlns:a16="http://schemas.microsoft.com/office/drawing/2014/main" id="{F0A9D278-F779-4C60-AE59-8A1645B59C58}"/>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53ADDAD7-AAB6-40E5-836F-1301CAEE6B78}"/>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718391"/>
                </a:solidFill>
                <a:latin typeface="Aptos"/>
                <a:ea typeface="Aptos"/>
                <a:cs typeface="Aptos"/>
              </a:defRPr>
            </a:defPPr>
          </a:lstStyle>
          <a:p xmlns:a="http://schemas.openxmlformats.org/drawingml/2006/main">
            <a:pPr algn="r">
              <a:defRPr sz="1125" b="1">
                <a:solidFill>
                  <a:srgbClr val="718391"/>
                </a:solidFill>
                <a:latin typeface="Aptos"/>
                <a:ea typeface="Aptos"/>
                <a:cs typeface="Aptos"/>
              </a:defRPr>
            </a:pPr>
            <a:r>
              <a:rPr sz="1125" b="1">
                <a:solidFill>
                  <a:srgbClr val="718391"/>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D5F0FFBE-3A2B-4324-AC82-EABF87035967}"/>
              </a:ext>
            </a:extLst>
          </p:cNvPr>
          <p:cNvSpPr>
            <a:spLocks xmlns:a="http://schemas.openxmlformats.org/drawingml/2006/main" noGrp="1"/>
          </p:cNvSpPr>
          <p:nvPr/>
        </p:nvSpPr>
        <p:spPr>
          <a:xfrm xmlns:a="http://schemas.openxmlformats.org/drawingml/2006/main">
            <a:off x="685800" y="1390650"/>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0">
                <a:solidFill>
                  <a:srgbClr val="526779"/>
                </a:solidFill>
                <a:latin typeface="Aptos"/>
                <a:ea typeface="Aptos"/>
                <a:cs typeface="Aptos"/>
              </a:defRPr>
            </a:defPPr>
          </a:lstStyle>
          <a:p xmlns:a="http://schemas.openxmlformats.org/drawingml/2006/main">
            <a:pPr algn="l">
              <a:defRPr sz="1800" b="0">
                <a:solidFill>
                  <a:srgbClr val="526779"/>
                </a:solidFill>
                <a:latin typeface="Aptos"/>
                <a:ea typeface="Aptos"/>
                <a:cs typeface="Aptos"/>
              </a:defRPr>
            </a:pPr>
            <a:r>
              <a:rPr sz="1800" b="0">
                <a:solidFill>
                  <a:srgbClr val="526779"/>
                </a:solidFill>
                <a:latin typeface="Aptos"/>
                <a:ea typeface="Aptos"/>
                <a:cs typeface="Aptos"/>
              </a:rPr>
              <a:t>For each bit i, the next state is:</a:t>
            </a:r>
          </a:p>
        </p:txBody>
      </p:sp>
      <p:sp>
        <p:nvSpPr>
          <p:cNvPr id="5" name="">
            <a:extLst xmlns:a="http://schemas.openxmlformats.org/drawingml/2006/main">
              <a:ext uri="{FF2B5EF4-FFF2-40B4-BE49-F238E27FC236}">
                <a16:creationId xmlns:a16="http://schemas.microsoft.com/office/drawing/2014/main" id="{DC869EBC-58F1-4B55-BB9E-5FBA38058817}"/>
              </a:ext>
            </a:extLst>
          </p:cNvPr>
          <p:cNvSpPr>
            <a:spLocks xmlns:a="http://schemas.openxmlformats.org/drawingml/2006/main" noGrp="1"/>
          </p:cNvSpPr>
          <p:nvPr/>
        </p:nvSpPr>
        <p:spPr>
          <a:xfrm xmlns:a="http://schemas.openxmlformats.org/drawingml/2006/main">
            <a:off x="685800" y="1866900"/>
            <a:ext cx="6858000" cy="895350"/>
          </a:xfrm>
          <a:prstGeom xmlns:a="http://schemas.openxmlformats.org/drawingml/2006/main" prst="roundRect">
            <a:avLst>
              <a:gd name="adj" fmla="val 8511"/>
            </a:avLst>
          </a:prstGeom>
          <a:solidFill xmlns:a="http://schemas.openxmlformats.org/drawingml/2006/main">
            <a:srgbClr val="1024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34C3CF8-6F21-459F-9089-AB6CCC9E879E}"/>
              </a:ext>
            </a:extLst>
          </p:cNvPr>
          <p:cNvSpPr>
            <a:spLocks xmlns:a="http://schemas.openxmlformats.org/drawingml/2006/main" noGrp="1"/>
          </p:cNvSpPr>
          <p:nvPr/>
        </p:nvSpPr>
        <p:spPr>
          <a:xfrm xmlns:a="http://schemas.openxmlformats.org/drawingml/2006/main">
            <a:off x="952500" y="2019300"/>
            <a:ext cx="6334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250" b="1">
                <a:solidFill>
                  <a:srgbClr val="FFFFFF"/>
                </a:solidFill>
                <a:latin typeface="Aptos"/>
                <a:ea typeface="Aptos"/>
                <a:cs typeface="Aptos"/>
              </a:defRPr>
            </a:defPPr>
          </a:lstStyle>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Qᵢ(next) = EN · Dᵢ + EN̅ · Qᵢ(current)</a:t>
            </a:r>
          </a:p>
        </p:txBody>
      </p:sp>
      <p:sp>
        <p:nvSpPr>
          <p:cNvPr id="7" name="">
            <a:extLst xmlns:a="http://schemas.openxmlformats.org/drawingml/2006/main">
              <a:ext uri="{FF2B5EF4-FFF2-40B4-BE49-F238E27FC236}">
                <a16:creationId xmlns:a16="http://schemas.microsoft.com/office/drawing/2014/main" id="{993E75CB-46A8-4278-BDA3-31A2620A489F}"/>
              </a:ext>
            </a:extLst>
          </p:cNvPr>
          <p:cNvSpPr>
            <a:spLocks xmlns:a="http://schemas.openxmlformats.org/drawingml/2006/main" noGrp="1"/>
          </p:cNvSpPr>
          <p:nvPr/>
        </p:nvSpPr>
        <p:spPr>
          <a:xfrm xmlns:a="http://schemas.openxmlformats.org/drawingml/2006/main">
            <a:off x="685800" y="2924175"/>
            <a:ext cx="695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26779"/>
                </a:solidFill>
                <a:latin typeface="Aptos"/>
                <a:ea typeface="Aptos"/>
                <a:cs typeface="Aptos"/>
              </a:defRPr>
            </a:defPPr>
          </a:lstStyle>
          <a:p xmlns:a="http://schemas.openxmlformats.org/drawingml/2006/main">
            <a:pPr algn="l">
              <a:defRPr sz="1425" b="0">
                <a:solidFill>
                  <a:srgbClr val="526779"/>
                </a:solidFill>
                <a:latin typeface="Aptos"/>
                <a:ea typeface="Aptos"/>
                <a:cs typeface="Aptos"/>
              </a:defRPr>
            </a:pPr>
            <a:r>
              <a:rPr sz="1425" b="0">
                <a:solidFill>
                  <a:srgbClr val="526779"/>
                </a:solidFill>
                <a:latin typeface="Aptos"/>
                <a:ea typeface="Aptos"/>
                <a:cs typeface="Aptos"/>
              </a:rPr>
              <a:t>The equation describes the MUX output before the clock edge.</a:t>
            </a:r>
          </a:p>
        </p:txBody>
      </p:sp>
      <p:sp>
        <p:nvSpPr>
          <p:cNvPr id="8" name="">
            <a:extLst xmlns:a="http://schemas.openxmlformats.org/drawingml/2006/main">
              <a:ext uri="{FF2B5EF4-FFF2-40B4-BE49-F238E27FC236}">
                <a16:creationId xmlns:a16="http://schemas.microsoft.com/office/drawing/2014/main" id="{8E7B0E4B-127B-4F07-BD6C-1406410F88B3}"/>
              </a:ext>
            </a:extLst>
          </p:cNvPr>
          <p:cNvSpPr>
            <a:spLocks xmlns:a="http://schemas.openxmlformats.org/drawingml/2006/main" noGrp="1"/>
          </p:cNvSpPr>
          <p:nvPr/>
        </p:nvSpPr>
        <p:spPr>
          <a:xfrm xmlns:a="http://schemas.openxmlformats.org/drawingml/2006/main">
            <a:off x="7810500" y="1752600"/>
            <a:ext cx="90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10243A"/>
                </a:solidFill>
                <a:latin typeface="Aptos"/>
                <a:ea typeface="Aptos"/>
                <a:cs typeface="Aptos"/>
              </a:defRPr>
            </a:defPPr>
          </a:lstStyle>
          <a:p xmlns:a="http://schemas.openxmlformats.org/drawingml/2006/main">
            <a:pPr algn="ctr">
              <a:defRPr sz="1500" b="1">
                <a:solidFill>
                  <a:srgbClr val="10243A"/>
                </a:solidFill>
                <a:latin typeface="Aptos"/>
                <a:ea typeface="Aptos"/>
                <a:cs typeface="Aptos"/>
              </a:defRPr>
            </a:pPr>
            <a:r>
              <a:rPr sz="1500" b="1">
                <a:solidFill>
                  <a:srgbClr val="10243A"/>
                </a:solidFill>
                <a:latin typeface="Aptos"/>
                <a:ea typeface="Aptos"/>
                <a:cs typeface="Aptos"/>
              </a:rPr>
              <a:t>EN</a:t>
            </a:r>
          </a:p>
        </p:txBody>
      </p:sp>
      <p:sp>
        <p:nvSpPr>
          <p:cNvPr id="9" name="">
            <a:extLst xmlns:a="http://schemas.openxmlformats.org/drawingml/2006/main">
              <a:ext uri="{FF2B5EF4-FFF2-40B4-BE49-F238E27FC236}">
                <a16:creationId xmlns:a16="http://schemas.microsoft.com/office/drawing/2014/main" id="{CA4BA72D-C69B-4535-A41A-FA374E11FDE3}"/>
              </a:ext>
            </a:extLst>
          </p:cNvPr>
          <p:cNvSpPr>
            <a:spLocks xmlns:a="http://schemas.openxmlformats.org/drawingml/2006/main" noGrp="1"/>
          </p:cNvSpPr>
          <p:nvPr/>
        </p:nvSpPr>
        <p:spPr>
          <a:xfrm xmlns:a="http://schemas.openxmlformats.org/drawingml/2006/main">
            <a:off x="8810625" y="1752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10243A"/>
                </a:solidFill>
                <a:latin typeface="Aptos"/>
                <a:ea typeface="Aptos"/>
                <a:cs typeface="Aptos"/>
              </a:defRPr>
            </a:defPPr>
          </a:lstStyle>
          <a:p xmlns:a="http://schemas.openxmlformats.org/drawingml/2006/main">
            <a:pPr algn="ctr">
              <a:defRPr sz="1500" b="1">
                <a:solidFill>
                  <a:srgbClr val="10243A"/>
                </a:solidFill>
                <a:latin typeface="Aptos"/>
                <a:ea typeface="Aptos"/>
                <a:cs typeface="Aptos"/>
              </a:defRPr>
            </a:pPr>
            <a:r>
              <a:rPr sz="1500" b="1">
                <a:solidFill>
                  <a:srgbClr val="10243A"/>
                </a:solidFill>
                <a:latin typeface="Aptos"/>
                <a:ea typeface="Aptos"/>
                <a:cs typeface="Aptos"/>
              </a:rPr>
              <a:t>Dᵢ input</a:t>
            </a:r>
          </a:p>
        </p:txBody>
      </p:sp>
      <p:sp>
        <p:nvSpPr>
          <p:cNvPr id="10" name="">
            <a:extLst xmlns:a="http://schemas.openxmlformats.org/drawingml/2006/main">
              <a:ext uri="{FF2B5EF4-FFF2-40B4-BE49-F238E27FC236}">
                <a16:creationId xmlns:a16="http://schemas.microsoft.com/office/drawing/2014/main" id="{CDA0ECFE-DAAE-49B3-901C-4BFE8DC0021C}"/>
              </a:ext>
            </a:extLst>
          </p:cNvPr>
          <p:cNvSpPr>
            <a:spLocks xmlns:a="http://schemas.openxmlformats.org/drawingml/2006/main" noGrp="1"/>
          </p:cNvSpPr>
          <p:nvPr/>
        </p:nvSpPr>
        <p:spPr>
          <a:xfrm xmlns:a="http://schemas.openxmlformats.org/drawingml/2006/main">
            <a:off x="10477500" y="17526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10243A"/>
                </a:solidFill>
                <a:latin typeface="Aptos"/>
                <a:ea typeface="Aptos"/>
                <a:cs typeface="Aptos"/>
              </a:defRPr>
            </a:defPPr>
          </a:lstStyle>
          <a:p xmlns:a="http://schemas.openxmlformats.org/drawingml/2006/main">
            <a:pPr algn="ctr">
              <a:defRPr sz="1500" b="1">
                <a:solidFill>
                  <a:srgbClr val="10243A"/>
                </a:solidFill>
                <a:latin typeface="Aptos"/>
                <a:ea typeface="Aptos"/>
                <a:cs typeface="Aptos"/>
              </a:defRPr>
            </a:pPr>
            <a:r>
              <a:rPr sz="1500" b="1">
                <a:solidFill>
                  <a:srgbClr val="10243A"/>
                </a:solidFill>
                <a:latin typeface="Aptos"/>
                <a:ea typeface="Aptos"/>
                <a:cs typeface="Aptos"/>
              </a:rPr>
              <a:t>Qᵢ(next)</a:t>
            </a:r>
          </a:p>
        </p:txBody>
      </p:sp>
      <p:sp>
        <p:nvSpPr>
          <p:cNvPr id="11" name="">
            <a:extLst xmlns:a="http://schemas.openxmlformats.org/drawingml/2006/main">
              <a:ext uri="{FF2B5EF4-FFF2-40B4-BE49-F238E27FC236}">
                <a16:creationId xmlns:a16="http://schemas.microsoft.com/office/drawing/2014/main" id="{7C3B8B42-B9B4-4910-AA3F-7FFDE4D6B7DC}"/>
              </a:ext>
            </a:extLst>
          </p:cNvPr>
          <p:cNvSpPr>
            <a:spLocks xmlns:a="http://schemas.openxmlformats.org/drawingml/2006/main" noGrp="1"/>
          </p:cNvSpPr>
          <p:nvPr/>
        </p:nvSpPr>
        <p:spPr>
          <a:xfrm xmlns:a="http://schemas.openxmlformats.org/drawingml/2006/main">
            <a:off x="7810500" y="2152650"/>
            <a:ext cx="4333875" cy="0"/>
          </a:xfrm>
          <a:prstGeom xmlns:a="http://schemas.openxmlformats.org/drawingml/2006/main" prst="line">
            <a:avLst/>
          </a:prstGeom>
          <a:noFill xmlns:a="http://schemas.openxmlformats.org/drawingml/2006/main"/>
          <a:ln xmlns:a="http://schemas.openxmlformats.org/drawingml/2006/main" w="19050">
            <a:solidFill>
              <a:srgbClr val="10243A"/>
            </a:solidFill>
            <a:prstDash val="solid"/>
          </a:ln>
        </p:spPr>
      </p:sp>
      <p:sp>
        <p:nvSpPr>
          <p:cNvPr id="12" name="">
            <a:extLst xmlns:a="http://schemas.openxmlformats.org/drawingml/2006/main">
              <a:ext uri="{FF2B5EF4-FFF2-40B4-BE49-F238E27FC236}">
                <a16:creationId xmlns:a16="http://schemas.microsoft.com/office/drawing/2014/main" id="{537CBA47-5502-4213-B9BB-FAACA79F7C88}"/>
              </a:ext>
            </a:extLst>
          </p:cNvPr>
          <p:cNvSpPr>
            <a:spLocks xmlns:a="http://schemas.openxmlformats.org/drawingml/2006/main" noGrp="1"/>
          </p:cNvSpPr>
          <p:nvPr/>
        </p:nvSpPr>
        <p:spPr>
          <a:xfrm xmlns:a="http://schemas.openxmlformats.org/drawingml/2006/main">
            <a:off x="7810500" y="2266950"/>
            <a:ext cx="904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E88B3A"/>
                </a:solidFill>
                <a:latin typeface="Aptos"/>
                <a:ea typeface="Aptos"/>
                <a:cs typeface="Aptos"/>
              </a:defRPr>
            </a:defPPr>
          </a:lstStyle>
          <a:p xmlns:a="http://schemas.openxmlformats.org/drawingml/2006/main">
            <a:pPr algn="ctr">
              <a:defRPr sz="1650" b="1">
                <a:solidFill>
                  <a:srgbClr val="E88B3A"/>
                </a:solidFill>
                <a:latin typeface="Aptos"/>
                <a:ea typeface="Aptos"/>
                <a:cs typeface="Aptos"/>
              </a:defRPr>
            </a:pPr>
            <a:r>
              <a:rPr sz="1650" b="1">
                <a:solidFill>
                  <a:srgbClr val="E88B3A"/>
                </a:solidFill>
                <a:latin typeface="Aptos"/>
                <a:ea typeface="Aptos"/>
                <a:cs typeface="Aptos"/>
              </a:rPr>
              <a:t>0</a:t>
            </a:r>
          </a:p>
        </p:txBody>
      </p:sp>
      <p:sp>
        <p:nvSpPr>
          <p:cNvPr id="13" name="">
            <a:extLst xmlns:a="http://schemas.openxmlformats.org/drawingml/2006/main">
              <a:ext uri="{FF2B5EF4-FFF2-40B4-BE49-F238E27FC236}">
                <a16:creationId xmlns:a16="http://schemas.microsoft.com/office/drawing/2014/main" id="{77753B80-2B4E-45A8-8D91-4DD1C961B31A}"/>
              </a:ext>
            </a:extLst>
          </p:cNvPr>
          <p:cNvSpPr>
            <a:spLocks xmlns:a="http://schemas.openxmlformats.org/drawingml/2006/main" noGrp="1"/>
          </p:cNvSpPr>
          <p:nvPr/>
        </p:nvSpPr>
        <p:spPr>
          <a:xfrm xmlns:a="http://schemas.openxmlformats.org/drawingml/2006/main">
            <a:off x="8810625" y="2266950"/>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526779"/>
                </a:solidFill>
                <a:latin typeface="Aptos"/>
                <a:ea typeface="Aptos"/>
                <a:cs typeface="Aptos"/>
              </a:defRPr>
            </a:defPPr>
          </a:lstStyle>
          <a:p xmlns:a="http://schemas.openxmlformats.org/drawingml/2006/main">
            <a:pPr algn="ctr">
              <a:defRPr sz="1500" b="0">
                <a:solidFill>
                  <a:srgbClr val="526779"/>
                </a:solidFill>
                <a:latin typeface="Aptos"/>
                <a:ea typeface="Aptos"/>
                <a:cs typeface="Aptos"/>
              </a:defRPr>
            </a:pPr>
            <a:r>
              <a:rPr sz="1500" b="0">
                <a:solidFill>
                  <a:srgbClr val="526779"/>
                </a:solidFill>
                <a:latin typeface="Aptos"/>
                <a:ea typeface="Aptos"/>
                <a:cs typeface="Aptos"/>
              </a:rPr>
              <a:t>Any</a:t>
            </a:r>
          </a:p>
        </p:txBody>
      </p:sp>
      <p:sp>
        <p:nvSpPr>
          <p:cNvPr id="14" name="">
            <a:extLst xmlns:a="http://schemas.openxmlformats.org/drawingml/2006/main">
              <a:ext uri="{FF2B5EF4-FFF2-40B4-BE49-F238E27FC236}">
                <a16:creationId xmlns:a16="http://schemas.microsoft.com/office/drawing/2014/main" id="{8F870D9D-15BF-4078-9C40-3316982741C4}"/>
              </a:ext>
            </a:extLst>
          </p:cNvPr>
          <p:cNvSpPr>
            <a:spLocks xmlns:a="http://schemas.openxmlformats.org/drawingml/2006/main" noGrp="1"/>
          </p:cNvSpPr>
          <p:nvPr/>
        </p:nvSpPr>
        <p:spPr>
          <a:xfrm xmlns:a="http://schemas.openxmlformats.org/drawingml/2006/main">
            <a:off x="10477500" y="226695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317B63"/>
                </a:solidFill>
                <a:latin typeface="Aptos"/>
                <a:ea typeface="Aptos"/>
                <a:cs typeface="Aptos"/>
              </a:defRPr>
            </a:defPPr>
          </a:lstStyle>
          <a:p xmlns:a="http://schemas.openxmlformats.org/drawingml/2006/main">
            <a:pPr algn="ctr">
              <a:defRPr sz="1500" b="1">
                <a:solidFill>
                  <a:srgbClr val="317B63"/>
                </a:solidFill>
                <a:latin typeface="Aptos"/>
                <a:ea typeface="Aptos"/>
                <a:cs typeface="Aptos"/>
              </a:defRPr>
            </a:pPr>
            <a:r>
              <a:rPr sz="1500" b="1">
                <a:solidFill>
                  <a:srgbClr val="317B63"/>
                </a:solidFill>
                <a:latin typeface="Aptos"/>
                <a:ea typeface="Aptos"/>
                <a:cs typeface="Aptos"/>
              </a:rPr>
              <a:t>Qᵢ(current)</a:t>
            </a:r>
          </a:p>
        </p:txBody>
      </p:sp>
      <p:sp>
        <p:nvSpPr>
          <p:cNvPr id="15" name="">
            <a:extLst xmlns:a="http://schemas.openxmlformats.org/drawingml/2006/main">
              <a:ext uri="{FF2B5EF4-FFF2-40B4-BE49-F238E27FC236}">
                <a16:creationId xmlns:a16="http://schemas.microsoft.com/office/drawing/2014/main" id="{4A8DDFD5-45F6-445B-ABE3-DCC5A74B02CF}"/>
              </a:ext>
            </a:extLst>
          </p:cNvPr>
          <p:cNvSpPr>
            <a:spLocks xmlns:a="http://schemas.openxmlformats.org/drawingml/2006/main" noGrp="1"/>
          </p:cNvSpPr>
          <p:nvPr/>
        </p:nvSpPr>
        <p:spPr>
          <a:xfrm xmlns:a="http://schemas.openxmlformats.org/drawingml/2006/main">
            <a:off x="7810500" y="2828925"/>
            <a:ext cx="904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E88B3A"/>
                </a:solidFill>
                <a:latin typeface="Aptos"/>
                <a:ea typeface="Aptos"/>
                <a:cs typeface="Aptos"/>
              </a:defRPr>
            </a:defPPr>
          </a:lstStyle>
          <a:p xmlns:a="http://schemas.openxmlformats.org/drawingml/2006/main">
            <a:pPr algn="ctr">
              <a:defRPr sz="1650" b="1">
                <a:solidFill>
                  <a:srgbClr val="E88B3A"/>
                </a:solidFill>
                <a:latin typeface="Aptos"/>
                <a:ea typeface="Aptos"/>
                <a:cs typeface="Aptos"/>
              </a:defRPr>
            </a:pPr>
            <a:r>
              <a:rPr sz="1650" b="1">
                <a:solidFill>
                  <a:srgbClr val="E88B3A"/>
                </a:solidFill>
                <a:latin typeface="Aptos"/>
                <a:ea typeface="Aptos"/>
                <a:cs typeface="Aptos"/>
              </a:rPr>
              <a:t>1</a:t>
            </a:r>
          </a:p>
        </p:txBody>
      </p:sp>
      <p:sp>
        <p:nvSpPr>
          <p:cNvPr id="16" name="">
            <a:extLst xmlns:a="http://schemas.openxmlformats.org/drawingml/2006/main">
              <a:ext uri="{FF2B5EF4-FFF2-40B4-BE49-F238E27FC236}">
                <a16:creationId xmlns:a16="http://schemas.microsoft.com/office/drawing/2014/main" id="{B6809A35-AD44-4B72-B708-1C82FE92F0CB}"/>
              </a:ext>
            </a:extLst>
          </p:cNvPr>
          <p:cNvSpPr>
            <a:spLocks xmlns:a="http://schemas.openxmlformats.org/drawingml/2006/main" noGrp="1"/>
          </p:cNvSpPr>
          <p:nvPr/>
        </p:nvSpPr>
        <p:spPr>
          <a:xfrm xmlns:a="http://schemas.openxmlformats.org/drawingml/2006/main">
            <a:off x="8810625" y="2828925"/>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4777A8"/>
                </a:solidFill>
                <a:latin typeface="Aptos"/>
                <a:ea typeface="Aptos"/>
                <a:cs typeface="Aptos"/>
              </a:defRPr>
            </a:defPPr>
          </a:lstStyle>
          <a:p xmlns:a="http://schemas.openxmlformats.org/drawingml/2006/main">
            <a:pPr algn="ctr">
              <a:defRPr sz="1500" b="1">
                <a:solidFill>
                  <a:srgbClr val="4777A8"/>
                </a:solidFill>
                <a:latin typeface="Aptos"/>
                <a:ea typeface="Aptos"/>
                <a:cs typeface="Aptos"/>
              </a:defRPr>
            </a:pPr>
            <a:r>
              <a:rPr sz="1500" b="1">
                <a:solidFill>
                  <a:srgbClr val="4777A8"/>
                </a:solidFill>
                <a:latin typeface="Aptos"/>
                <a:ea typeface="Aptos"/>
                <a:cs typeface="Aptos"/>
              </a:rPr>
              <a:t>Dᵢ</a:t>
            </a:r>
          </a:p>
        </p:txBody>
      </p:sp>
      <p:sp>
        <p:nvSpPr>
          <p:cNvPr id="17" name="">
            <a:extLst xmlns:a="http://schemas.openxmlformats.org/drawingml/2006/main">
              <a:ext uri="{FF2B5EF4-FFF2-40B4-BE49-F238E27FC236}">
                <a16:creationId xmlns:a16="http://schemas.microsoft.com/office/drawing/2014/main" id="{A5EB122C-C97B-46DA-8974-6A93AB3DECC6}"/>
              </a:ext>
            </a:extLst>
          </p:cNvPr>
          <p:cNvSpPr>
            <a:spLocks xmlns:a="http://schemas.openxmlformats.org/drawingml/2006/main" noGrp="1"/>
          </p:cNvSpPr>
          <p:nvPr/>
        </p:nvSpPr>
        <p:spPr>
          <a:xfrm xmlns:a="http://schemas.openxmlformats.org/drawingml/2006/main">
            <a:off x="10477500" y="282892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4777A8"/>
                </a:solidFill>
                <a:latin typeface="Aptos"/>
                <a:ea typeface="Aptos"/>
                <a:cs typeface="Aptos"/>
              </a:defRPr>
            </a:defPPr>
          </a:lstStyle>
          <a:p xmlns:a="http://schemas.openxmlformats.org/drawingml/2006/main">
            <a:pPr algn="ctr">
              <a:defRPr sz="1500" b="1">
                <a:solidFill>
                  <a:srgbClr val="4777A8"/>
                </a:solidFill>
                <a:latin typeface="Aptos"/>
                <a:ea typeface="Aptos"/>
                <a:cs typeface="Aptos"/>
              </a:defRPr>
            </a:pPr>
            <a:r>
              <a:rPr sz="1500" b="1">
                <a:solidFill>
                  <a:srgbClr val="4777A8"/>
                </a:solidFill>
                <a:latin typeface="Aptos"/>
                <a:ea typeface="Aptos"/>
                <a:cs typeface="Aptos"/>
              </a:rPr>
              <a:t>Dᵢ</a:t>
            </a:r>
          </a:p>
        </p:txBody>
      </p:sp>
      <p:sp>
        <p:nvSpPr>
          <p:cNvPr id="18" name="">
            <a:extLst xmlns:a="http://schemas.openxmlformats.org/drawingml/2006/main">
              <a:ext uri="{FF2B5EF4-FFF2-40B4-BE49-F238E27FC236}">
                <a16:creationId xmlns:a16="http://schemas.microsoft.com/office/drawing/2014/main" id="{9DF7B01E-09D5-472C-B0A1-6851B52AA93D}"/>
              </a:ext>
            </a:extLst>
          </p:cNvPr>
          <p:cNvSpPr>
            <a:spLocks xmlns:a="http://schemas.openxmlformats.org/drawingml/2006/main" noGrp="1"/>
          </p:cNvSpPr>
          <p:nvPr/>
        </p:nvSpPr>
        <p:spPr>
          <a:xfrm xmlns:a="http://schemas.openxmlformats.org/drawingml/2006/main">
            <a:off x="7810500" y="2705100"/>
            <a:ext cx="4333875"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19" name="">
            <a:extLst xmlns:a="http://schemas.openxmlformats.org/drawingml/2006/main">
              <a:ext uri="{FF2B5EF4-FFF2-40B4-BE49-F238E27FC236}">
                <a16:creationId xmlns:a16="http://schemas.microsoft.com/office/drawing/2014/main" id="{DC8B8EEA-DFAB-447C-8B78-140CF9410741}"/>
              </a:ext>
            </a:extLst>
          </p:cNvPr>
          <p:cNvSpPr>
            <a:spLocks xmlns:a="http://schemas.openxmlformats.org/drawingml/2006/main" noGrp="1"/>
          </p:cNvSpPr>
          <p:nvPr/>
        </p:nvSpPr>
        <p:spPr>
          <a:xfrm xmlns:a="http://schemas.openxmlformats.org/drawingml/2006/main">
            <a:off x="685800" y="419100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10243A"/>
                </a:solidFill>
                <a:latin typeface="Aptos"/>
                <a:ea typeface="Aptos"/>
                <a:cs typeface="Aptos"/>
              </a:defRPr>
            </a:defPPr>
          </a:lstStyle>
          <a:p xmlns:a="http://schemas.openxmlformats.org/drawingml/2006/main">
            <a:pPr algn="l">
              <a:defRPr sz="1800" b="1">
                <a:solidFill>
                  <a:srgbClr val="10243A"/>
                </a:solidFill>
                <a:latin typeface="Aptos"/>
                <a:ea typeface="Aptos"/>
                <a:cs typeface="Aptos"/>
              </a:defRPr>
            </a:pPr>
            <a:r>
              <a:rPr sz="1800" b="1">
                <a:solidFill>
                  <a:srgbClr val="10243A"/>
                </a:solidFill>
                <a:latin typeface="Aptos"/>
                <a:ea typeface="Aptos"/>
                <a:cs typeface="Aptos"/>
              </a:rPr>
              <a:t>EN = 0 selects feedback. EN = 1 selects new input data.</a:t>
            </a:r>
          </a:p>
        </p:txBody>
      </p:sp>
      <p:sp>
        <p:nvSpPr>
          <p:cNvPr id="20" name="">
            <a:extLst xmlns:a="http://schemas.openxmlformats.org/drawingml/2006/main">
              <a:ext uri="{FF2B5EF4-FFF2-40B4-BE49-F238E27FC236}">
                <a16:creationId xmlns:a16="http://schemas.microsoft.com/office/drawing/2014/main" id="{CDF38F50-7A93-4F00-A0D9-B60CF9949531}"/>
              </a:ext>
            </a:extLst>
          </p:cNvPr>
          <p:cNvSpPr>
            <a:spLocks xmlns:a="http://schemas.openxmlformats.org/drawingml/2006/main" noGrp="1"/>
          </p:cNvSpPr>
          <p:nvPr/>
        </p:nvSpPr>
        <p:spPr>
          <a:xfrm xmlns:a="http://schemas.openxmlformats.org/drawingml/2006/main">
            <a:off x="876300" y="5029200"/>
            <a:ext cx="114300" cy="114300"/>
          </a:xfrm>
          <a:prstGeom xmlns:a="http://schemas.openxmlformats.org/drawingml/2006/main" prst="ellipse">
            <a:avLst/>
          </a:prstGeom>
          <a:solidFill xmlns:a="http://schemas.openxmlformats.org/drawingml/2006/main">
            <a:srgbClr val="1C9A9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67C1BBC-63D9-4E2F-B038-29F626C5440B}"/>
              </a:ext>
            </a:extLst>
          </p:cNvPr>
          <p:cNvSpPr>
            <a:spLocks xmlns:a="http://schemas.openxmlformats.org/drawingml/2006/main" noGrp="1"/>
          </p:cNvSpPr>
          <p:nvPr/>
        </p:nvSpPr>
        <p:spPr>
          <a:xfrm xmlns:a="http://schemas.openxmlformats.org/drawingml/2006/main">
            <a:off x="1143000" y="495300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43A"/>
                </a:solidFill>
                <a:latin typeface="Aptos"/>
                <a:ea typeface="Aptos"/>
                <a:cs typeface="Aptos"/>
              </a:defRPr>
            </a:defPPr>
          </a:lstStyle>
          <a:p xmlns:a="http://schemas.openxmlformats.org/drawingml/2006/main">
            <a:pPr algn="l">
              <a:defRPr sz="1650" b="1">
                <a:solidFill>
                  <a:srgbClr val="10243A"/>
                </a:solidFill>
                <a:latin typeface="Aptos"/>
                <a:ea typeface="Aptos"/>
                <a:cs typeface="Aptos"/>
              </a:defRPr>
            </a:pPr>
            <a:r>
              <a:rPr sz="1650" b="1">
                <a:solidFill>
                  <a:srgbClr val="10243A"/>
                </a:solidFill>
                <a:latin typeface="Aptos"/>
                <a:ea typeface="Aptos"/>
                <a:cs typeface="Aptos"/>
              </a:rPr>
              <a:t>· means AND</a:t>
            </a:r>
          </a:p>
        </p:txBody>
      </p:sp>
      <p:sp>
        <p:nvSpPr>
          <p:cNvPr id="22" name="">
            <a:extLst xmlns:a="http://schemas.openxmlformats.org/drawingml/2006/main">
              <a:ext uri="{FF2B5EF4-FFF2-40B4-BE49-F238E27FC236}">
                <a16:creationId xmlns:a16="http://schemas.microsoft.com/office/drawing/2014/main" id="{31DA4A55-1553-4F26-AF0F-5FBBBE8BED64}"/>
              </a:ext>
            </a:extLst>
          </p:cNvPr>
          <p:cNvSpPr>
            <a:spLocks xmlns:a="http://schemas.openxmlformats.org/drawingml/2006/main" noGrp="1"/>
          </p:cNvSpPr>
          <p:nvPr/>
        </p:nvSpPr>
        <p:spPr>
          <a:xfrm xmlns:a="http://schemas.openxmlformats.org/drawingml/2006/main">
            <a:off x="1143000" y="5276850"/>
            <a:ext cx="4057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526779"/>
                </a:solidFill>
                <a:latin typeface="Aptos"/>
                <a:ea typeface="Aptos"/>
                <a:cs typeface="Aptos"/>
              </a:defRPr>
            </a:defPPr>
          </a:lstStyle>
          <a:p xmlns:a="http://schemas.openxmlformats.org/drawingml/2006/main">
            <a:pPr algn="l">
              <a:defRPr sz="1500" b="0">
                <a:solidFill>
                  <a:srgbClr val="526779"/>
                </a:solidFill>
                <a:latin typeface="Aptos"/>
                <a:ea typeface="Aptos"/>
                <a:cs typeface="Aptos"/>
              </a:defRPr>
            </a:pPr>
            <a:r>
              <a:rPr sz="1500" b="0">
                <a:solidFill>
                  <a:srgbClr val="526779"/>
                </a:solidFill>
                <a:latin typeface="Aptos"/>
                <a:ea typeface="Aptos"/>
                <a:cs typeface="Aptos"/>
              </a:rPr>
              <a:t>A·B is 1 only when both A and B are 1.</a:t>
            </a:r>
          </a:p>
        </p:txBody>
      </p:sp>
      <p:sp>
        <p:nvSpPr>
          <p:cNvPr id="23" name="">
            <a:extLst xmlns:a="http://schemas.openxmlformats.org/drawingml/2006/main">
              <a:ext uri="{FF2B5EF4-FFF2-40B4-BE49-F238E27FC236}">
                <a16:creationId xmlns:a16="http://schemas.microsoft.com/office/drawing/2014/main" id="{BF13464B-6F6D-48F8-A9B5-F1DCA0E1D77A}"/>
              </a:ext>
            </a:extLst>
          </p:cNvPr>
          <p:cNvSpPr>
            <a:spLocks xmlns:a="http://schemas.openxmlformats.org/drawingml/2006/main" noGrp="1"/>
          </p:cNvSpPr>
          <p:nvPr/>
        </p:nvSpPr>
        <p:spPr>
          <a:xfrm xmlns:a="http://schemas.openxmlformats.org/drawingml/2006/main">
            <a:off x="5734050" y="5029200"/>
            <a:ext cx="114300" cy="114300"/>
          </a:xfrm>
          <a:prstGeom xmlns:a="http://schemas.openxmlformats.org/drawingml/2006/main" prst="ellipse">
            <a:avLst/>
          </a:prstGeom>
          <a:solidFill xmlns:a="http://schemas.openxmlformats.org/drawingml/2006/main">
            <a:srgbClr val="E88B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1D03931-D786-4312-BF22-62E9EC9001F0}"/>
              </a:ext>
            </a:extLst>
          </p:cNvPr>
          <p:cNvSpPr>
            <a:spLocks xmlns:a="http://schemas.openxmlformats.org/drawingml/2006/main" noGrp="1"/>
          </p:cNvSpPr>
          <p:nvPr/>
        </p:nvSpPr>
        <p:spPr>
          <a:xfrm xmlns:a="http://schemas.openxmlformats.org/drawingml/2006/main">
            <a:off x="6000750" y="4953000"/>
            <a:ext cx="459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43A"/>
                </a:solidFill>
                <a:latin typeface="Aptos"/>
                <a:ea typeface="Aptos"/>
                <a:cs typeface="Aptos"/>
              </a:defRPr>
            </a:defPPr>
          </a:lstStyle>
          <a:p xmlns:a="http://schemas.openxmlformats.org/drawingml/2006/main">
            <a:pPr algn="l">
              <a:defRPr sz="1650" b="1">
                <a:solidFill>
                  <a:srgbClr val="10243A"/>
                </a:solidFill>
                <a:latin typeface="Aptos"/>
                <a:ea typeface="Aptos"/>
                <a:cs typeface="Aptos"/>
              </a:defRPr>
            </a:pPr>
            <a:r>
              <a:rPr sz="1650" b="1">
                <a:solidFill>
                  <a:srgbClr val="10243A"/>
                </a:solidFill>
                <a:latin typeface="Aptos"/>
                <a:ea typeface="Aptos"/>
                <a:cs typeface="Aptos"/>
              </a:rPr>
              <a:t>+ means OR</a:t>
            </a:r>
          </a:p>
        </p:txBody>
      </p:sp>
      <p:sp>
        <p:nvSpPr>
          <p:cNvPr id="25" name="">
            <a:extLst xmlns:a="http://schemas.openxmlformats.org/drawingml/2006/main">
              <a:ext uri="{FF2B5EF4-FFF2-40B4-BE49-F238E27FC236}">
                <a16:creationId xmlns:a16="http://schemas.microsoft.com/office/drawing/2014/main" id="{BEAEABD5-B577-4548-8A34-A418B99CA690}"/>
              </a:ext>
            </a:extLst>
          </p:cNvPr>
          <p:cNvSpPr>
            <a:spLocks xmlns:a="http://schemas.openxmlformats.org/drawingml/2006/main" noGrp="1"/>
          </p:cNvSpPr>
          <p:nvPr/>
        </p:nvSpPr>
        <p:spPr>
          <a:xfrm xmlns:a="http://schemas.openxmlformats.org/drawingml/2006/main">
            <a:off x="6000750" y="5276850"/>
            <a:ext cx="4533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526779"/>
                </a:solidFill>
                <a:latin typeface="Aptos"/>
                <a:ea typeface="Aptos"/>
                <a:cs typeface="Aptos"/>
              </a:defRPr>
            </a:defPPr>
          </a:lstStyle>
          <a:p xmlns:a="http://schemas.openxmlformats.org/drawingml/2006/main">
            <a:pPr algn="l">
              <a:defRPr sz="1500" b="0">
                <a:solidFill>
                  <a:srgbClr val="526779"/>
                </a:solidFill>
                <a:latin typeface="Aptos"/>
                <a:ea typeface="Aptos"/>
                <a:cs typeface="Aptos"/>
              </a:defRPr>
            </a:pPr>
            <a:r>
              <a:rPr sz="1500" b="0">
                <a:solidFill>
                  <a:srgbClr val="526779"/>
                </a:solidFill>
                <a:latin typeface="Aptos"/>
                <a:ea typeface="Aptos"/>
                <a:cs typeface="Aptos"/>
              </a:rPr>
              <a:t>The two terms cannot both be selected at once.</a:t>
            </a:r>
          </a:p>
        </p:txBody>
      </p:sp>
    </p:spTree>
    <p:extLst>
      <p:ext uri="{BB962C8B-B14F-4D97-AF65-F5344CB8AC3E}">
        <p14:creationId xmlns:p14="http://schemas.microsoft.com/office/powerpoint/2010/main" val="1959586829"/>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B4116CC8-1AD1-48E1-B953-618EF09A3191}"/>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0243A"/>
                </a:solidFill>
                <a:latin typeface="Aptos"/>
                <a:ea typeface="Aptos"/>
                <a:cs typeface="Aptos"/>
              </a:defRPr>
            </a:defPPr>
          </a:lstStyle>
          <a:p xmlns:a="http://schemas.openxmlformats.org/drawingml/2006/main">
            <a:pPr algn="l">
              <a:defRPr sz="3150" b="1">
                <a:solidFill>
                  <a:srgbClr val="10243A"/>
                </a:solidFill>
                <a:latin typeface="Aptos"/>
                <a:ea typeface="Aptos"/>
                <a:cs typeface="Aptos"/>
              </a:defRPr>
            </a:pPr>
            <a:r>
              <a:rPr sz="3150" b="1">
                <a:solidFill>
                  <a:srgbClr val="10243A"/>
                </a:solidFill>
                <a:latin typeface="Aptos"/>
                <a:ea typeface="Aptos"/>
                <a:cs typeface="Aptos"/>
              </a:rPr>
              <a:t>The clock decides when the value changes</a:t>
            </a:r>
          </a:p>
        </p:txBody>
      </p:sp>
      <p:sp>
        <p:nvSpPr>
          <p:cNvPr id="2" name="">
            <a:extLst xmlns:a="http://schemas.openxmlformats.org/drawingml/2006/main">
              <a:ext uri="{FF2B5EF4-FFF2-40B4-BE49-F238E27FC236}">
                <a16:creationId xmlns:a16="http://schemas.microsoft.com/office/drawing/2014/main" id="{18B5AAD0-7299-48DE-98A1-7BDFE539FB24}"/>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426B88B8-11AD-41AA-8226-271A15E59E45}"/>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718391"/>
                </a:solidFill>
                <a:latin typeface="Aptos"/>
                <a:ea typeface="Aptos"/>
                <a:cs typeface="Aptos"/>
              </a:defRPr>
            </a:defPPr>
          </a:lstStyle>
          <a:p xmlns:a="http://schemas.openxmlformats.org/drawingml/2006/main">
            <a:pPr algn="r">
              <a:defRPr sz="1125" b="1">
                <a:solidFill>
                  <a:srgbClr val="718391"/>
                </a:solidFill>
                <a:latin typeface="Aptos"/>
                <a:ea typeface="Aptos"/>
                <a:cs typeface="Aptos"/>
              </a:defRPr>
            </a:pPr>
            <a:r>
              <a:rPr sz="1125" b="1">
                <a:solidFill>
                  <a:srgbClr val="718391"/>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369AB09F-D158-4109-ADB2-1D75CBD33E3B}"/>
              </a:ext>
            </a:extLst>
          </p:cNvPr>
          <p:cNvSpPr>
            <a:spLocks xmlns:a="http://schemas.openxmlformats.org/drawingml/2006/main" noGrp="1"/>
          </p:cNvSpPr>
          <p:nvPr/>
        </p:nvSpPr>
        <p:spPr>
          <a:xfrm xmlns:a="http://schemas.openxmlformats.org/drawingml/2006/main">
            <a:off x="685800" y="1352550"/>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62B3D"/>
                </a:solidFill>
                <a:latin typeface="Aptos"/>
                <a:ea typeface="Aptos"/>
                <a:cs typeface="Aptos"/>
              </a:defRPr>
            </a:defPPr>
          </a:lstStyle>
          <a:p xmlns:a="http://schemas.openxmlformats.org/drawingml/2006/main">
            <a:pPr algn="l">
              <a:defRPr sz="1875" b="1">
                <a:solidFill>
                  <a:srgbClr val="162B3D"/>
                </a:solidFill>
                <a:latin typeface="Aptos"/>
                <a:ea typeface="Aptos"/>
                <a:cs typeface="Aptos"/>
              </a:defRPr>
            </a:pPr>
            <a:r>
              <a:rPr sz="1875" b="1">
                <a:solidFill>
                  <a:srgbClr val="162B3D"/>
                </a:solidFill>
                <a:latin typeface="Aptos"/>
                <a:ea typeface="Aptos"/>
                <a:cs typeface="Aptos"/>
              </a:rPr>
              <a:t>EN controls what will be stored. The active clock edge controls when it is stored.</a:t>
            </a:r>
          </a:p>
        </p:txBody>
      </p:sp>
      <p:sp>
        <p:nvSpPr>
          <p:cNvPr id="5" name="">
            <a:extLst xmlns:a="http://schemas.openxmlformats.org/drawingml/2006/main">
              <a:ext uri="{FF2B5EF4-FFF2-40B4-BE49-F238E27FC236}">
                <a16:creationId xmlns:a16="http://schemas.microsoft.com/office/drawing/2014/main" id="{5277E3BF-895A-45BB-9997-B1EAF18FEA36}"/>
              </a:ext>
            </a:extLst>
          </p:cNvPr>
          <p:cNvSpPr>
            <a:spLocks xmlns:a="http://schemas.openxmlformats.org/drawingml/2006/main" noGrp="1"/>
          </p:cNvSpPr>
          <p:nvPr/>
        </p:nvSpPr>
        <p:spPr>
          <a:xfrm xmlns:a="http://schemas.openxmlformats.org/drawingml/2006/main">
            <a:off x="685800" y="213360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526779"/>
                </a:solidFill>
                <a:latin typeface="Aptos"/>
                <a:ea typeface="Aptos"/>
                <a:cs typeface="Aptos"/>
              </a:defRPr>
            </a:defPPr>
          </a:lstStyle>
          <a:p xmlns:a="http://schemas.openxmlformats.org/drawingml/2006/main">
            <a:pPr algn="ctr">
              <a:defRPr sz="1350" b="1">
                <a:solidFill>
                  <a:srgbClr val="526779"/>
                </a:solidFill>
                <a:latin typeface="Aptos"/>
                <a:ea typeface="Aptos"/>
                <a:cs typeface="Aptos"/>
              </a:defRPr>
            </a:pPr>
            <a:r>
              <a:rPr sz="1350" b="1">
                <a:solidFill>
                  <a:srgbClr val="526779"/>
                </a:solidFill>
                <a:latin typeface="Aptos"/>
                <a:ea typeface="Aptos"/>
                <a:cs typeface="Aptos"/>
              </a:rPr>
              <a:t>Clock event</a:t>
            </a:r>
          </a:p>
        </p:txBody>
      </p:sp>
      <p:sp>
        <p:nvSpPr>
          <p:cNvPr id="6" name="">
            <a:extLst xmlns:a="http://schemas.openxmlformats.org/drawingml/2006/main">
              <a:ext uri="{FF2B5EF4-FFF2-40B4-BE49-F238E27FC236}">
                <a16:creationId xmlns:a16="http://schemas.microsoft.com/office/drawing/2014/main" id="{BED413AA-CEF8-4CF0-A10A-0DBEA72F7580}"/>
              </a:ext>
            </a:extLst>
          </p:cNvPr>
          <p:cNvSpPr>
            <a:spLocks xmlns:a="http://schemas.openxmlformats.org/drawingml/2006/main" noGrp="1"/>
          </p:cNvSpPr>
          <p:nvPr/>
        </p:nvSpPr>
        <p:spPr>
          <a:xfrm xmlns:a="http://schemas.openxmlformats.org/drawingml/2006/main">
            <a:off x="3143250" y="2133600"/>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526779"/>
                </a:solidFill>
                <a:latin typeface="Aptos"/>
                <a:ea typeface="Aptos"/>
                <a:cs typeface="Aptos"/>
              </a:defRPr>
            </a:defPPr>
          </a:lstStyle>
          <a:p xmlns:a="http://schemas.openxmlformats.org/drawingml/2006/main">
            <a:pPr algn="ctr">
              <a:defRPr sz="1350" b="1">
                <a:solidFill>
                  <a:srgbClr val="526779"/>
                </a:solidFill>
                <a:latin typeface="Aptos"/>
                <a:ea typeface="Aptos"/>
                <a:cs typeface="Aptos"/>
              </a:defRPr>
            </a:pPr>
            <a:r>
              <a:rPr sz="1350" b="1">
                <a:solidFill>
                  <a:srgbClr val="526779"/>
                </a:solidFill>
                <a:latin typeface="Aptos"/>
                <a:ea typeface="Aptos"/>
                <a:cs typeface="Aptos"/>
              </a:rPr>
              <a:t>EN</a:t>
            </a:r>
          </a:p>
        </p:txBody>
      </p:sp>
      <p:sp>
        <p:nvSpPr>
          <p:cNvPr id="7" name="">
            <a:extLst xmlns:a="http://schemas.openxmlformats.org/drawingml/2006/main">
              <a:ext uri="{FF2B5EF4-FFF2-40B4-BE49-F238E27FC236}">
                <a16:creationId xmlns:a16="http://schemas.microsoft.com/office/drawing/2014/main" id="{B179DBFE-72A7-49FC-810F-4B9F0C35EB73}"/>
              </a:ext>
            </a:extLst>
          </p:cNvPr>
          <p:cNvSpPr>
            <a:spLocks xmlns:a="http://schemas.openxmlformats.org/drawingml/2006/main" noGrp="1"/>
          </p:cNvSpPr>
          <p:nvPr/>
        </p:nvSpPr>
        <p:spPr>
          <a:xfrm xmlns:a="http://schemas.openxmlformats.org/drawingml/2006/main">
            <a:off x="4857750" y="2133600"/>
            <a:ext cx="1676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526779"/>
                </a:solidFill>
                <a:latin typeface="Aptos"/>
                <a:ea typeface="Aptos"/>
                <a:cs typeface="Aptos"/>
              </a:defRPr>
            </a:defPPr>
          </a:lstStyle>
          <a:p xmlns:a="http://schemas.openxmlformats.org/drawingml/2006/main">
            <a:pPr algn="ctr">
              <a:defRPr sz="1350" b="1">
                <a:solidFill>
                  <a:srgbClr val="526779"/>
                </a:solidFill>
                <a:latin typeface="Aptos"/>
                <a:ea typeface="Aptos"/>
                <a:cs typeface="Aptos"/>
              </a:defRPr>
            </a:pPr>
            <a:r>
              <a:rPr sz="1350" b="1">
                <a:solidFill>
                  <a:srgbClr val="526779"/>
                </a:solidFill>
                <a:latin typeface="Aptos"/>
                <a:ea typeface="Aptos"/>
                <a:cs typeface="Aptos"/>
              </a:rPr>
              <a:t>D input</a:t>
            </a:r>
          </a:p>
        </p:txBody>
      </p:sp>
      <p:sp>
        <p:nvSpPr>
          <p:cNvPr id="8" name="">
            <a:extLst xmlns:a="http://schemas.openxmlformats.org/drawingml/2006/main">
              <a:ext uri="{FF2B5EF4-FFF2-40B4-BE49-F238E27FC236}">
                <a16:creationId xmlns:a16="http://schemas.microsoft.com/office/drawing/2014/main" id="{A693C8D4-BC41-46C9-A09D-149DC738021B}"/>
              </a:ext>
            </a:extLst>
          </p:cNvPr>
          <p:cNvSpPr>
            <a:spLocks xmlns:a="http://schemas.openxmlformats.org/drawingml/2006/main" noGrp="1"/>
          </p:cNvSpPr>
          <p:nvPr/>
        </p:nvSpPr>
        <p:spPr>
          <a:xfrm xmlns:a="http://schemas.openxmlformats.org/drawingml/2006/main">
            <a:off x="6743700" y="21336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526779"/>
                </a:solidFill>
                <a:latin typeface="Aptos"/>
                <a:ea typeface="Aptos"/>
                <a:cs typeface="Aptos"/>
              </a:defRPr>
            </a:defPPr>
          </a:lstStyle>
          <a:p xmlns:a="http://schemas.openxmlformats.org/drawingml/2006/main">
            <a:pPr algn="ctr">
              <a:defRPr sz="1350" b="1">
                <a:solidFill>
                  <a:srgbClr val="526779"/>
                </a:solidFill>
                <a:latin typeface="Aptos"/>
                <a:ea typeface="Aptos"/>
                <a:cs typeface="Aptos"/>
              </a:defRPr>
            </a:pPr>
            <a:r>
              <a:rPr sz="1350" b="1">
                <a:solidFill>
                  <a:srgbClr val="526779"/>
                </a:solidFill>
                <a:latin typeface="Aptos"/>
                <a:ea typeface="Aptos"/>
                <a:cs typeface="Aptos"/>
              </a:rPr>
              <a:t>Q before edge</a:t>
            </a:r>
          </a:p>
        </p:txBody>
      </p:sp>
      <p:sp>
        <p:nvSpPr>
          <p:cNvPr id="9" name="">
            <a:extLst xmlns:a="http://schemas.openxmlformats.org/drawingml/2006/main">
              <a:ext uri="{FF2B5EF4-FFF2-40B4-BE49-F238E27FC236}">
                <a16:creationId xmlns:a16="http://schemas.microsoft.com/office/drawing/2014/main" id="{CE7EA4E4-A8F4-41CB-AC16-F664FEAF1800}"/>
              </a:ext>
            </a:extLst>
          </p:cNvPr>
          <p:cNvSpPr>
            <a:spLocks xmlns:a="http://schemas.openxmlformats.org/drawingml/2006/main" noGrp="1"/>
          </p:cNvSpPr>
          <p:nvPr/>
        </p:nvSpPr>
        <p:spPr>
          <a:xfrm xmlns:a="http://schemas.openxmlformats.org/drawingml/2006/main">
            <a:off x="8991600" y="21336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526779"/>
                </a:solidFill>
                <a:latin typeface="Aptos"/>
                <a:ea typeface="Aptos"/>
                <a:cs typeface="Aptos"/>
              </a:defRPr>
            </a:defPPr>
          </a:lstStyle>
          <a:p xmlns:a="http://schemas.openxmlformats.org/drawingml/2006/main">
            <a:pPr algn="ctr">
              <a:defRPr sz="1350" b="1">
                <a:solidFill>
                  <a:srgbClr val="526779"/>
                </a:solidFill>
                <a:latin typeface="Aptos"/>
                <a:ea typeface="Aptos"/>
                <a:cs typeface="Aptos"/>
              </a:defRPr>
            </a:pPr>
            <a:r>
              <a:rPr sz="1350" b="1">
                <a:solidFill>
                  <a:srgbClr val="526779"/>
                </a:solidFill>
                <a:latin typeface="Aptos"/>
                <a:ea typeface="Aptos"/>
                <a:cs typeface="Aptos"/>
              </a:rPr>
              <a:t>Q after edge</a:t>
            </a:r>
          </a:p>
        </p:txBody>
      </p:sp>
      <p:sp>
        <p:nvSpPr>
          <p:cNvPr id="10" name="">
            <a:extLst xmlns:a="http://schemas.openxmlformats.org/drawingml/2006/main">
              <a:ext uri="{FF2B5EF4-FFF2-40B4-BE49-F238E27FC236}">
                <a16:creationId xmlns:a16="http://schemas.microsoft.com/office/drawing/2014/main" id="{43FF93A8-B8C8-4100-B893-3725B2DF2FF7}"/>
              </a:ext>
            </a:extLst>
          </p:cNvPr>
          <p:cNvSpPr>
            <a:spLocks xmlns:a="http://schemas.openxmlformats.org/drawingml/2006/main" noGrp="1"/>
          </p:cNvSpPr>
          <p:nvPr/>
        </p:nvSpPr>
        <p:spPr>
          <a:xfrm xmlns:a="http://schemas.openxmlformats.org/drawingml/2006/main">
            <a:off x="685800" y="2514600"/>
            <a:ext cx="10363200" cy="0"/>
          </a:xfrm>
          <a:prstGeom xmlns:a="http://schemas.openxmlformats.org/drawingml/2006/main" prst="line">
            <a:avLst/>
          </a:prstGeom>
          <a:noFill xmlns:a="http://schemas.openxmlformats.org/drawingml/2006/main"/>
          <a:ln xmlns:a="http://schemas.openxmlformats.org/drawingml/2006/main" w="19050">
            <a:solidFill>
              <a:srgbClr val="10243A"/>
            </a:solidFill>
            <a:prstDash val="solid"/>
          </a:ln>
        </p:spPr>
      </p:sp>
      <p:sp>
        <p:nvSpPr>
          <p:cNvPr id="11" name="">
            <a:extLst xmlns:a="http://schemas.openxmlformats.org/drawingml/2006/main">
              <a:ext uri="{FF2B5EF4-FFF2-40B4-BE49-F238E27FC236}">
                <a16:creationId xmlns:a16="http://schemas.microsoft.com/office/drawing/2014/main" id="{136C21B0-A6E5-48DD-8B45-CBBD1A2B9714}"/>
              </a:ext>
            </a:extLst>
          </p:cNvPr>
          <p:cNvSpPr>
            <a:spLocks xmlns:a="http://schemas.openxmlformats.org/drawingml/2006/main" noGrp="1"/>
          </p:cNvSpPr>
          <p:nvPr/>
        </p:nvSpPr>
        <p:spPr>
          <a:xfrm xmlns:a="http://schemas.openxmlformats.org/drawingml/2006/main">
            <a:off x="685800" y="2676525"/>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162B3D"/>
                </a:solidFill>
                <a:latin typeface="Aptos"/>
                <a:ea typeface="Aptos"/>
                <a:cs typeface="Aptos"/>
              </a:defRPr>
            </a:defPPr>
          </a:lstStyle>
          <a:p xmlns:a="http://schemas.openxmlformats.org/drawingml/2006/main">
            <a:pPr algn="ctr">
              <a:defRPr sz="1425" b="0">
                <a:solidFill>
                  <a:srgbClr val="162B3D"/>
                </a:solidFill>
                <a:latin typeface="Aptos"/>
                <a:ea typeface="Aptos"/>
                <a:cs typeface="Aptos"/>
              </a:defRPr>
            </a:pPr>
            <a:r>
              <a:rPr sz="1425" b="0">
                <a:solidFill>
                  <a:srgbClr val="162B3D"/>
                </a:solidFill>
                <a:latin typeface="Aptos"/>
                <a:ea typeface="Aptos"/>
                <a:cs typeface="Aptos"/>
              </a:rPr>
              <a:t>Rising edge 1</a:t>
            </a:r>
          </a:p>
        </p:txBody>
      </p:sp>
      <p:sp>
        <p:nvSpPr>
          <p:cNvPr id="12" name="">
            <a:extLst xmlns:a="http://schemas.openxmlformats.org/drawingml/2006/main">
              <a:ext uri="{FF2B5EF4-FFF2-40B4-BE49-F238E27FC236}">
                <a16:creationId xmlns:a16="http://schemas.microsoft.com/office/drawing/2014/main" id="{9821C1E8-4561-4603-ABB8-689BF4E64059}"/>
              </a:ext>
            </a:extLst>
          </p:cNvPr>
          <p:cNvSpPr>
            <a:spLocks xmlns:a="http://schemas.openxmlformats.org/drawingml/2006/main" noGrp="1"/>
          </p:cNvSpPr>
          <p:nvPr/>
        </p:nvSpPr>
        <p:spPr>
          <a:xfrm xmlns:a="http://schemas.openxmlformats.org/drawingml/2006/main">
            <a:off x="3143250" y="2676525"/>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E88B3A"/>
                </a:solidFill>
                <a:latin typeface="Aptos"/>
                <a:ea typeface="Aptos"/>
                <a:cs typeface="Aptos"/>
              </a:defRPr>
            </a:defPPr>
          </a:lstStyle>
          <a:p xmlns:a="http://schemas.openxmlformats.org/drawingml/2006/main">
            <a:pPr algn="ctr">
              <a:defRPr sz="1575" b="1">
                <a:solidFill>
                  <a:srgbClr val="E88B3A"/>
                </a:solidFill>
                <a:latin typeface="Aptos"/>
                <a:ea typeface="Aptos"/>
                <a:cs typeface="Aptos"/>
              </a:defRPr>
            </a:pPr>
            <a:r>
              <a:rPr sz="1575" b="1">
                <a:solidFill>
                  <a:srgbClr val="E88B3A"/>
                </a:solidFill>
                <a:latin typeface="Aptos"/>
                <a:ea typeface="Aptos"/>
                <a:cs typeface="Aptos"/>
              </a:rPr>
              <a:t>1</a:t>
            </a:r>
          </a:p>
        </p:txBody>
      </p:sp>
      <p:sp>
        <p:nvSpPr>
          <p:cNvPr id="13" name="">
            <a:extLst xmlns:a="http://schemas.openxmlformats.org/drawingml/2006/main">
              <a:ext uri="{FF2B5EF4-FFF2-40B4-BE49-F238E27FC236}">
                <a16:creationId xmlns:a16="http://schemas.microsoft.com/office/drawing/2014/main" id="{5EDD1C09-3EBC-4E41-83C6-7BD4C75965AE}"/>
              </a:ext>
            </a:extLst>
          </p:cNvPr>
          <p:cNvSpPr>
            <a:spLocks xmlns:a="http://schemas.openxmlformats.org/drawingml/2006/main" noGrp="1"/>
          </p:cNvSpPr>
          <p:nvPr/>
        </p:nvSpPr>
        <p:spPr>
          <a:xfrm xmlns:a="http://schemas.openxmlformats.org/drawingml/2006/main">
            <a:off x="4857750" y="2676525"/>
            <a:ext cx="167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162B3D"/>
                </a:solidFill>
                <a:latin typeface="Aptos"/>
                <a:ea typeface="Aptos"/>
                <a:cs typeface="Aptos"/>
              </a:defRPr>
            </a:defPPr>
          </a:lstStyle>
          <a:p xmlns:a="http://schemas.openxmlformats.org/drawingml/2006/main">
            <a:pPr algn="ctr">
              <a:defRPr sz="1575" b="0">
                <a:solidFill>
                  <a:srgbClr val="162B3D"/>
                </a:solidFill>
                <a:latin typeface="Aptos"/>
                <a:ea typeface="Aptos"/>
                <a:cs typeface="Aptos"/>
              </a:defRPr>
            </a:pPr>
            <a:r>
              <a:rPr sz="1575" b="0">
                <a:solidFill>
                  <a:srgbClr val="162B3D"/>
                </a:solidFill>
                <a:latin typeface="Aptos"/>
                <a:ea typeface="Aptos"/>
                <a:cs typeface="Aptos"/>
              </a:rPr>
              <a:t>10110110</a:t>
            </a:r>
          </a:p>
        </p:txBody>
      </p:sp>
      <p:sp>
        <p:nvSpPr>
          <p:cNvPr id="14" name="">
            <a:extLst xmlns:a="http://schemas.openxmlformats.org/drawingml/2006/main">
              <a:ext uri="{FF2B5EF4-FFF2-40B4-BE49-F238E27FC236}">
                <a16:creationId xmlns:a16="http://schemas.microsoft.com/office/drawing/2014/main" id="{74AB756D-AFA5-4C73-9B6D-9CBA735995EC}"/>
              </a:ext>
            </a:extLst>
          </p:cNvPr>
          <p:cNvSpPr>
            <a:spLocks xmlns:a="http://schemas.openxmlformats.org/drawingml/2006/main" noGrp="1"/>
          </p:cNvSpPr>
          <p:nvPr/>
        </p:nvSpPr>
        <p:spPr>
          <a:xfrm xmlns:a="http://schemas.openxmlformats.org/drawingml/2006/main">
            <a:off x="6743700" y="267652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162B3D"/>
                </a:solidFill>
                <a:latin typeface="Aptos"/>
                <a:ea typeface="Aptos"/>
                <a:cs typeface="Aptos"/>
              </a:defRPr>
            </a:defPPr>
          </a:lstStyle>
          <a:p xmlns:a="http://schemas.openxmlformats.org/drawingml/2006/main">
            <a:pPr algn="ctr">
              <a:defRPr sz="1575" b="0">
                <a:solidFill>
                  <a:srgbClr val="162B3D"/>
                </a:solidFill>
                <a:latin typeface="Aptos"/>
                <a:ea typeface="Aptos"/>
                <a:cs typeface="Aptos"/>
              </a:defRPr>
            </a:pPr>
            <a:r>
              <a:rPr sz="1575" b="0">
                <a:solidFill>
                  <a:srgbClr val="162B3D"/>
                </a:solidFill>
                <a:latin typeface="Aptos"/>
                <a:ea typeface="Aptos"/>
                <a:cs typeface="Aptos"/>
              </a:rPr>
              <a:t>unknown / prior</a:t>
            </a:r>
          </a:p>
        </p:txBody>
      </p:sp>
      <p:sp>
        <p:nvSpPr>
          <p:cNvPr id="15" name="">
            <a:extLst xmlns:a="http://schemas.openxmlformats.org/drawingml/2006/main">
              <a:ext uri="{FF2B5EF4-FFF2-40B4-BE49-F238E27FC236}">
                <a16:creationId xmlns:a16="http://schemas.microsoft.com/office/drawing/2014/main" id="{EE24A695-B8A3-46ED-8231-86F882AE3C86}"/>
              </a:ext>
            </a:extLst>
          </p:cNvPr>
          <p:cNvSpPr>
            <a:spLocks xmlns:a="http://schemas.openxmlformats.org/drawingml/2006/main" noGrp="1"/>
          </p:cNvSpPr>
          <p:nvPr/>
        </p:nvSpPr>
        <p:spPr>
          <a:xfrm xmlns:a="http://schemas.openxmlformats.org/drawingml/2006/main">
            <a:off x="8991600" y="26765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317B63"/>
                </a:solidFill>
                <a:latin typeface="Aptos"/>
                <a:ea typeface="Aptos"/>
                <a:cs typeface="Aptos"/>
              </a:defRPr>
            </a:defPPr>
          </a:lstStyle>
          <a:p xmlns:a="http://schemas.openxmlformats.org/drawingml/2006/main">
            <a:pPr algn="ctr">
              <a:defRPr sz="1575" b="1">
                <a:solidFill>
                  <a:srgbClr val="317B63"/>
                </a:solidFill>
                <a:latin typeface="Aptos"/>
                <a:ea typeface="Aptos"/>
                <a:cs typeface="Aptos"/>
              </a:defRPr>
            </a:pPr>
            <a:r>
              <a:rPr sz="1575" b="1">
                <a:solidFill>
                  <a:srgbClr val="317B63"/>
                </a:solidFill>
                <a:latin typeface="Aptos"/>
                <a:ea typeface="Aptos"/>
                <a:cs typeface="Aptos"/>
              </a:rPr>
              <a:t>10110110</a:t>
            </a:r>
          </a:p>
        </p:txBody>
      </p:sp>
      <p:sp>
        <p:nvSpPr>
          <p:cNvPr id="16" name="">
            <a:extLst xmlns:a="http://schemas.openxmlformats.org/drawingml/2006/main">
              <a:ext uri="{FF2B5EF4-FFF2-40B4-BE49-F238E27FC236}">
                <a16:creationId xmlns:a16="http://schemas.microsoft.com/office/drawing/2014/main" id="{C8F1754C-524A-43F0-A1A0-4F8C4F84C603}"/>
              </a:ext>
            </a:extLst>
          </p:cNvPr>
          <p:cNvSpPr>
            <a:spLocks xmlns:a="http://schemas.openxmlformats.org/drawingml/2006/main" noGrp="1"/>
          </p:cNvSpPr>
          <p:nvPr/>
        </p:nvSpPr>
        <p:spPr>
          <a:xfrm xmlns:a="http://schemas.openxmlformats.org/drawingml/2006/main">
            <a:off x="685800" y="3228975"/>
            <a:ext cx="10363200"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17" name="">
            <a:extLst xmlns:a="http://schemas.openxmlformats.org/drawingml/2006/main">
              <a:ext uri="{FF2B5EF4-FFF2-40B4-BE49-F238E27FC236}">
                <a16:creationId xmlns:a16="http://schemas.microsoft.com/office/drawing/2014/main" id="{BFF9F813-B364-4035-9240-F98EA32F1E4B}"/>
              </a:ext>
            </a:extLst>
          </p:cNvPr>
          <p:cNvSpPr>
            <a:spLocks xmlns:a="http://schemas.openxmlformats.org/drawingml/2006/main" noGrp="1"/>
          </p:cNvSpPr>
          <p:nvPr/>
        </p:nvSpPr>
        <p:spPr>
          <a:xfrm xmlns:a="http://schemas.openxmlformats.org/drawingml/2006/main">
            <a:off x="685800" y="3457575"/>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162B3D"/>
                </a:solidFill>
                <a:latin typeface="Aptos"/>
                <a:ea typeface="Aptos"/>
                <a:cs typeface="Aptos"/>
              </a:defRPr>
            </a:defPPr>
          </a:lstStyle>
          <a:p xmlns:a="http://schemas.openxmlformats.org/drawingml/2006/main">
            <a:pPr algn="ctr">
              <a:defRPr sz="1425" b="0">
                <a:solidFill>
                  <a:srgbClr val="162B3D"/>
                </a:solidFill>
                <a:latin typeface="Aptos"/>
                <a:ea typeface="Aptos"/>
                <a:cs typeface="Aptos"/>
              </a:defRPr>
            </a:pPr>
            <a:r>
              <a:rPr sz="1425" b="0">
                <a:solidFill>
                  <a:srgbClr val="162B3D"/>
                </a:solidFill>
                <a:latin typeface="Aptos"/>
                <a:ea typeface="Aptos"/>
                <a:cs typeface="Aptos"/>
              </a:rPr>
              <a:t>Rising edge 2</a:t>
            </a:r>
          </a:p>
        </p:txBody>
      </p:sp>
      <p:sp>
        <p:nvSpPr>
          <p:cNvPr id="18" name="">
            <a:extLst xmlns:a="http://schemas.openxmlformats.org/drawingml/2006/main">
              <a:ext uri="{FF2B5EF4-FFF2-40B4-BE49-F238E27FC236}">
                <a16:creationId xmlns:a16="http://schemas.microsoft.com/office/drawing/2014/main" id="{04B91399-5251-4249-8BA7-CECC7A757D30}"/>
              </a:ext>
            </a:extLst>
          </p:cNvPr>
          <p:cNvSpPr>
            <a:spLocks xmlns:a="http://schemas.openxmlformats.org/drawingml/2006/main" noGrp="1"/>
          </p:cNvSpPr>
          <p:nvPr/>
        </p:nvSpPr>
        <p:spPr>
          <a:xfrm xmlns:a="http://schemas.openxmlformats.org/drawingml/2006/main">
            <a:off x="3143250" y="3457575"/>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E88B3A"/>
                </a:solidFill>
                <a:latin typeface="Aptos"/>
                <a:ea typeface="Aptos"/>
                <a:cs typeface="Aptos"/>
              </a:defRPr>
            </a:defPPr>
          </a:lstStyle>
          <a:p xmlns:a="http://schemas.openxmlformats.org/drawingml/2006/main">
            <a:pPr algn="ctr">
              <a:defRPr sz="1575" b="1">
                <a:solidFill>
                  <a:srgbClr val="E88B3A"/>
                </a:solidFill>
                <a:latin typeface="Aptos"/>
                <a:ea typeface="Aptos"/>
                <a:cs typeface="Aptos"/>
              </a:defRPr>
            </a:pPr>
            <a:r>
              <a:rPr sz="1575" b="1">
                <a:solidFill>
                  <a:srgbClr val="E88B3A"/>
                </a:solidFill>
                <a:latin typeface="Aptos"/>
                <a:ea typeface="Aptos"/>
                <a:cs typeface="Aptos"/>
              </a:rPr>
              <a:t>0</a:t>
            </a:r>
          </a:p>
        </p:txBody>
      </p:sp>
      <p:sp>
        <p:nvSpPr>
          <p:cNvPr id="19" name="">
            <a:extLst xmlns:a="http://schemas.openxmlformats.org/drawingml/2006/main">
              <a:ext uri="{FF2B5EF4-FFF2-40B4-BE49-F238E27FC236}">
                <a16:creationId xmlns:a16="http://schemas.microsoft.com/office/drawing/2014/main" id="{9EB59798-9DEB-4FD3-B0D9-5F257021A498}"/>
              </a:ext>
            </a:extLst>
          </p:cNvPr>
          <p:cNvSpPr>
            <a:spLocks xmlns:a="http://schemas.openxmlformats.org/drawingml/2006/main" noGrp="1"/>
          </p:cNvSpPr>
          <p:nvPr/>
        </p:nvSpPr>
        <p:spPr>
          <a:xfrm xmlns:a="http://schemas.openxmlformats.org/drawingml/2006/main">
            <a:off x="4857750" y="3457575"/>
            <a:ext cx="167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162B3D"/>
                </a:solidFill>
                <a:latin typeface="Aptos"/>
                <a:ea typeface="Aptos"/>
                <a:cs typeface="Aptos"/>
              </a:defRPr>
            </a:defPPr>
          </a:lstStyle>
          <a:p xmlns:a="http://schemas.openxmlformats.org/drawingml/2006/main">
            <a:pPr algn="ctr">
              <a:defRPr sz="1575" b="0">
                <a:solidFill>
                  <a:srgbClr val="162B3D"/>
                </a:solidFill>
                <a:latin typeface="Aptos"/>
                <a:ea typeface="Aptos"/>
                <a:cs typeface="Aptos"/>
              </a:defRPr>
            </a:pPr>
            <a:r>
              <a:rPr sz="1575" b="0">
                <a:solidFill>
                  <a:srgbClr val="162B3D"/>
                </a:solidFill>
                <a:latin typeface="Aptos"/>
                <a:ea typeface="Aptos"/>
                <a:cs typeface="Aptos"/>
              </a:rPr>
              <a:t>00111100</a:t>
            </a:r>
          </a:p>
        </p:txBody>
      </p:sp>
      <p:sp>
        <p:nvSpPr>
          <p:cNvPr id="20" name="">
            <a:extLst xmlns:a="http://schemas.openxmlformats.org/drawingml/2006/main">
              <a:ext uri="{FF2B5EF4-FFF2-40B4-BE49-F238E27FC236}">
                <a16:creationId xmlns:a16="http://schemas.microsoft.com/office/drawing/2014/main" id="{A3F5788D-46D8-42BB-A8D4-316C8E5CE39B}"/>
              </a:ext>
            </a:extLst>
          </p:cNvPr>
          <p:cNvSpPr>
            <a:spLocks xmlns:a="http://schemas.openxmlformats.org/drawingml/2006/main" noGrp="1"/>
          </p:cNvSpPr>
          <p:nvPr/>
        </p:nvSpPr>
        <p:spPr>
          <a:xfrm xmlns:a="http://schemas.openxmlformats.org/drawingml/2006/main">
            <a:off x="6743700" y="345757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162B3D"/>
                </a:solidFill>
                <a:latin typeface="Aptos"/>
                <a:ea typeface="Aptos"/>
                <a:cs typeface="Aptos"/>
              </a:defRPr>
            </a:defPPr>
          </a:lstStyle>
          <a:p xmlns:a="http://schemas.openxmlformats.org/drawingml/2006/main">
            <a:pPr algn="ctr">
              <a:defRPr sz="1575" b="0">
                <a:solidFill>
                  <a:srgbClr val="162B3D"/>
                </a:solidFill>
                <a:latin typeface="Aptos"/>
                <a:ea typeface="Aptos"/>
                <a:cs typeface="Aptos"/>
              </a:defRPr>
            </a:pPr>
            <a:r>
              <a:rPr sz="1575" b="0">
                <a:solidFill>
                  <a:srgbClr val="162B3D"/>
                </a:solidFill>
                <a:latin typeface="Aptos"/>
                <a:ea typeface="Aptos"/>
                <a:cs typeface="Aptos"/>
              </a:rPr>
              <a:t>10110110</a:t>
            </a:r>
          </a:p>
        </p:txBody>
      </p:sp>
      <p:sp>
        <p:nvSpPr>
          <p:cNvPr id="21" name="">
            <a:extLst xmlns:a="http://schemas.openxmlformats.org/drawingml/2006/main">
              <a:ext uri="{FF2B5EF4-FFF2-40B4-BE49-F238E27FC236}">
                <a16:creationId xmlns:a16="http://schemas.microsoft.com/office/drawing/2014/main" id="{E4B8579A-94BC-46DF-81C2-7859632AE69C}"/>
              </a:ext>
            </a:extLst>
          </p:cNvPr>
          <p:cNvSpPr>
            <a:spLocks xmlns:a="http://schemas.openxmlformats.org/drawingml/2006/main" noGrp="1"/>
          </p:cNvSpPr>
          <p:nvPr/>
        </p:nvSpPr>
        <p:spPr>
          <a:xfrm xmlns:a="http://schemas.openxmlformats.org/drawingml/2006/main">
            <a:off x="8991600" y="3457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317B63"/>
                </a:solidFill>
                <a:latin typeface="Aptos"/>
                <a:ea typeface="Aptos"/>
                <a:cs typeface="Aptos"/>
              </a:defRPr>
            </a:defPPr>
          </a:lstStyle>
          <a:p xmlns:a="http://schemas.openxmlformats.org/drawingml/2006/main">
            <a:pPr algn="ctr">
              <a:defRPr sz="1575" b="1">
                <a:solidFill>
                  <a:srgbClr val="317B63"/>
                </a:solidFill>
                <a:latin typeface="Aptos"/>
                <a:ea typeface="Aptos"/>
                <a:cs typeface="Aptos"/>
              </a:defRPr>
            </a:pPr>
            <a:r>
              <a:rPr sz="1575" b="1">
                <a:solidFill>
                  <a:srgbClr val="317B63"/>
                </a:solidFill>
                <a:latin typeface="Aptos"/>
                <a:ea typeface="Aptos"/>
                <a:cs typeface="Aptos"/>
              </a:rPr>
              <a:t>10110110</a:t>
            </a:r>
          </a:p>
        </p:txBody>
      </p:sp>
      <p:sp>
        <p:nvSpPr>
          <p:cNvPr id="22" name="">
            <a:extLst xmlns:a="http://schemas.openxmlformats.org/drawingml/2006/main">
              <a:ext uri="{FF2B5EF4-FFF2-40B4-BE49-F238E27FC236}">
                <a16:creationId xmlns:a16="http://schemas.microsoft.com/office/drawing/2014/main" id="{64BE363E-30D9-43AE-8E4E-1F27FBD8EC49}"/>
              </a:ext>
            </a:extLst>
          </p:cNvPr>
          <p:cNvSpPr>
            <a:spLocks xmlns:a="http://schemas.openxmlformats.org/drawingml/2006/main" noGrp="1"/>
          </p:cNvSpPr>
          <p:nvPr/>
        </p:nvSpPr>
        <p:spPr>
          <a:xfrm xmlns:a="http://schemas.openxmlformats.org/drawingml/2006/main">
            <a:off x="685800" y="4010025"/>
            <a:ext cx="10363200"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23" name="">
            <a:extLst xmlns:a="http://schemas.openxmlformats.org/drawingml/2006/main">
              <a:ext uri="{FF2B5EF4-FFF2-40B4-BE49-F238E27FC236}">
                <a16:creationId xmlns:a16="http://schemas.microsoft.com/office/drawing/2014/main" id="{8B513F49-63E9-45CB-81AB-D12C08E44971}"/>
              </a:ext>
            </a:extLst>
          </p:cNvPr>
          <p:cNvSpPr>
            <a:spLocks xmlns:a="http://schemas.openxmlformats.org/drawingml/2006/main" noGrp="1"/>
          </p:cNvSpPr>
          <p:nvPr/>
        </p:nvSpPr>
        <p:spPr>
          <a:xfrm xmlns:a="http://schemas.openxmlformats.org/drawingml/2006/main">
            <a:off x="685800" y="4238625"/>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162B3D"/>
                </a:solidFill>
                <a:latin typeface="Aptos"/>
                <a:ea typeface="Aptos"/>
                <a:cs typeface="Aptos"/>
              </a:defRPr>
            </a:defPPr>
          </a:lstStyle>
          <a:p xmlns:a="http://schemas.openxmlformats.org/drawingml/2006/main">
            <a:pPr algn="ctr">
              <a:defRPr sz="1425" b="0">
                <a:solidFill>
                  <a:srgbClr val="162B3D"/>
                </a:solidFill>
                <a:latin typeface="Aptos"/>
                <a:ea typeface="Aptos"/>
                <a:cs typeface="Aptos"/>
              </a:defRPr>
            </a:pPr>
            <a:r>
              <a:rPr sz="1425" b="0">
                <a:solidFill>
                  <a:srgbClr val="162B3D"/>
                </a:solidFill>
                <a:latin typeface="Aptos"/>
                <a:ea typeface="Aptos"/>
                <a:cs typeface="Aptos"/>
              </a:rPr>
              <a:t>Rising edge 3</a:t>
            </a:r>
          </a:p>
        </p:txBody>
      </p:sp>
      <p:sp>
        <p:nvSpPr>
          <p:cNvPr id="24" name="">
            <a:extLst xmlns:a="http://schemas.openxmlformats.org/drawingml/2006/main">
              <a:ext uri="{FF2B5EF4-FFF2-40B4-BE49-F238E27FC236}">
                <a16:creationId xmlns:a16="http://schemas.microsoft.com/office/drawing/2014/main" id="{346A6E0D-1B7D-4E1F-A73C-BECF52B7EBAE}"/>
              </a:ext>
            </a:extLst>
          </p:cNvPr>
          <p:cNvSpPr>
            <a:spLocks xmlns:a="http://schemas.openxmlformats.org/drawingml/2006/main" noGrp="1"/>
          </p:cNvSpPr>
          <p:nvPr/>
        </p:nvSpPr>
        <p:spPr>
          <a:xfrm xmlns:a="http://schemas.openxmlformats.org/drawingml/2006/main">
            <a:off x="3143250" y="4238625"/>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E88B3A"/>
                </a:solidFill>
                <a:latin typeface="Aptos"/>
                <a:ea typeface="Aptos"/>
                <a:cs typeface="Aptos"/>
              </a:defRPr>
            </a:defPPr>
          </a:lstStyle>
          <a:p xmlns:a="http://schemas.openxmlformats.org/drawingml/2006/main">
            <a:pPr algn="ctr">
              <a:defRPr sz="1575" b="1">
                <a:solidFill>
                  <a:srgbClr val="E88B3A"/>
                </a:solidFill>
                <a:latin typeface="Aptos"/>
                <a:ea typeface="Aptos"/>
                <a:cs typeface="Aptos"/>
              </a:defRPr>
            </a:pPr>
            <a:r>
              <a:rPr sz="1575" b="1">
                <a:solidFill>
                  <a:srgbClr val="E88B3A"/>
                </a:solidFill>
                <a:latin typeface="Aptos"/>
                <a:ea typeface="Aptos"/>
                <a:cs typeface="Aptos"/>
              </a:rPr>
              <a:t>1</a:t>
            </a:r>
          </a:p>
        </p:txBody>
      </p:sp>
      <p:sp>
        <p:nvSpPr>
          <p:cNvPr id="25" name="">
            <a:extLst xmlns:a="http://schemas.openxmlformats.org/drawingml/2006/main">
              <a:ext uri="{FF2B5EF4-FFF2-40B4-BE49-F238E27FC236}">
                <a16:creationId xmlns:a16="http://schemas.microsoft.com/office/drawing/2014/main" id="{D4307FAE-5A72-4763-9A09-954AB865B2CA}"/>
              </a:ext>
            </a:extLst>
          </p:cNvPr>
          <p:cNvSpPr>
            <a:spLocks xmlns:a="http://schemas.openxmlformats.org/drawingml/2006/main" noGrp="1"/>
          </p:cNvSpPr>
          <p:nvPr/>
        </p:nvSpPr>
        <p:spPr>
          <a:xfrm xmlns:a="http://schemas.openxmlformats.org/drawingml/2006/main">
            <a:off x="4857750" y="4238625"/>
            <a:ext cx="167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162B3D"/>
                </a:solidFill>
                <a:latin typeface="Aptos"/>
                <a:ea typeface="Aptos"/>
                <a:cs typeface="Aptos"/>
              </a:defRPr>
            </a:defPPr>
          </a:lstStyle>
          <a:p xmlns:a="http://schemas.openxmlformats.org/drawingml/2006/main">
            <a:pPr algn="ctr">
              <a:defRPr sz="1575" b="0">
                <a:solidFill>
                  <a:srgbClr val="162B3D"/>
                </a:solidFill>
                <a:latin typeface="Aptos"/>
                <a:ea typeface="Aptos"/>
                <a:cs typeface="Aptos"/>
              </a:defRPr>
            </a:pPr>
            <a:r>
              <a:rPr sz="1575" b="0">
                <a:solidFill>
                  <a:srgbClr val="162B3D"/>
                </a:solidFill>
                <a:latin typeface="Aptos"/>
                <a:ea typeface="Aptos"/>
                <a:cs typeface="Aptos"/>
              </a:rPr>
              <a:t>00111100</a:t>
            </a:r>
          </a:p>
        </p:txBody>
      </p:sp>
      <p:sp>
        <p:nvSpPr>
          <p:cNvPr id="26" name="">
            <a:extLst xmlns:a="http://schemas.openxmlformats.org/drawingml/2006/main">
              <a:ext uri="{FF2B5EF4-FFF2-40B4-BE49-F238E27FC236}">
                <a16:creationId xmlns:a16="http://schemas.microsoft.com/office/drawing/2014/main" id="{2FDA2A85-26D9-406E-8410-0148B6FBE256}"/>
              </a:ext>
            </a:extLst>
          </p:cNvPr>
          <p:cNvSpPr>
            <a:spLocks xmlns:a="http://schemas.openxmlformats.org/drawingml/2006/main" noGrp="1"/>
          </p:cNvSpPr>
          <p:nvPr/>
        </p:nvSpPr>
        <p:spPr>
          <a:xfrm xmlns:a="http://schemas.openxmlformats.org/drawingml/2006/main">
            <a:off x="6743700" y="4238625"/>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162B3D"/>
                </a:solidFill>
                <a:latin typeface="Aptos"/>
                <a:ea typeface="Aptos"/>
                <a:cs typeface="Aptos"/>
              </a:defRPr>
            </a:defPPr>
          </a:lstStyle>
          <a:p xmlns:a="http://schemas.openxmlformats.org/drawingml/2006/main">
            <a:pPr algn="ctr">
              <a:defRPr sz="1575" b="0">
                <a:solidFill>
                  <a:srgbClr val="162B3D"/>
                </a:solidFill>
                <a:latin typeface="Aptos"/>
                <a:ea typeface="Aptos"/>
                <a:cs typeface="Aptos"/>
              </a:defRPr>
            </a:pPr>
            <a:r>
              <a:rPr sz="1575" b="0">
                <a:solidFill>
                  <a:srgbClr val="162B3D"/>
                </a:solidFill>
                <a:latin typeface="Aptos"/>
                <a:ea typeface="Aptos"/>
                <a:cs typeface="Aptos"/>
              </a:rPr>
              <a:t>10110110</a:t>
            </a:r>
          </a:p>
        </p:txBody>
      </p:sp>
      <p:sp>
        <p:nvSpPr>
          <p:cNvPr id="27" name="">
            <a:extLst xmlns:a="http://schemas.openxmlformats.org/drawingml/2006/main">
              <a:ext uri="{FF2B5EF4-FFF2-40B4-BE49-F238E27FC236}">
                <a16:creationId xmlns:a16="http://schemas.microsoft.com/office/drawing/2014/main" id="{B8240A52-F3EB-4A7B-800D-02643E27B0A7}"/>
              </a:ext>
            </a:extLst>
          </p:cNvPr>
          <p:cNvSpPr>
            <a:spLocks xmlns:a="http://schemas.openxmlformats.org/drawingml/2006/main" noGrp="1"/>
          </p:cNvSpPr>
          <p:nvPr/>
        </p:nvSpPr>
        <p:spPr>
          <a:xfrm xmlns:a="http://schemas.openxmlformats.org/drawingml/2006/main">
            <a:off x="8991600" y="42386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317B63"/>
                </a:solidFill>
                <a:latin typeface="Aptos"/>
                <a:ea typeface="Aptos"/>
                <a:cs typeface="Aptos"/>
              </a:defRPr>
            </a:defPPr>
          </a:lstStyle>
          <a:p xmlns:a="http://schemas.openxmlformats.org/drawingml/2006/main">
            <a:pPr algn="ctr">
              <a:defRPr sz="1575" b="1">
                <a:solidFill>
                  <a:srgbClr val="317B63"/>
                </a:solidFill>
                <a:latin typeface="Aptos"/>
                <a:ea typeface="Aptos"/>
                <a:cs typeface="Aptos"/>
              </a:defRPr>
            </a:pPr>
            <a:r>
              <a:rPr sz="1575" b="1">
                <a:solidFill>
                  <a:srgbClr val="317B63"/>
                </a:solidFill>
                <a:latin typeface="Aptos"/>
                <a:ea typeface="Aptos"/>
                <a:cs typeface="Aptos"/>
              </a:rPr>
              <a:t>00111100</a:t>
            </a:r>
          </a:p>
        </p:txBody>
      </p:sp>
      <p:sp>
        <p:nvSpPr>
          <p:cNvPr id="28" name="">
            <a:extLst xmlns:a="http://schemas.openxmlformats.org/drawingml/2006/main">
              <a:ext uri="{FF2B5EF4-FFF2-40B4-BE49-F238E27FC236}">
                <a16:creationId xmlns:a16="http://schemas.microsoft.com/office/drawing/2014/main" id="{03F415B8-114F-4ACA-A8AE-E49A9C293797}"/>
              </a:ext>
            </a:extLst>
          </p:cNvPr>
          <p:cNvSpPr>
            <a:spLocks xmlns:a="http://schemas.openxmlformats.org/drawingml/2006/main" noGrp="1"/>
          </p:cNvSpPr>
          <p:nvPr/>
        </p:nvSpPr>
        <p:spPr>
          <a:xfrm xmlns:a="http://schemas.openxmlformats.org/drawingml/2006/main">
            <a:off x="2667000" y="5353050"/>
            <a:ext cx="6191250" cy="495300"/>
          </a:xfrm>
          <a:prstGeom xmlns:a="http://schemas.openxmlformats.org/drawingml/2006/main" prst="roundRect">
            <a:avLst>
              <a:gd name="adj" fmla="val 23077"/>
            </a:avLst>
          </a:prstGeom>
          <a:solidFill xmlns:a="http://schemas.openxmlformats.org/drawingml/2006/main">
            <a:srgbClr val="DDF4F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EC8D173-534C-461F-AA42-8B95846E6D29}"/>
              </a:ext>
            </a:extLst>
          </p:cNvPr>
          <p:cNvSpPr>
            <a:spLocks xmlns:a="http://schemas.openxmlformats.org/drawingml/2006/main" noGrp="1"/>
          </p:cNvSpPr>
          <p:nvPr/>
        </p:nvSpPr>
        <p:spPr>
          <a:xfrm xmlns:a="http://schemas.openxmlformats.org/drawingml/2006/main">
            <a:off x="2743200" y="5372100"/>
            <a:ext cx="603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1C9A92"/>
                </a:solidFill>
                <a:latin typeface="Aptos"/>
                <a:ea typeface="Aptos"/>
                <a:cs typeface="Aptos"/>
              </a:defRPr>
            </a:defPPr>
          </a:lstStyle>
          <a:p xmlns:a="http://schemas.openxmlformats.org/drawingml/2006/main">
            <a:pPr algn="ctr">
              <a:defRPr sz="1575" b="1">
                <a:solidFill>
                  <a:srgbClr val="1C9A92"/>
                </a:solidFill>
                <a:latin typeface="Aptos"/>
                <a:ea typeface="Aptos"/>
                <a:cs typeface="Aptos"/>
              </a:defRPr>
            </a:pPr>
            <a:r>
              <a:rPr sz="1575" b="1">
                <a:solidFill>
                  <a:srgbClr val="1C9A92"/>
                </a:solidFill>
                <a:latin typeface="Aptos"/>
                <a:ea typeface="Aptos"/>
                <a:cs typeface="Aptos"/>
              </a:rPr>
              <a:t>Between active edges, Q remains stable</a:t>
            </a:r>
          </a:p>
        </p:txBody>
      </p:sp>
      <p:sp>
        <p:nvSpPr>
          <p:cNvPr id="30" name="">
            <a:extLst xmlns:a="http://schemas.openxmlformats.org/drawingml/2006/main">
              <a:ext uri="{FF2B5EF4-FFF2-40B4-BE49-F238E27FC236}">
                <a16:creationId xmlns:a16="http://schemas.microsoft.com/office/drawing/2014/main" id="{7DEFE8CD-21CB-4B25-9406-B99C0B10945D}"/>
              </a:ext>
            </a:extLst>
          </p:cNvPr>
          <p:cNvSpPr>
            <a:spLocks xmlns:a="http://schemas.openxmlformats.org/drawingml/2006/main" noGrp="1"/>
          </p:cNvSpPr>
          <p:nvPr/>
        </p:nvSpPr>
        <p:spPr>
          <a:xfrm xmlns:a="http://schemas.openxmlformats.org/drawingml/2006/main">
            <a:off x="685800" y="6057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26779"/>
                </a:solidFill>
                <a:latin typeface="Aptos"/>
                <a:ea typeface="Aptos"/>
                <a:cs typeface="Aptos"/>
              </a:defRPr>
            </a:defPPr>
          </a:lstStyle>
          <a:p xmlns:a="http://schemas.openxmlformats.org/drawingml/2006/main">
            <a:pPr algn="l">
              <a:defRPr sz="1200" b="0">
                <a:solidFill>
                  <a:srgbClr val="526779"/>
                </a:solidFill>
                <a:latin typeface="Aptos"/>
                <a:ea typeface="Aptos"/>
                <a:cs typeface="Aptos"/>
              </a:defRPr>
            </a:pPr>
            <a:r>
              <a:rPr sz="1200" b="0">
                <a:solidFill>
                  <a:srgbClr val="526779"/>
                </a:solidFill>
                <a:latin typeface="Aptos"/>
                <a:ea typeface="Aptos"/>
                <a:cs typeface="Aptos"/>
              </a:rPr>
              <a:t>Assumption: positive-edge triggered D flip-flops</a:t>
            </a:r>
          </a:p>
        </p:txBody>
      </p:sp>
    </p:spTree>
    <p:extLst>
      <p:ext uri="{BB962C8B-B14F-4D97-AF65-F5344CB8AC3E}">
        <p14:creationId xmlns:p14="http://schemas.microsoft.com/office/powerpoint/2010/main" val="209736739"/>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54CB5135-5096-42C2-BB27-4AAB7B311FC3}"/>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0243A"/>
                </a:solidFill>
                <a:latin typeface="Aptos"/>
                <a:ea typeface="Aptos"/>
                <a:cs typeface="Aptos"/>
              </a:defRPr>
            </a:defPPr>
          </a:lstStyle>
          <a:p xmlns:a="http://schemas.openxmlformats.org/drawingml/2006/main">
            <a:pPr algn="l">
              <a:defRPr sz="3150" b="1">
                <a:solidFill>
                  <a:srgbClr val="10243A"/>
                </a:solidFill>
                <a:latin typeface="Aptos"/>
                <a:ea typeface="Aptos"/>
                <a:cs typeface="Aptos"/>
              </a:defRPr>
            </a:pPr>
            <a:r>
              <a:rPr sz="3150" b="1">
                <a:solidFill>
                  <a:srgbClr val="10243A"/>
                </a:solidFill>
                <a:latin typeface="Aptos"/>
                <a:ea typeface="Aptos"/>
                <a:cs typeface="Aptos"/>
              </a:rPr>
              <a:t>Worked example: load, hold, then load again</a:t>
            </a:r>
          </a:p>
        </p:txBody>
      </p:sp>
      <p:sp>
        <p:nvSpPr>
          <p:cNvPr id="2" name="">
            <a:extLst xmlns:a="http://schemas.openxmlformats.org/drawingml/2006/main">
              <a:ext uri="{FF2B5EF4-FFF2-40B4-BE49-F238E27FC236}">
                <a16:creationId xmlns:a16="http://schemas.microsoft.com/office/drawing/2014/main" id="{6985ADD5-5B53-4417-A99A-9DE78B2F3FA2}"/>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68FBA1D0-0E2F-4879-987A-F5F4BBEB99A0}"/>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718391"/>
                </a:solidFill>
                <a:latin typeface="Aptos"/>
                <a:ea typeface="Aptos"/>
                <a:cs typeface="Aptos"/>
              </a:defRPr>
            </a:defPPr>
          </a:lstStyle>
          <a:p xmlns:a="http://schemas.openxmlformats.org/drawingml/2006/main">
            <a:pPr algn="r">
              <a:defRPr sz="1125" b="1">
                <a:solidFill>
                  <a:srgbClr val="718391"/>
                </a:solidFill>
                <a:latin typeface="Aptos"/>
                <a:ea typeface="Aptos"/>
                <a:cs typeface="Aptos"/>
              </a:defRPr>
            </a:pPr>
            <a:r>
              <a:rPr sz="1125" b="1">
                <a:solidFill>
                  <a:srgbClr val="718391"/>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F654187A-60FA-40B1-8E64-AC7695DC6C58}"/>
              </a:ext>
            </a:extLst>
          </p:cNvPr>
          <p:cNvSpPr>
            <a:spLocks xmlns:a="http://schemas.openxmlformats.org/drawingml/2006/main" noGrp="1"/>
          </p:cNvSpPr>
          <p:nvPr/>
        </p:nvSpPr>
        <p:spPr>
          <a:xfrm xmlns:a="http://schemas.openxmlformats.org/drawingml/2006/main">
            <a:off x="685800" y="13525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0">
                <a:solidFill>
                  <a:srgbClr val="526779"/>
                </a:solidFill>
                <a:latin typeface="Aptos"/>
                <a:ea typeface="Aptos"/>
                <a:cs typeface="Aptos"/>
              </a:defRPr>
            </a:defPPr>
          </a:lstStyle>
          <a:p xmlns:a="http://schemas.openxmlformats.org/drawingml/2006/main">
            <a:pPr algn="l">
              <a:defRPr sz="1800" b="0">
                <a:solidFill>
                  <a:srgbClr val="526779"/>
                </a:solidFill>
                <a:latin typeface="Aptos"/>
                <a:ea typeface="Aptos"/>
                <a:cs typeface="Aptos"/>
              </a:defRPr>
            </a:pPr>
            <a:r>
              <a:rPr sz="1800" b="0">
                <a:solidFill>
                  <a:srgbClr val="526779"/>
                </a:solidFill>
                <a:latin typeface="Aptos"/>
                <a:ea typeface="Aptos"/>
                <a:cs typeface="Aptos"/>
              </a:rPr>
              <a:t>Track the complete 8-bit word at each rising edge.</a:t>
            </a:r>
          </a:p>
        </p:txBody>
      </p:sp>
      <p:sp>
        <p:nvSpPr>
          <p:cNvPr id="5" name="">
            <a:extLst xmlns:a="http://schemas.openxmlformats.org/drawingml/2006/main">
              <a:ext uri="{FF2B5EF4-FFF2-40B4-BE49-F238E27FC236}">
                <a16:creationId xmlns:a16="http://schemas.microsoft.com/office/drawing/2014/main" id="{F3B70104-EFCD-4436-A139-753FE9841810}"/>
              </a:ext>
            </a:extLst>
          </p:cNvPr>
          <p:cNvSpPr>
            <a:spLocks xmlns:a="http://schemas.openxmlformats.org/drawingml/2006/main" noGrp="1"/>
          </p:cNvSpPr>
          <p:nvPr/>
        </p:nvSpPr>
        <p:spPr>
          <a:xfrm xmlns:a="http://schemas.openxmlformats.org/drawingml/2006/main">
            <a:off x="800100" y="212407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10243A"/>
                </a:solidFill>
                <a:latin typeface="Aptos"/>
                <a:ea typeface="Aptos"/>
                <a:cs typeface="Aptos"/>
              </a:defRPr>
            </a:defPPr>
          </a:lstStyle>
          <a:p xmlns:a="http://schemas.openxmlformats.org/drawingml/2006/main">
            <a:pPr algn="ctr">
              <a:defRPr sz="1425" b="1">
                <a:solidFill>
                  <a:srgbClr val="10243A"/>
                </a:solidFill>
                <a:latin typeface="Aptos"/>
                <a:ea typeface="Aptos"/>
                <a:cs typeface="Aptos"/>
              </a:defRPr>
            </a:pPr>
            <a:r>
              <a:rPr sz="1425" b="1">
                <a:solidFill>
                  <a:srgbClr val="10243A"/>
                </a:solidFill>
                <a:latin typeface="Aptos"/>
                <a:ea typeface="Aptos"/>
                <a:cs typeface="Aptos"/>
              </a:rPr>
              <a:t>Moment</a:t>
            </a:r>
          </a:p>
        </p:txBody>
      </p:sp>
      <p:sp>
        <p:nvSpPr>
          <p:cNvPr id="6" name="">
            <a:extLst xmlns:a="http://schemas.openxmlformats.org/drawingml/2006/main">
              <a:ext uri="{FF2B5EF4-FFF2-40B4-BE49-F238E27FC236}">
                <a16:creationId xmlns:a16="http://schemas.microsoft.com/office/drawing/2014/main" id="{117AD3F5-659E-43BF-AD4B-48DE15326AD8}"/>
              </a:ext>
            </a:extLst>
          </p:cNvPr>
          <p:cNvSpPr>
            <a:spLocks xmlns:a="http://schemas.openxmlformats.org/drawingml/2006/main" noGrp="1"/>
          </p:cNvSpPr>
          <p:nvPr/>
        </p:nvSpPr>
        <p:spPr>
          <a:xfrm xmlns:a="http://schemas.openxmlformats.org/drawingml/2006/main">
            <a:off x="3000375" y="212407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10243A"/>
                </a:solidFill>
                <a:latin typeface="Aptos"/>
                <a:ea typeface="Aptos"/>
                <a:cs typeface="Aptos"/>
              </a:defRPr>
            </a:defPPr>
          </a:lstStyle>
          <a:p xmlns:a="http://schemas.openxmlformats.org/drawingml/2006/main">
            <a:pPr algn="ctr">
              <a:defRPr sz="1425" b="1">
                <a:solidFill>
                  <a:srgbClr val="10243A"/>
                </a:solidFill>
                <a:latin typeface="Aptos"/>
                <a:ea typeface="Aptos"/>
                <a:cs typeface="Aptos"/>
              </a:defRPr>
            </a:pPr>
            <a:r>
              <a:rPr sz="1425" b="1">
                <a:solidFill>
                  <a:srgbClr val="10243A"/>
                </a:solidFill>
                <a:latin typeface="Aptos"/>
                <a:ea typeface="Aptos"/>
                <a:cs typeface="Aptos"/>
              </a:rPr>
              <a:t>EN</a:t>
            </a:r>
          </a:p>
        </p:txBody>
      </p:sp>
      <p:sp>
        <p:nvSpPr>
          <p:cNvPr id="7" name="">
            <a:extLst xmlns:a="http://schemas.openxmlformats.org/drawingml/2006/main">
              <a:ext uri="{FF2B5EF4-FFF2-40B4-BE49-F238E27FC236}">
                <a16:creationId xmlns:a16="http://schemas.microsoft.com/office/drawing/2014/main" id="{49DB1BA1-2BC7-4454-86AD-A2B89B979FCF}"/>
              </a:ext>
            </a:extLst>
          </p:cNvPr>
          <p:cNvSpPr>
            <a:spLocks xmlns:a="http://schemas.openxmlformats.org/drawingml/2006/main" noGrp="1"/>
          </p:cNvSpPr>
          <p:nvPr/>
        </p:nvSpPr>
        <p:spPr>
          <a:xfrm xmlns:a="http://schemas.openxmlformats.org/drawingml/2006/main">
            <a:off x="4810125" y="2124075"/>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10243A"/>
                </a:solidFill>
                <a:latin typeface="Aptos"/>
                <a:ea typeface="Aptos"/>
                <a:cs typeface="Aptos"/>
              </a:defRPr>
            </a:defPPr>
          </a:lstStyle>
          <a:p xmlns:a="http://schemas.openxmlformats.org/drawingml/2006/main">
            <a:pPr algn="ctr">
              <a:defRPr sz="1425" b="1">
                <a:solidFill>
                  <a:srgbClr val="10243A"/>
                </a:solidFill>
                <a:latin typeface="Aptos"/>
                <a:ea typeface="Aptos"/>
                <a:cs typeface="Aptos"/>
              </a:defRPr>
            </a:pPr>
            <a:r>
              <a:rPr sz="1425" b="1">
                <a:solidFill>
                  <a:srgbClr val="10243A"/>
                </a:solidFill>
                <a:latin typeface="Aptos"/>
                <a:ea typeface="Aptos"/>
                <a:cs typeface="Aptos"/>
              </a:rPr>
              <a:t>D[7:0]</a:t>
            </a:r>
          </a:p>
        </p:txBody>
      </p:sp>
      <p:sp>
        <p:nvSpPr>
          <p:cNvPr id="8" name="">
            <a:extLst xmlns:a="http://schemas.openxmlformats.org/drawingml/2006/main">
              <a:ext uri="{FF2B5EF4-FFF2-40B4-BE49-F238E27FC236}">
                <a16:creationId xmlns:a16="http://schemas.microsoft.com/office/drawing/2014/main" id="{2646076E-A421-46EB-A0E7-1A007E3A4D35}"/>
              </a:ext>
            </a:extLst>
          </p:cNvPr>
          <p:cNvSpPr>
            <a:spLocks xmlns:a="http://schemas.openxmlformats.org/drawingml/2006/main" noGrp="1"/>
          </p:cNvSpPr>
          <p:nvPr/>
        </p:nvSpPr>
        <p:spPr>
          <a:xfrm xmlns:a="http://schemas.openxmlformats.org/drawingml/2006/main">
            <a:off x="7000875" y="21240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10243A"/>
                </a:solidFill>
                <a:latin typeface="Aptos"/>
                <a:ea typeface="Aptos"/>
                <a:cs typeface="Aptos"/>
              </a:defRPr>
            </a:defPPr>
          </a:lstStyle>
          <a:p xmlns:a="http://schemas.openxmlformats.org/drawingml/2006/main">
            <a:pPr algn="ctr">
              <a:defRPr sz="1425" b="1">
                <a:solidFill>
                  <a:srgbClr val="10243A"/>
                </a:solidFill>
                <a:latin typeface="Aptos"/>
                <a:ea typeface="Aptos"/>
                <a:cs typeface="Aptos"/>
              </a:defRPr>
            </a:pPr>
            <a:r>
              <a:rPr sz="1425" b="1">
                <a:solidFill>
                  <a:srgbClr val="10243A"/>
                </a:solidFill>
                <a:latin typeface="Aptos"/>
                <a:ea typeface="Aptos"/>
                <a:cs typeface="Aptos"/>
              </a:rPr>
              <a:t>Q[7:0]</a:t>
            </a:r>
          </a:p>
        </p:txBody>
      </p:sp>
      <p:sp>
        <p:nvSpPr>
          <p:cNvPr id="9" name="">
            <a:extLst xmlns:a="http://schemas.openxmlformats.org/drawingml/2006/main">
              <a:ext uri="{FF2B5EF4-FFF2-40B4-BE49-F238E27FC236}">
                <a16:creationId xmlns:a16="http://schemas.microsoft.com/office/drawing/2014/main" id="{4709FF13-22E2-46E7-8161-1E022A59BEB5}"/>
              </a:ext>
            </a:extLst>
          </p:cNvPr>
          <p:cNvSpPr>
            <a:spLocks xmlns:a="http://schemas.openxmlformats.org/drawingml/2006/main" noGrp="1"/>
          </p:cNvSpPr>
          <p:nvPr/>
        </p:nvSpPr>
        <p:spPr>
          <a:xfrm xmlns:a="http://schemas.openxmlformats.org/drawingml/2006/main">
            <a:off x="800100" y="2514600"/>
            <a:ext cx="9486900" cy="0"/>
          </a:xfrm>
          <a:prstGeom xmlns:a="http://schemas.openxmlformats.org/drawingml/2006/main" prst="line">
            <a:avLst/>
          </a:prstGeom>
          <a:noFill xmlns:a="http://schemas.openxmlformats.org/drawingml/2006/main"/>
          <a:ln xmlns:a="http://schemas.openxmlformats.org/drawingml/2006/main" w="19050">
            <a:solidFill>
              <a:srgbClr val="10243A"/>
            </a:solidFill>
            <a:prstDash val="solid"/>
          </a:ln>
        </p:spPr>
      </p:sp>
      <p:sp>
        <p:nvSpPr>
          <p:cNvPr id="10" name="">
            <a:extLst xmlns:a="http://schemas.openxmlformats.org/drawingml/2006/main">
              <a:ext uri="{FF2B5EF4-FFF2-40B4-BE49-F238E27FC236}">
                <a16:creationId xmlns:a16="http://schemas.microsoft.com/office/drawing/2014/main" id="{C8FCE337-2AAF-4ACD-83BF-C9DC6D585F3E}"/>
              </a:ext>
            </a:extLst>
          </p:cNvPr>
          <p:cNvSpPr>
            <a:spLocks xmlns:a="http://schemas.openxmlformats.org/drawingml/2006/main" noGrp="1"/>
          </p:cNvSpPr>
          <p:nvPr/>
        </p:nvSpPr>
        <p:spPr>
          <a:xfrm xmlns:a="http://schemas.openxmlformats.org/drawingml/2006/main">
            <a:off x="800100" y="265747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162B3D"/>
                </a:solidFill>
                <a:latin typeface="Aptos"/>
                <a:ea typeface="Aptos"/>
                <a:cs typeface="Aptos"/>
              </a:defRPr>
            </a:defPPr>
          </a:lstStyle>
          <a:p xmlns:a="http://schemas.openxmlformats.org/drawingml/2006/main">
            <a:pPr algn="ctr">
              <a:defRPr sz="1500" b="0">
                <a:solidFill>
                  <a:srgbClr val="162B3D"/>
                </a:solidFill>
                <a:latin typeface="Aptos"/>
                <a:ea typeface="Aptos"/>
                <a:cs typeface="Aptos"/>
              </a:defRPr>
            </a:pPr>
            <a:r>
              <a:rPr sz="1500" b="0">
                <a:solidFill>
                  <a:srgbClr val="162B3D"/>
                </a:solidFill>
                <a:latin typeface="Aptos"/>
                <a:ea typeface="Aptos"/>
                <a:cs typeface="Aptos"/>
              </a:rPr>
              <a:t>Before edge 1</a:t>
            </a:r>
          </a:p>
        </p:txBody>
      </p:sp>
      <p:sp>
        <p:nvSpPr>
          <p:cNvPr id="11" name="">
            <a:extLst xmlns:a="http://schemas.openxmlformats.org/drawingml/2006/main">
              <a:ext uri="{FF2B5EF4-FFF2-40B4-BE49-F238E27FC236}">
                <a16:creationId xmlns:a16="http://schemas.microsoft.com/office/drawing/2014/main" id="{77934BEE-EC47-4FA1-949F-624A400179EA}"/>
              </a:ext>
            </a:extLst>
          </p:cNvPr>
          <p:cNvSpPr>
            <a:spLocks xmlns:a="http://schemas.openxmlformats.org/drawingml/2006/main" noGrp="1"/>
          </p:cNvSpPr>
          <p:nvPr/>
        </p:nvSpPr>
        <p:spPr>
          <a:xfrm xmlns:a="http://schemas.openxmlformats.org/drawingml/2006/main">
            <a:off x="3000375" y="265747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E88B3A"/>
                </a:solidFill>
                <a:latin typeface="Aptos"/>
                <a:ea typeface="Aptos"/>
                <a:cs typeface="Aptos"/>
              </a:defRPr>
            </a:defPPr>
          </a:lstStyle>
          <a:p xmlns:a="http://schemas.openxmlformats.org/drawingml/2006/main">
            <a:pPr algn="ctr">
              <a:defRPr sz="1500" b="0">
                <a:solidFill>
                  <a:srgbClr val="E88B3A"/>
                </a:solidFill>
                <a:latin typeface="Aptos"/>
                <a:ea typeface="Aptos"/>
                <a:cs typeface="Aptos"/>
              </a:defRPr>
            </a:pPr>
            <a:r>
              <a:rPr sz="1500" b="0">
                <a:solidFill>
                  <a:srgbClr val="E88B3A"/>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A7E0BE45-F90B-4A13-9CC8-CDA28131CEAC}"/>
              </a:ext>
            </a:extLst>
          </p:cNvPr>
          <p:cNvSpPr>
            <a:spLocks xmlns:a="http://schemas.openxmlformats.org/drawingml/2006/main" noGrp="1"/>
          </p:cNvSpPr>
          <p:nvPr/>
        </p:nvSpPr>
        <p:spPr>
          <a:xfrm xmlns:a="http://schemas.openxmlformats.org/drawingml/2006/main">
            <a:off x="4810125" y="2657475"/>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0">
                <a:solidFill>
                  <a:srgbClr val="162B3D"/>
                </a:solidFill>
                <a:latin typeface="Aptos"/>
                <a:ea typeface="Aptos"/>
                <a:cs typeface="Aptos"/>
              </a:defRPr>
            </a:defPPr>
          </a:lstStyle>
          <a:p xmlns:a="http://schemas.openxmlformats.org/drawingml/2006/main">
            <a:pPr algn="ctr">
              <a:defRPr sz="1725" b="0">
                <a:solidFill>
                  <a:srgbClr val="162B3D"/>
                </a:solidFill>
                <a:latin typeface="Aptos"/>
                <a:ea typeface="Aptos"/>
                <a:cs typeface="Aptos"/>
              </a:defRPr>
            </a:pPr>
            <a:r>
              <a:rPr sz="1725" b="0">
                <a:solidFill>
                  <a:srgbClr val="162B3D"/>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F5EC04D8-28AF-460A-B6BB-5803185960DF}"/>
              </a:ext>
            </a:extLst>
          </p:cNvPr>
          <p:cNvSpPr>
            <a:spLocks xmlns:a="http://schemas.openxmlformats.org/drawingml/2006/main" noGrp="1"/>
          </p:cNvSpPr>
          <p:nvPr/>
        </p:nvSpPr>
        <p:spPr>
          <a:xfrm xmlns:a="http://schemas.openxmlformats.org/drawingml/2006/main">
            <a:off x="7000875" y="265747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0">
                <a:solidFill>
                  <a:srgbClr val="162B3D"/>
                </a:solidFill>
                <a:latin typeface="Aptos"/>
                <a:ea typeface="Aptos"/>
                <a:cs typeface="Aptos"/>
              </a:defRPr>
            </a:defPPr>
          </a:lstStyle>
          <a:p xmlns:a="http://schemas.openxmlformats.org/drawingml/2006/main">
            <a:pPr algn="ctr">
              <a:defRPr sz="1725" b="0">
                <a:solidFill>
                  <a:srgbClr val="162B3D"/>
                </a:solidFill>
                <a:latin typeface="Aptos"/>
                <a:ea typeface="Aptos"/>
                <a:cs typeface="Aptos"/>
              </a:defRPr>
            </a:pPr>
            <a:r>
              <a:rPr sz="1725" b="0">
                <a:solidFill>
                  <a:srgbClr val="162B3D"/>
                </a:solidFill>
                <a:latin typeface="Aptos"/>
                <a:ea typeface="Aptos"/>
                <a:cs typeface="Aptos"/>
              </a:rPr>
              <a:t>not specified</a:t>
            </a:r>
          </a:p>
        </p:txBody>
      </p:sp>
      <p:sp>
        <p:nvSpPr>
          <p:cNvPr id="14" name="">
            <a:extLst xmlns:a="http://schemas.openxmlformats.org/drawingml/2006/main">
              <a:ext uri="{FF2B5EF4-FFF2-40B4-BE49-F238E27FC236}">
                <a16:creationId xmlns:a16="http://schemas.microsoft.com/office/drawing/2014/main" id="{C5A573B2-4920-4733-BBD8-9461B2BF1B45}"/>
              </a:ext>
            </a:extLst>
          </p:cNvPr>
          <p:cNvSpPr>
            <a:spLocks xmlns:a="http://schemas.openxmlformats.org/drawingml/2006/main" noGrp="1"/>
          </p:cNvSpPr>
          <p:nvPr/>
        </p:nvSpPr>
        <p:spPr>
          <a:xfrm xmlns:a="http://schemas.openxmlformats.org/drawingml/2006/main">
            <a:off x="800100" y="3143250"/>
            <a:ext cx="9486900"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15" name="">
            <a:extLst xmlns:a="http://schemas.openxmlformats.org/drawingml/2006/main">
              <a:ext uri="{FF2B5EF4-FFF2-40B4-BE49-F238E27FC236}">
                <a16:creationId xmlns:a16="http://schemas.microsoft.com/office/drawing/2014/main" id="{D507BBB7-3FF9-48CD-814A-112840315FCE}"/>
              </a:ext>
            </a:extLst>
          </p:cNvPr>
          <p:cNvSpPr>
            <a:spLocks xmlns:a="http://schemas.openxmlformats.org/drawingml/2006/main" noGrp="1"/>
          </p:cNvSpPr>
          <p:nvPr/>
        </p:nvSpPr>
        <p:spPr>
          <a:xfrm xmlns:a="http://schemas.openxmlformats.org/drawingml/2006/main">
            <a:off x="800100" y="332422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162B3D"/>
                </a:solidFill>
                <a:latin typeface="Aptos"/>
                <a:ea typeface="Aptos"/>
                <a:cs typeface="Aptos"/>
              </a:defRPr>
            </a:defPPr>
          </a:lstStyle>
          <a:p xmlns:a="http://schemas.openxmlformats.org/drawingml/2006/main">
            <a:pPr algn="ctr">
              <a:defRPr sz="1500" b="0">
                <a:solidFill>
                  <a:srgbClr val="162B3D"/>
                </a:solidFill>
                <a:latin typeface="Aptos"/>
                <a:ea typeface="Aptos"/>
                <a:cs typeface="Aptos"/>
              </a:defRPr>
            </a:pPr>
            <a:r>
              <a:rPr sz="1500" b="0">
                <a:solidFill>
                  <a:srgbClr val="162B3D"/>
                </a:solidFill>
                <a:latin typeface="Aptos"/>
                <a:ea typeface="Aptos"/>
                <a:cs typeface="Aptos"/>
              </a:rPr>
              <a:t>After edge 1</a:t>
            </a:r>
          </a:p>
        </p:txBody>
      </p:sp>
      <p:sp>
        <p:nvSpPr>
          <p:cNvPr id="16" name="">
            <a:extLst xmlns:a="http://schemas.openxmlformats.org/drawingml/2006/main">
              <a:ext uri="{FF2B5EF4-FFF2-40B4-BE49-F238E27FC236}">
                <a16:creationId xmlns:a16="http://schemas.microsoft.com/office/drawing/2014/main" id="{0A64EBD8-68B6-4C7E-8686-1E614FDFB34E}"/>
              </a:ext>
            </a:extLst>
          </p:cNvPr>
          <p:cNvSpPr>
            <a:spLocks xmlns:a="http://schemas.openxmlformats.org/drawingml/2006/main" noGrp="1"/>
          </p:cNvSpPr>
          <p:nvPr/>
        </p:nvSpPr>
        <p:spPr>
          <a:xfrm xmlns:a="http://schemas.openxmlformats.org/drawingml/2006/main">
            <a:off x="3000375" y="33242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E88B3A"/>
                </a:solidFill>
                <a:latin typeface="Aptos"/>
                <a:ea typeface="Aptos"/>
                <a:cs typeface="Aptos"/>
              </a:defRPr>
            </a:defPPr>
          </a:lstStyle>
          <a:p xmlns:a="http://schemas.openxmlformats.org/drawingml/2006/main">
            <a:pPr algn="ctr">
              <a:defRPr sz="1500" b="0">
                <a:solidFill>
                  <a:srgbClr val="E88B3A"/>
                </a:solidFill>
                <a:latin typeface="Aptos"/>
                <a:ea typeface="Aptos"/>
                <a:cs typeface="Aptos"/>
              </a:defRPr>
            </a:pPr>
            <a:r>
              <a:rPr sz="1500" b="0">
                <a:solidFill>
                  <a:srgbClr val="E88B3A"/>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7570725A-9711-40DB-BAAF-51AE380F9A7D}"/>
              </a:ext>
            </a:extLst>
          </p:cNvPr>
          <p:cNvSpPr>
            <a:spLocks xmlns:a="http://schemas.openxmlformats.org/drawingml/2006/main" noGrp="1"/>
          </p:cNvSpPr>
          <p:nvPr/>
        </p:nvSpPr>
        <p:spPr>
          <a:xfrm xmlns:a="http://schemas.openxmlformats.org/drawingml/2006/main">
            <a:off x="4810125" y="3324225"/>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0">
                <a:solidFill>
                  <a:srgbClr val="162B3D"/>
                </a:solidFill>
                <a:latin typeface="Aptos"/>
                <a:ea typeface="Aptos"/>
                <a:cs typeface="Aptos"/>
              </a:defRPr>
            </a:defPPr>
          </a:lstStyle>
          <a:p xmlns:a="http://schemas.openxmlformats.org/drawingml/2006/main">
            <a:pPr algn="ctr">
              <a:defRPr sz="1725" b="0">
                <a:solidFill>
                  <a:srgbClr val="162B3D"/>
                </a:solidFill>
                <a:latin typeface="Aptos"/>
                <a:ea typeface="Aptos"/>
                <a:cs typeface="Aptos"/>
              </a:defRPr>
            </a:pPr>
            <a:r>
              <a:rPr sz="1725" b="0">
                <a:solidFill>
                  <a:srgbClr val="162B3D"/>
                </a:solidFill>
                <a:latin typeface="Aptos"/>
                <a:ea typeface="Aptos"/>
                <a:cs typeface="Aptos"/>
              </a:rPr>
              <a:t>10110110</a:t>
            </a:r>
          </a:p>
        </p:txBody>
      </p:sp>
      <p:sp>
        <p:nvSpPr>
          <p:cNvPr id="18" name="">
            <a:extLst xmlns:a="http://schemas.openxmlformats.org/drawingml/2006/main">
              <a:ext uri="{FF2B5EF4-FFF2-40B4-BE49-F238E27FC236}">
                <a16:creationId xmlns:a16="http://schemas.microsoft.com/office/drawing/2014/main" id="{E281054D-F368-4FFE-B3A6-C8048A3FE484}"/>
              </a:ext>
            </a:extLst>
          </p:cNvPr>
          <p:cNvSpPr>
            <a:spLocks xmlns:a="http://schemas.openxmlformats.org/drawingml/2006/main" noGrp="1"/>
          </p:cNvSpPr>
          <p:nvPr/>
        </p:nvSpPr>
        <p:spPr>
          <a:xfrm xmlns:a="http://schemas.openxmlformats.org/drawingml/2006/main">
            <a:off x="7000875" y="33242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17B63"/>
                </a:solidFill>
                <a:latin typeface="Aptos"/>
                <a:ea typeface="Aptos"/>
                <a:cs typeface="Aptos"/>
              </a:defRPr>
            </a:defPPr>
          </a:lstStyle>
          <a:p xmlns:a="http://schemas.openxmlformats.org/drawingml/2006/main">
            <a:pPr algn="ctr">
              <a:defRPr sz="1725" b="1">
                <a:solidFill>
                  <a:srgbClr val="317B63"/>
                </a:solidFill>
                <a:latin typeface="Aptos"/>
                <a:ea typeface="Aptos"/>
                <a:cs typeface="Aptos"/>
              </a:defRPr>
            </a:pPr>
            <a:r>
              <a:rPr sz="1725" b="1">
                <a:solidFill>
                  <a:srgbClr val="317B63"/>
                </a:solidFill>
                <a:latin typeface="Aptos"/>
                <a:ea typeface="Aptos"/>
                <a:cs typeface="Aptos"/>
              </a:rPr>
              <a:t>10110110</a:t>
            </a:r>
          </a:p>
        </p:txBody>
      </p:sp>
      <p:sp>
        <p:nvSpPr>
          <p:cNvPr id="19" name="">
            <a:extLst xmlns:a="http://schemas.openxmlformats.org/drawingml/2006/main">
              <a:ext uri="{FF2B5EF4-FFF2-40B4-BE49-F238E27FC236}">
                <a16:creationId xmlns:a16="http://schemas.microsoft.com/office/drawing/2014/main" id="{615EBDA3-FF9A-4826-A22F-8FD1EE30E32F}"/>
              </a:ext>
            </a:extLst>
          </p:cNvPr>
          <p:cNvSpPr>
            <a:spLocks xmlns:a="http://schemas.openxmlformats.org/drawingml/2006/main" noGrp="1"/>
          </p:cNvSpPr>
          <p:nvPr/>
        </p:nvSpPr>
        <p:spPr>
          <a:xfrm xmlns:a="http://schemas.openxmlformats.org/drawingml/2006/main">
            <a:off x="800100" y="3810000"/>
            <a:ext cx="9486900"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20" name="">
            <a:extLst xmlns:a="http://schemas.openxmlformats.org/drawingml/2006/main">
              <a:ext uri="{FF2B5EF4-FFF2-40B4-BE49-F238E27FC236}">
                <a16:creationId xmlns:a16="http://schemas.microsoft.com/office/drawing/2014/main" id="{30358431-274E-41BA-86FA-60950997D6E2}"/>
              </a:ext>
            </a:extLst>
          </p:cNvPr>
          <p:cNvSpPr>
            <a:spLocks xmlns:a="http://schemas.openxmlformats.org/drawingml/2006/main" noGrp="1"/>
          </p:cNvSpPr>
          <p:nvPr/>
        </p:nvSpPr>
        <p:spPr>
          <a:xfrm xmlns:a="http://schemas.openxmlformats.org/drawingml/2006/main">
            <a:off x="800100" y="399097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162B3D"/>
                </a:solidFill>
                <a:latin typeface="Aptos"/>
                <a:ea typeface="Aptos"/>
                <a:cs typeface="Aptos"/>
              </a:defRPr>
            </a:defPPr>
          </a:lstStyle>
          <a:p xmlns:a="http://schemas.openxmlformats.org/drawingml/2006/main">
            <a:pPr algn="ctr">
              <a:defRPr sz="1500" b="0">
                <a:solidFill>
                  <a:srgbClr val="162B3D"/>
                </a:solidFill>
                <a:latin typeface="Aptos"/>
                <a:ea typeface="Aptos"/>
                <a:cs typeface="Aptos"/>
              </a:defRPr>
            </a:pPr>
            <a:r>
              <a:rPr sz="1500" b="0">
                <a:solidFill>
                  <a:srgbClr val="162B3D"/>
                </a:solidFill>
                <a:latin typeface="Aptos"/>
                <a:ea typeface="Aptos"/>
                <a:cs typeface="Aptos"/>
              </a:rPr>
              <a:t>After edge 2</a:t>
            </a:r>
          </a:p>
        </p:txBody>
      </p:sp>
      <p:sp>
        <p:nvSpPr>
          <p:cNvPr id="21" name="">
            <a:extLst xmlns:a="http://schemas.openxmlformats.org/drawingml/2006/main">
              <a:ext uri="{FF2B5EF4-FFF2-40B4-BE49-F238E27FC236}">
                <a16:creationId xmlns:a16="http://schemas.microsoft.com/office/drawing/2014/main" id="{73562B7B-9B4A-4BDD-B79E-9B438CE9A15D}"/>
              </a:ext>
            </a:extLst>
          </p:cNvPr>
          <p:cNvSpPr>
            <a:spLocks xmlns:a="http://schemas.openxmlformats.org/drawingml/2006/main" noGrp="1"/>
          </p:cNvSpPr>
          <p:nvPr/>
        </p:nvSpPr>
        <p:spPr>
          <a:xfrm xmlns:a="http://schemas.openxmlformats.org/drawingml/2006/main">
            <a:off x="3000375" y="399097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E88B3A"/>
                </a:solidFill>
                <a:latin typeface="Aptos"/>
                <a:ea typeface="Aptos"/>
                <a:cs typeface="Aptos"/>
              </a:defRPr>
            </a:defPPr>
          </a:lstStyle>
          <a:p xmlns:a="http://schemas.openxmlformats.org/drawingml/2006/main">
            <a:pPr algn="ctr">
              <a:defRPr sz="1500" b="0">
                <a:solidFill>
                  <a:srgbClr val="E88B3A"/>
                </a:solidFill>
                <a:latin typeface="Aptos"/>
                <a:ea typeface="Aptos"/>
                <a:cs typeface="Aptos"/>
              </a:defRPr>
            </a:pPr>
            <a:r>
              <a:rPr sz="1500" b="0">
                <a:solidFill>
                  <a:srgbClr val="E88B3A"/>
                </a:solidFill>
                <a:latin typeface="Aptos"/>
                <a:ea typeface="Aptos"/>
                <a:cs typeface="Aptos"/>
              </a:rPr>
              <a:t>0</a:t>
            </a:r>
          </a:p>
        </p:txBody>
      </p:sp>
      <p:sp>
        <p:nvSpPr>
          <p:cNvPr id="22" name="">
            <a:extLst xmlns:a="http://schemas.openxmlformats.org/drawingml/2006/main">
              <a:ext uri="{FF2B5EF4-FFF2-40B4-BE49-F238E27FC236}">
                <a16:creationId xmlns:a16="http://schemas.microsoft.com/office/drawing/2014/main" id="{87F163DD-D39E-4C0A-9EEA-DFD43B27DBB2}"/>
              </a:ext>
            </a:extLst>
          </p:cNvPr>
          <p:cNvSpPr>
            <a:spLocks xmlns:a="http://schemas.openxmlformats.org/drawingml/2006/main" noGrp="1"/>
          </p:cNvSpPr>
          <p:nvPr/>
        </p:nvSpPr>
        <p:spPr>
          <a:xfrm xmlns:a="http://schemas.openxmlformats.org/drawingml/2006/main">
            <a:off x="4810125" y="3990975"/>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0">
                <a:solidFill>
                  <a:srgbClr val="162B3D"/>
                </a:solidFill>
                <a:latin typeface="Aptos"/>
                <a:ea typeface="Aptos"/>
                <a:cs typeface="Aptos"/>
              </a:defRPr>
            </a:defPPr>
          </a:lstStyle>
          <a:p xmlns:a="http://schemas.openxmlformats.org/drawingml/2006/main">
            <a:pPr algn="ctr">
              <a:defRPr sz="1725" b="0">
                <a:solidFill>
                  <a:srgbClr val="162B3D"/>
                </a:solidFill>
                <a:latin typeface="Aptos"/>
                <a:ea typeface="Aptos"/>
                <a:cs typeface="Aptos"/>
              </a:defRPr>
            </a:pPr>
            <a:r>
              <a:rPr sz="1725" b="0">
                <a:solidFill>
                  <a:srgbClr val="162B3D"/>
                </a:solidFill>
                <a:latin typeface="Aptos"/>
                <a:ea typeface="Aptos"/>
                <a:cs typeface="Aptos"/>
              </a:rPr>
              <a:t>00111100</a:t>
            </a:r>
          </a:p>
        </p:txBody>
      </p:sp>
      <p:sp>
        <p:nvSpPr>
          <p:cNvPr id="23" name="">
            <a:extLst xmlns:a="http://schemas.openxmlformats.org/drawingml/2006/main">
              <a:ext uri="{FF2B5EF4-FFF2-40B4-BE49-F238E27FC236}">
                <a16:creationId xmlns:a16="http://schemas.microsoft.com/office/drawing/2014/main" id="{8A14F816-E434-4F24-A5F9-E29776B858BC}"/>
              </a:ext>
            </a:extLst>
          </p:cNvPr>
          <p:cNvSpPr>
            <a:spLocks xmlns:a="http://schemas.openxmlformats.org/drawingml/2006/main" noGrp="1"/>
          </p:cNvSpPr>
          <p:nvPr/>
        </p:nvSpPr>
        <p:spPr>
          <a:xfrm xmlns:a="http://schemas.openxmlformats.org/drawingml/2006/main">
            <a:off x="7000875" y="399097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17B63"/>
                </a:solidFill>
                <a:latin typeface="Aptos"/>
                <a:ea typeface="Aptos"/>
                <a:cs typeface="Aptos"/>
              </a:defRPr>
            </a:defPPr>
          </a:lstStyle>
          <a:p xmlns:a="http://schemas.openxmlformats.org/drawingml/2006/main">
            <a:pPr algn="ctr">
              <a:defRPr sz="1725" b="1">
                <a:solidFill>
                  <a:srgbClr val="317B63"/>
                </a:solidFill>
                <a:latin typeface="Aptos"/>
                <a:ea typeface="Aptos"/>
                <a:cs typeface="Aptos"/>
              </a:defRPr>
            </a:pPr>
            <a:r>
              <a:rPr sz="1725" b="1">
                <a:solidFill>
                  <a:srgbClr val="317B63"/>
                </a:solidFill>
                <a:latin typeface="Aptos"/>
                <a:ea typeface="Aptos"/>
                <a:cs typeface="Aptos"/>
              </a:rPr>
              <a:t>10110110</a:t>
            </a:r>
          </a:p>
        </p:txBody>
      </p:sp>
      <p:sp>
        <p:nvSpPr>
          <p:cNvPr id="24" name="">
            <a:extLst xmlns:a="http://schemas.openxmlformats.org/drawingml/2006/main">
              <a:ext uri="{FF2B5EF4-FFF2-40B4-BE49-F238E27FC236}">
                <a16:creationId xmlns:a16="http://schemas.microsoft.com/office/drawing/2014/main" id="{67518A33-7A65-4919-8B29-B57EBFDB2DAC}"/>
              </a:ext>
            </a:extLst>
          </p:cNvPr>
          <p:cNvSpPr>
            <a:spLocks xmlns:a="http://schemas.openxmlformats.org/drawingml/2006/main" noGrp="1"/>
          </p:cNvSpPr>
          <p:nvPr/>
        </p:nvSpPr>
        <p:spPr>
          <a:xfrm xmlns:a="http://schemas.openxmlformats.org/drawingml/2006/main">
            <a:off x="800100" y="4476750"/>
            <a:ext cx="9486900"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25" name="">
            <a:extLst xmlns:a="http://schemas.openxmlformats.org/drawingml/2006/main">
              <a:ext uri="{FF2B5EF4-FFF2-40B4-BE49-F238E27FC236}">
                <a16:creationId xmlns:a16="http://schemas.microsoft.com/office/drawing/2014/main" id="{09328B50-ECD1-405C-95CD-B02FA6B310CB}"/>
              </a:ext>
            </a:extLst>
          </p:cNvPr>
          <p:cNvSpPr>
            <a:spLocks xmlns:a="http://schemas.openxmlformats.org/drawingml/2006/main" noGrp="1"/>
          </p:cNvSpPr>
          <p:nvPr/>
        </p:nvSpPr>
        <p:spPr>
          <a:xfrm xmlns:a="http://schemas.openxmlformats.org/drawingml/2006/main">
            <a:off x="800100" y="465772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162B3D"/>
                </a:solidFill>
                <a:latin typeface="Aptos"/>
                <a:ea typeface="Aptos"/>
                <a:cs typeface="Aptos"/>
              </a:defRPr>
            </a:defPPr>
          </a:lstStyle>
          <a:p xmlns:a="http://schemas.openxmlformats.org/drawingml/2006/main">
            <a:pPr algn="ctr">
              <a:defRPr sz="1500" b="0">
                <a:solidFill>
                  <a:srgbClr val="162B3D"/>
                </a:solidFill>
                <a:latin typeface="Aptos"/>
                <a:ea typeface="Aptos"/>
                <a:cs typeface="Aptos"/>
              </a:defRPr>
            </a:pPr>
            <a:r>
              <a:rPr sz="1500" b="0">
                <a:solidFill>
                  <a:srgbClr val="162B3D"/>
                </a:solidFill>
                <a:latin typeface="Aptos"/>
                <a:ea typeface="Aptos"/>
                <a:cs typeface="Aptos"/>
              </a:rPr>
              <a:t>After edge 3</a:t>
            </a:r>
          </a:p>
        </p:txBody>
      </p:sp>
      <p:sp>
        <p:nvSpPr>
          <p:cNvPr id="26" name="">
            <a:extLst xmlns:a="http://schemas.openxmlformats.org/drawingml/2006/main">
              <a:ext uri="{FF2B5EF4-FFF2-40B4-BE49-F238E27FC236}">
                <a16:creationId xmlns:a16="http://schemas.microsoft.com/office/drawing/2014/main" id="{26AD7331-88DF-4D0B-B6D0-5281855F1CCC}"/>
              </a:ext>
            </a:extLst>
          </p:cNvPr>
          <p:cNvSpPr>
            <a:spLocks xmlns:a="http://schemas.openxmlformats.org/drawingml/2006/main" noGrp="1"/>
          </p:cNvSpPr>
          <p:nvPr/>
        </p:nvSpPr>
        <p:spPr>
          <a:xfrm xmlns:a="http://schemas.openxmlformats.org/drawingml/2006/main">
            <a:off x="3000375" y="465772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E88B3A"/>
                </a:solidFill>
                <a:latin typeface="Aptos"/>
                <a:ea typeface="Aptos"/>
                <a:cs typeface="Aptos"/>
              </a:defRPr>
            </a:defPPr>
          </a:lstStyle>
          <a:p xmlns:a="http://schemas.openxmlformats.org/drawingml/2006/main">
            <a:pPr algn="ctr">
              <a:defRPr sz="1500" b="0">
                <a:solidFill>
                  <a:srgbClr val="E88B3A"/>
                </a:solidFill>
                <a:latin typeface="Aptos"/>
                <a:ea typeface="Aptos"/>
                <a:cs typeface="Aptos"/>
              </a:defRPr>
            </a:pPr>
            <a:r>
              <a:rPr sz="1500" b="0">
                <a:solidFill>
                  <a:srgbClr val="E88B3A"/>
                </a:solidFill>
                <a:latin typeface="Aptos"/>
                <a:ea typeface="Aptos"/>
                <a:cs typeface="Aptos"/>
              </a:rPr>
              <a:t>1</a:t>
            </a:r>
          </a:p>
        </p:txBody>
      </p:sp>
      <p:sp>
        <p:nvSpPr>
          <p:cNvPr id="27" name="">
            <a:extLst xmlns:a="http://schemas.openxmlformats.org/drawingml/2006/main">
              <a:ext uri="{FF2B5EF4-FFF2-40B4-BE49-F238E27FC236}">
                <a16:creationId xmlns:a16="http://schemas.microsoft.com/office/drawing/2014/main" id="{A727701D-F406-4D37-B5DD-7DF317D9B889}"/>
              </a:ext>
            </a:extLst>
          </p:cNvPr>
          <p:cNvSpPr>
            <a:spLocks xmlns:a="http://schemas.openxmlformats.org/drawingml/2006/main" noGrp="1"/>
          </p:cNvSpPr>
          <p:nvPr/>
        </p:nvSpPr>
        <p:spPr>
          <a:xfrm xmlns:a="http://schemas.openxmlformats.org/drawingml/2006/main">
            <a:off x="4810125" y="4657725"/>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0">
                <a:solidFill>
                  <a:srgbClr val="162B3D"/>
                </a:solidFill>
                <a:latin typeface="Aptos"/>
                <a:ea typeface="Aptos"/>
                <a:cs typeface="Aptos"/>
              </a:defRPr>
            </a:defPPr>
          </a:lstStyle>
          <a:p xmlns:a="http://schemas.openxmlformats.org/drawingml/2006/main">
            <a:pPr algn="ctr">
              <a:defRPr sz="1725" b="0">
                <a:solidFill>
                  <a:srgbClr val="162B3D"/>
                </a:solidFill>
                <a:latin typeface="Aptos"/>
                <a:ea typeface="Aptos"/>
                <a:cs typeface="Aptos"/>
              </a:defRPr>
            </a:pPr>
            <a:r>
              <a:rPr sz="1725" b="0">
                <a:solidFill>
                  <a:srgbClr val="162B3D"/>
                </a:solidFill>
                <a:latin typeface="Aptos"/>
                <a:ea typeface="Aptos"/>
                <a:cs typeface="Aptos"/>
              </a:rPr>
              <a:t>00111100</a:t>
            </a:r>
          </a:p>
        </p:txBody>
      </p:sp>
      <p:sp>
        <p:nvSpPr>
          <p:cNvPr id="28" name="">
            <a:extLst xmlns:a="http://schemas.openxmlformats.org/drawingml/2006/main">
              <a:ext uri="{FF2B5EF4-FFF2-40B4-BE49-F238E27FC236}">
                <a16:creationId xmlns:a16="http://schemas.microsoft.com/office/drawing/2014/main" id="{2FDAE924-437C-4DFC-A8B7-32D204EF10E4}"/>
              </a:ext>
            </a:extLst>
          </p:cNvPr>
          <p:cNvSpPr>
            <a:spLocks xmlns:a="http://schemas.openxmlformats.org/drawingml/2006/main" noGrp="1"/>
          </p:cNvSpPr>
          <p:nvPr/>
        </p:nvSpPr>
        <p:spPr>
          <a:xfrm xmlns:a="http://schemas.openxmlformats.org/drawingml/2006/main">
            <a:off x="7000875" y="46577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17B63"/>
                </a:solidFill>
                <a:latin typeface="Aptos"/>
                <a:ea typeface="Aptos"/>
                <a:cs typeface="Aptos"/>
              </a:defRPr>
            </a:defPPr>
          </a:lstStyle>
          <a:p xmlns:a="http://schemas.openxmlformats.org/drawingml/2006/main">
            <a:pPr algn="ctr">
              <a:defRPr sz="1725" b="1">
                <a:solidFill>
                  <a:srgbClr val="317B63"/>
                </a:solidFill>
                <a:latin typeface="Aptos"/>
                <a:ea typeface="Aptos"/>
                <a:cs typeface="Aptos"/>
              </a:defRPr>
            </a:pPr>
            <a:r>
              <a:rPr sz="1725" b="1">
                <a:solidFill>
                  <a:srgbClr val="317B63"/>
                </a:solidFill>
                <a:latin typeface="Aptos"/>
                <a:ea typeface="Aptos"/>
                <a:cs typeface="Aptos"/>
              </a:rPr>
              <a:t>00111100</a:t>
            </a:r>
          </a:p>
        </p:txBody>
      </p:sp>
      <p:sp>
        <p:nvSpPr>
          <p:cNvPr id="29" name="">
            <a:extLst xmlns:a="http://schemas.openxmlformats.org/drawingml/2006/main">
              <a:ext uri="{FF2B5EF4-FFF2-40B4-BE49-F238E27FC236}">
                <a16:creationId xmlns:a16="http://schemas.microsoft.com/office/drawing/2014/main" id="{84A36817-F67A-41A4-AC1D-FDF6449B82AB}"/>
              </a:ext>
            </a:extLst>
          </p:cNvPr>
          <p:cNvSpPr>
            <a:spLocks xmlns:a="http://schemas.openxmlformats.org/drawingml/2006/main" noGrp="1"/>
          </p:cNvSpPr>
          <p:nvPr/>
        </p:nvSpPr>
        <p:spPr>
          <a:xfrm xmlns:a="http://schemas.openxmlformats.org/drawingml/2006/main">
            <a:off x="800100" y="56578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10243A"/>
                </a:solidFill>
                <a:latin typeface="Aptos"/>
                <a:ea typeface="Aptos"/>
                <a:cs typeface="Aptos"/>
              </a:defRPr>
            </a:defPPr>
          </a:lstStyle>
          <a:p xmlns:a="http://schemas.openxmlformats.org/drawingml/2006/main">
            <a:pPr algn="l">
              <a:defRPr sz="1800" b="1">
                <a:solidFill>
                  <a:srgbClr val="10243A"/>
                </a:solidFill>
                <a:latin typeface="Aptos"/>
                <a:ea typeface="Aptos"/>
                <a:cs typeface="Aptos"/>
              </a:defRPr>
            </a:pPr>
            <a:r>
              <a:rPr sz="1800" b="1">
                <a:solidFill>
                  <a:srgbClr val="10243A"/>
                </a:solidFill>
                <a:latin typeface="Aptos"/>
                <a:ea typeface="Aptos"/>
                <a:cs typeface="Aptos"/>
              </a:rPr>
              <a:t>Edge 1 stores. Edge 2 holds. Edge 3 stores the new word.</a:t>
            </a:r>
          </a:p>
        </p:txBody>
      </p:sp>
    </p:spTree>
    <p:extLst>
      <p:ext uri="{BB962C8B-B14F-4D97-AF65-F5344CB8AC3E}">
        <p14:creationId xmlns:p14="http://schemas.microsoft.com/office/powerpoint/2010/main" val="2021467135"/>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E2576731-4DA1-4186-887D-295405668F75}"/>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0243A"/>
                </a:solidFill>
                <a:latin typeface="Aptos"/>
                <a:ea typeface="Aptos"/>
                <a:cs typeface="Aptos"/>
              </a:defRPr>
            </a:defPPr>
          </a:lstStyle>
          <a:p xmlns:a="http://schemas.openxmlformats.org/drawingml/2006/main">
            <a:pPr algn="l">
              <a:defRPr sz="3150" b="1">
                <a:solidFill>
                  <a:srgbClr val="10243A"/>
                </a:solidFill>
                <a:latin typeface="Aptos"/>
                <a:ea typeface="Aptos"/>
                <a:cs typeface="Aptos"/>
              </a:defRPr>
            </a:pPr>
            <a:r>
              <a:rPr sz="3150" b="1">
                <a:solidFill>
                  <a:srgbClr val="10243A"/>
                </a:solidFill>
                <a:latin typeface="Aptos"/>
                <a:ea typeface="Aptos"/>
                <a:cs typeface="Aptos"/>
              </a:rPr>
              <a:t>Logisim implementation plan</a:t>
            </a:r>
          </a:p>
        </p:txBody>
      </p:sp>
      <p:sp>
        <p:nvSpPr>
          <p:cNvPr id="2" name="">
            <a:extLst xmlns:a="http://schemas.openxmlformats.org/drawingml/2006/main">
              <a:ext uri="{FF2B5EF4-FFF2-40B4-BE49-F238E27FC236}">
                <a16:creationId xmlns:a16="http://schemas.microsoft.com/office/drawing/2014/main" id="{350E2ACD-66AF-4F2E-9E20-8238EB6D2FDA}"/>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75427A70-717A-4890-999F-29ACFD0B02D8}"/>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718391"/>
                </a:solidFill>
                <a:latin typeface="Aptos"/>
                <a:ea typeface="Aptos"/>
                <a:cs typeface="Aptos"/>
              </a:defRPr>
            </a:defPPr>
          </a:lstStyle>
          <a:p xmlns:a="http://schemas.openxmlformats.org/drawingml/2006/main">
            <a:pPr algn="r">
              <a:defRPr sz="1125" b="1">
                <a:solidFill>
                  <a:srgbClr val="718391"/>
                </a:solidFill>
                <a:latin typeface="Aptos"/>
                <a:ea typeface="Aptos"/>
                <a:cs typeface="Aptos"/>
              </a:defRPr>
            </a:pPr>
            <a:r>
              <a:rPr sz="1125" b="1">
                <a:solidFill>
                  <a:srgbClr val="718391"/>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12D6ACDD-CFCA-496D-B43A-FE872899895A}"/>
              </a:ext>
            </a:extLst>
          </p:cNvPr>
          <p:cNvSpPr>
            <a:spLocks xmlns:a="http://schemas.openxmlformats.org/drawingml/2006/main" noGrp="1"/>
          </p:cNvSpPr>
          <p:nvPr/>
        </p:nvSpPr>
        <p:spPr>
          <a:xfrm xmlns:a="http://schemas.openxmlformats.org/drawingml/2006/main">
            <a:off x="723900" y="1495425"/>
            <a:ext cx="495300" cy="457200"/>
          </a:xfrm>
          <a:prstGeom xmlns:a="http://schemas.openxmlformats.org/drawingml/2006/main" prst="roundRect">
            <a:avLst>
              <a:gd name="adj" fmla="val 25000"/>
            </a:avLst>
          </a:prstGeom>
          <a:solidFill xmlns:a="http://schemas.openxmlformats.org/drawingml/2006/main">
            <a:srgbClr val="10243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32E8455-F5E4-44F7-AF16-3BDD4C0AB03A}"/>
              </a:ext>
            </a:extLst>
          </p:cNvPr>
          <p:cNvSpPr>
            <a:spLocks xmlns:a="http://schemas.openxmlformats.org/drawingml/2006/main" noGrp="1"/>
          </p:cNvSpPr>
          <p:nvPr/>
        </p:nvSpPr>
        <p:spPr>
          <a:xfrm xmlns:a="http://schemas.openxmlformats.org/drawingml/2006/main">
            <a:off x="800100" y="1514475"/>
            <a:ext cx="34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FFFFFF"/>
                </a:solidFill>
                <a:latin typeface="Aptos"/>
                <a:ea typeface="Aptos"/>
                <a:cs typeface="Aptos"/>
              </a:defRPr>
            </a:defPPr>
          </a:lstStyle>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3C57C579-99C2-4E52-93C6-9CEF75215600}"/>
              </a:ext>
            </a:extLst>
          </p:cNvPr>
          <p:cNvSpPr>
            <a:spLocks xmlns:a="http://schemas.openxmlformats.org/drawingml/2006/main" noGrp="1"/>
          </p:cNvSpPr>
          <p:nvPr/>
        </p:nvSpPr>
        <p:spPr>
          <a:xfrm xmlns:a="http://schemas.openxmlformats.org/drawingml/2006/main">
            <a:off x="1457325" y="148590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latin typeface="Aptos"/>
                <a:ea typeface="Aptos"/>
                <a:cs typeface="Aptos"/>
              </a:defRPr>
            </a:defPPr>
          </a:lstStyle>
          <a:p xmlns:a="http://schemas.openxmlformats.org/drawingml/2006/main">
            <a:pPr algn="l">
              <a:defRPr sz="1575" b="1">
                <a:solidFill>
                  <a:srgbClr val="10243A"/>
                </a:solidFill>
                <a:latin typeface="Aptos"/>
                <a:ea typeface="Aptos"/>
                <a:cs typeface="Aptos"/>
              </a:defRPr>
            </a:pPr>
            <a:r>
              <a:rPr sz="1575" b="1">
                <a:solidFill>
                  <a:srgbClr val="10243A"/>
                </a:solidFill>
                <a:latin typeface="Aptos"/>
                <a:ea typeface="Aptos"/>
                <a:cs typeface="Aptos"/>
              </a:rPr>
              <a:t>Place eight D flip-flops</a:t>
            </a:r>
          </a:p>
        </p:txBody>
      </p:sp>
      <p:sp>
        <p:nvSpPr>
          <p:cNvPr id="7" name="">
            <a:extLst xmlns:a="http://schemas.openxmlformats.org/drawingml/2006/main">
              <a:ext uri="{FF2B5EF4-FFF2-40B4-BE49-F238E27FC236}">
                <a16:creationId xmlns:a16="http://schemas.microsoft.com/office/drawing/2014/main" id="{963ED25B-C290-48C2-957B-3174B733D48E}"/>
              </a:ext>
            </a:extLst>
          </p:cNvPr>
          <p:cNvSpPr>
            <a:spLocks xmlns:a="http://schemas.openxmlformats.org/drawingml/2006/main" noGrp="1"/>
          </p:cNvSpPr>
          <p:nvPr/>
        </p:nvSpPr>
        <p:spPr>
          <a:xfrm xmlns:a="http://schemas.openxmlformats.org/drawingml/2006/main">
            <a:off x="4572000" y="1485900"/>
            <a:ext cx="657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26779"/>
                </a:solidFill>
                <a:latin typeface="Aptos"/>
                <a:ea typeface="Aptos"/>
                <a:cs typeface="Aptos"/>
              </a:defRPr>
            </a:defPPr>
          </a:lstStyle>
          <a:p xmlns:a="http://schemas.openxmlformats.org/drawingml/2006/main">
            <a:pPr algn="l">
              <a:defRPr sz="1425" b="0">
                <a:solidFill>
                  <a:srgbClr val="526779"/>
                </a:solidFill>
                <a:latin typeface="Aptos"/>
                <a:ea typeface="Aptos"/>
                <a:cs typeface="Aptos"/>
              </a:defRPr>
            </a:pPr>
            <a:r>
              <a:rPr sz="1425" b="0">
                <a:solidFill>
                  <a:srgbClr val="526779"/>
                </a:solidFill>
                <a:latin typeface="Aptos"/>
                <a:ea typeface="Aptos"/>
                <a:cs typeface="Aptos"/>
              </a:rPr>
              <a:t>Use one storage element for each bit.</a:t>
            </a:r>
          </a:p>
        </p:txBody>
      </p:sp>
      <p:sp>
        <p:nvSpPr>
          <p:cNvPr id="8" name="">
            <a:extLst xmlns:a="http://schemas.openxmlformats.org/drawingml/2006/main">
              <a:ext uri="{FF2B5EF4-FFF2-40B4-BE49-F238E27FC236}">
                <a16:creationId xmlns:a16="http://schemas.microsoft.com/office/drawing/2014/main" id="{2D777C43-8B93-4938-9CEF-486F25695150}"/>
              </a:ext>
            </a:extLst>
          </p:cNvPr>
          <p:cNvSpPr>
            <a:spLocks xmlns:a="http://schemas.openxmlformats.org/drawingml/2006/main" noGrp="1"/>
          </p:cNvSpPr>
          <p:nvPr/>
        </p:nvSpPr>
        <p:spPr>
          <a:xfrm xmlns:a="http://schemas.openxmlformats.org/drawingml/2006/main">
            <a:off x="1457325" y="2105025"/>
            <a:ext cx="9496425"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9" name="">
            <a:extLst xmlns:a="http://schemas.openxmlformats.org/drawingml/2006/main">
              <a:ext uri="{FF2B5EF4-FFF2-40B4-BE49-F238E27FC236}">
                <a16:creationId xmlns:a16="http://schemas.microsoft.com/office/drawing/2014/main" id="{6A3DEDA8-ACA6-4EAF-8C80-19746CA12AD3}"/>
              </a:ext>
            </a:extLst>
          </p:cNvPr>
          <p:cNvSpPr>
            <a:spLocks xmlns:a="http://schemas.openxmlformats.org/drawingml/2006/main" noGrp="1"/>
          </p:cNvSpPr>
          <p:nvPr/>
        </p:nvSpPr>
        <p:spPr>
          <a:xfrm xmlns:a="http://schemas.openxmlformats.org/drawingml/2006/main">
            <a:off x="723900" y="2362200"/>
            <a:ext cx="495300" cy="457200"/>
          </a:xfrm>
          <a:prstGeom xmlns:a="http://schemas.openxmlformats.org/drawingml/2006/main" prst="roundRect">
            <a:avLst>
              <a:gd name="adj" fmla="val 25000"/>
            </a:avLst>
          </a:prstGeom>
          <a:solidFill xmlns:a="http://schemas.openxmlformats.org/drawingml/2006/main">
            <a:srgbClr val="1024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D03917-738D-471F-B76C-DA6612B83317}"/>
              </a:ext>
            </a:extLst>
          </p:cNvPr>
          <p:cNvSpPr>
            <a:spLocks xmlns:a="http://schemas.openxmlformats.org/drawingml/2006/main" noGrp="1"/>
          </p:cNvSpPr>
          <p:nvPr/>
        </p:nvSpPr>
        <p:spPr>
          <a:xfrm xmlns:a="http://schemas.openxmlformats.org/drawingml/2006/main">
            <a:off x="800100" y="2381250"/>
            <a:ext cx="34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FFFFFF"/>
                </a:solidFill>
                <a:latin typeface="Aptos"/>
                <a:ea typeface="Aptos"/>
                <a:cs typeface="Aptos"/>
              </a:defRPr>
            </a:defPPr>
          </a:lstStyle>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E4AF8B5D-A5D4-4751-BDBE-45FA0F93B13F}"/>
              </a:ext>
            </a:extLst>
          </p:cNvPr>
          <p:cNvSpPr>
            <a:spLocks xmlns:a="http://schemas.openxmlformats.org/drawingml/2006/main" noGrp="1"/>
          </p:cNvSpPr>
          <p:nvPr/>
        </p:nvSpPr>
        <p:spPr>
          <a:xfrm xmlns:a="http://schemas.openxmlformats.org/drawingml/2006/main">
            <a:off x="1457325" y="2352675"/>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latin typeface="Aptos"/>
                <a:ea typeface="Aptos"/>
                <a:cs typeface="Aptos"/>
              </a:defRPr>
            </a:defPPr>
          </a:lstStyle>
          <a:p xmlns:a="http://schemas.openxmlformats.org/drawingml/2006/main">
            <a:pPr algn="l">
              <a:defRPr sz="1575" b="1">
                <a:solidFill>
                  <a:srgbClr val="10243A"/>
                </a:solidFill>
                <a:latin typeface="Aptos"/>
                <a:ea typeface="Aptos"/>
                <a:cs typeface="Aptos"/>
              </a:defRPr>
            </a:pPr>
            <a:r>
              <a:rPr sz="1575" b="1">
                <a:solidFill>
                  <a:srgbClr val="10243A"/>
                </a:solidFill>
                <a:latin typeface="Aptos"/>
                <a:ea typeface="Aptos"/>
                <a:cs typeface="Aptos"/>
              </a:rPr>
              <a:t>Place eight 2:1 MUXes</a:t>
            </a:r>
          </a:p>
        </p:txBody>
      </p:sp>
      <p:sp>
        <p:nvSpPr>
          <p:cNvPr id="12" name="">
            <a:extLst xmlns:a="http://schemas.openxmlformats.org/drawingml/2006/main">
              <a:ext uri="{FF2B5EF4-FFF2-40B4-BE49-F238E27FC236}">
                <a16:creationId xmlns:a16="http://schemas.microsoft.com/office/drawing/2014/main" id="{63DF6F33-7D86-4004-BB3E-8609992C4273}"/>
              </a:ext>
            </a:extLst>
          </p:cNvPr>
          <p:cNvSpPr>
            <a:spLocks xmlns:a="http://schemas.openxmlformats.org/drawingml/2006/main" noGrp="1"/>
          </p:cNvSpPr>
          <p:nvPr/>
        </p:nvSpPr>
        <p:spPr>
          <a:xfrm xmlns:a="http://schemas.openxmlformats.org/drawingml/2006/main">
            <a:off x="4572000" y="2352675"/>
            <a:ext cx="657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26779"/>
                </a:solidFill>
                <a:latin typeface="Aptos"/>
                <a:ea typeface="Aptos"/>
                <a:cs typeface="Aptos"/>
              </a:defRPr>
            </a:defPPr>
          </a:lstStyle>
          <a:p xmlns:a="http://schemas.openxmlformats.org/drawingml/2006/main">
            <a:pPr algn="l">
              <a:defRPr sz="1425" b="0">
                <a:solidFill>
                  <a:srgbClr val="526779"/>
                </a:solidFill>
                <a:latin typeface="Aptos"/>
                <a:ea typeface="Aptos"/>
                <a:cs typeface="Aptos"/>
              </a:defRPr>
            </a:pPr>
            <a:r>
              <a:rPr sz="1425" b="0">
                <a:solidFill>
                  <a:srgbClr val="526779"/>
                </a:solidFill>
                <a:latin typeface="Aptos"/>
                <a:ea typeface="Aptos"/>
                <a:cs typeface="Aptos"/>
              </a:rPr>
              <a:t>Put one MUX before each flip-flop input.</a:t>
            </a:r>
          </a:p>
        </p:txBody>
      </p:sp>
      <p:sp>
        <p:nvSpPr>
          <p:cNvPr id="13" name="">
            <a:extLst xmlns:a="http://schemas.openxmlformats.org/drawingml/2006/main">
              <a:ext uri="{FF2B5EF4-FFF2-40B4-BE49-F238E27FC236}">
                <a16:creationId xmlns:a16="http://schemas.microsoft.com/office/drawing/2014/main" id="{67986896-4F41-493F-BDBD-82A3D6CE1624}"/>
              </a:ext>
            </a:extLst>
          </p:cNvPr>
          <p:cNvSpPr>
            <a:spLocks xmlns:a="http://schemas.openxmlformats.org/drawingml/2006/main" noGrp="1"/>
          </p:cNvSpPr>
          <p:nvPr/>
        </p:nvSpPr>
        <p:spPr>
          <a:xfrm xmlns:a="http://schemas.openxmlformats.org/drawingml/2006/main">
            <a:off x="1457325" y="2971800"/>
            <a:ext cx="9496425"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14" name="">
            <a:extLst xmlns:a="http://schemas.openxmlformats.org/drawingml/2006/main">
              <a:ext uri="{FF2B5EF4-FFF2-40B4-BE49-F238E27FC236}">
                <a16:creationId xmlns:a16="http://schemas.microsoft.com/office/drawing/2014/main" id="{941F17A1-2864-4A26-8207-8D3C589F8B34}"/>
              </a:ext>
            </a:extLst>
          </p:cNvPr>
          <p:cNvSpPr>
            <a:spLocks xmlns:a="http://schemas.openxmlformats.org/drawingml/2006/main" noGrp="1"/>
          </p:cNvSpPr>
          <p:nvPr/>
        </p:nvSpPr>
        <p:spPr>
          <a:xfrm xmlns:a="http://schemas.openxmlformats.org/drawingml/2006/main">
            <a:off x="723900" y="3228975"/>
            <a:ext cx="495300" cy="457200"/>
          </a:xfrm>
          <a:prstGeom xmlns:a="http://schemas.openxmlformats.org/drawingml/2006/main" prst="roundRect">
            <a:avLst>
              <a:gd name="adj" fmla="val 25000"/>
            </a:avLst>
          </a:prstGeom>
          <a:solidFill xmlns:a="http://schemas.openxmlformats.org/drawingml/2006/main">
            <a:srgbClr val="10243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12A9FD7-00C2-4FDE-84EB-939F184F9D3A}"/>
              </a:ext>
            </a:extLst>
          </p:cNvPr>
          <p:cNvSpPr>
            <a:spLocks xmlns:a="http://schemas.openxmlformats.org/drawingml/2006/main" noGrp="1"/>
          </p:cNvSpPr>
          <p:nvPr/>
        </p:nvSpPr>
        <p:spPr>
          <a:xfrm xmlns:a="http://schemas.openxmlformats.org/drawingml/2006/main">
            <a:off x="800100" y="3248025"/>
            <a:ext cx="34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FFFFFF"/>
                </a:solidFill>
                <a:latin typeface="Aptos"/>
                <a:ea typeface="Aptos"/>
                <a:cs typeface="Aptos"/>
              </a:defRPr>
            </a:defPPr>
          </a:lstStyle>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CDED0257-E8A7-4A4D-A6FD-CB2FB40F2032}"/>
              </a:ext>
            </a:extLst>
          </p:cNvPr>
          <p:cNvSpPr>
            <a:spLocks xmlns:a="http://schemas.openxmlformats.org/drawingml/2006/main" noGrp="1"/>
          </p:cNvSpPr>
          <p:nvPr/>
        </p:nvSpPr>
        <p:spPr>
          <a:xfrm xmlns:a="http://schemas.openxmlformats.org/drawingml/2006/main">
            <a:off x="1457325" y="32194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latin typeface="Aptos"/>
                <a:ea typeface="Aptos"/>
                <a:cs typeface="Aptos"/>
              </a:defRPr>
            </a:defPPr>
          </a:lstStyle>
          <a:p xmlns:a="http://schemas.openxmlformats.org/drawingml/2006/main">
            <a:pPr algn="l">
              <a:defRPr sz="1575" b="1">
                <a:solidFill>
                  <a:srgbClr val="10243A"/>
                </a:solidFill>
                <a:latin typeface="Aptos"/>
                <a:ea typeface="Aptos"/>
                <a:cs typeface="Aptos"/>
              </a:defRPr>
            </a:pPr>
            <a:r>
              <a:rPr sz="1575" b="1">
                <a:solidFill>
                  <a:srgbClr val="10243A"/>
                </a:solidFill>
                <a:latin typeface="Aptos"/>
                <a:ea typeface="Aptos"/>
                <a:cs typeface="Aptos"/>
              </a:rPr>
              <a:t>Wire each bit slice</a:t>
            </a:r>
          </a:p>
        </p:txBody>
      </p:sp>
      <p:sp>
        <p:nvSpPr>
          <p:cNvPr id="17" name="">
            <a:extLst xmlns:a="http://schemas.openxmlformats.org/drawingml/2006/main">
              <a:ext uri="{FF2B5EF4-FFF2-40B4-BE49-F238E27FC236}">
                <a16:creationId xmlns:a16="http://schemas.microsoft.com/office/drawing/2014/main" id="{D3194AB1-DB21-4988-815D-2C1CBFC4CD35}"/>
              </a:ext>
            </a:extLst>
          </p:cNvPr>
          <p:cNvSpPr>
            <a:spLocks xmlns:a="http://schemas.openxmlformats.org/drawingml/2006/main" noGrp="1"/>
          </p:cNvSpPr>
          <p:nvPr/>
        </p:nvSpPr>
        <p:spPr>
          <a:xfrm xmlns:a="http://schemas.openxmlformats.org/drawingml/2006/main">
            <a:off x="4572000" y="3219450"/>
            <a:ext cx="657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26779"/>
                </a:solidFill>
                <a:latin typeface="Aptos"/>
                <a:ea typeface="Aptos"/>
                <a:cs typeface="Aptos"/>
              </a:defRPr>
            </a:defPPr>
          </a:lstStyle>
          <a:p xmlns:a="http://schemas.openxmlformats.org/drawingml/2006/main">
            <a:pPr algn="l">
              <a:defRPr sz="1425" b="0">
                <a:solidFill>
                  <a:srgbClr val="526779"/>
                </a:solidFill>
                <a:latin typeface="Aptos"/>
                <a:ea typeface="Aptos"/>
                <a:cs typeface="Aptos"/>
              </a:defRPr>
            </a:pPr>
            <a:r>
              <a:rPr sz="1425" b="0">
                <a:solidFill>
                  <a:srgbClr val="526779"/>
                </a:solidFill>
                <a:latin typeface="Aptos"/>
                <a:ea typeface="Aptos"/>
                <a:cs typeface="Aptos"/>
              </a:rPr>
              <a:t>MUX inputs are Dᵢ and feedback Qᵢ; MUX output goes to D of its flip-flop.</a:t>
            </a:r>
          </a:p>
        </p:txBody>
      </p:sp>
      <p:sp>
        <p:nvSpPr>
          <p:cNvPr id="18" name="">
            <a:extLst xmlns:a="http://schemas.openxmlformats.org/drawingml/2006/main">
              <a:ext uri="{FF2B5EF4-FFF2-40B4-BE49-F238E27FC236}">
                <a16:creationId xmlns:a16="http://schemas.microsoft.com/office/drawing/2014/main" id="{40FC11EA-456F-4BF6-B084-1BB39DA39B00}"/>
              </a:ext>
            </a:extLst>
          </p:cNvPr>
          <p:cNvSpPr>
            <a:spLocks xmlns:a="http://schemas.openxmlformats.org/drawingml/2006/main" noGrp="1"/>
          </p:cNvSpPr>
          <p:nvPr/>
        </p:nvSpPr>
        <p:spPr>
          <a:xfrm xmlns:a="http://schemas.openxmlformats.org/drawingml/2006/main">
            <a:off x="1457325" y="3838575"/>
            <a:ext cx="9496425"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19" name="">
            <a:extLst xmlns:a="http://schemas.openxmlformats.org/drawingml/2006/main">
              <a:ext uri="{FF2B5EF4-FFF2-40B4-BE49-F238E27FC236}">
                <a16:creationId xmlns:a16="http://schemas.microsoft.com/office/drawing/2014/main" id="{926AB2E4-C50C-4FD1-B9E6-ED43DEA4AE0E}"/>
              </a:ext>
            </a:extLst>
          </p:cNvPr>
          <p:cNvSpPr>
            <a:spLocks xmlns:a="http://schemas.openxmlformats.org/drawingml/2006/main" noGrp="1"/>
          </p:cNvSpPr>
          <p:nvPr/>
        </p:nvSpPr>
        <p:spPr>
          <a:xfrm xmlns:a="http://schemas.openxmlformats.org/drawingml/2006/main">
            <a:off x="723900" y="4095750"/>
            <a:ext cx="495300" cy="457200"/>
          </a:xfrm>
          <a:prstGeom xmlns:a="http://schemas.openxmlformats.org/drawingml/2006/main" prst="roundRect">
            <a:avLst>
              <a:gd name="adj" fmla="val 25000"/>
            </a:avLst>
          </a:prstGeom>
          <a:solidFill xmlns:a="http://schemas.openxmlformats.org/drawingml/2006/main">
            <a:srgbClr val="1024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633CBB0-0BF5-45E8-91F1-1D91B070D65F}"/>
              </a:ext>
            </a:extLst>
          </p:cNvPr>
          <p:cNvSpPr>
            <a:spLocks xmlns:a="http://schemas.openxmlformats.org/drawingml/2006/main" noGrp="1"/>
          </p:cNvSpPr>
          <p:nvPr/>
        </p:nvSpPr>
        <p:spPr>
          <a:xfrm xmlns:a="http://schemas.openxmlformats.org/drawingml/2006/main">
            <a:off x="800100" y="4114800"/>
            <a:ext cx="34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FFFFFF"/>
                </a:solidFill>
                <a:latin typeface="Aptos"/>
                <a:ea typeface="Aptos"/>
                <a:cs typeface="Aptos"/>
              </a:defRPr>
            </a:defPPr>
          </a:lstStyle>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741AB121-9125-4E31-971B-A0677BB6560B}"/>
              </a:ext>
            </a:extLst>
          </p:cNvPr>
          <p:cNvSpPr>
            <a:spLocks xmlns:a="http://schemas.openxmlformats.org/drawingml/2006/main" noGrp="1"/>
          </p:cNvSpPr>
          <p:nvPr/>
        </p:nvSpPr>
        <p:spPr>
          <a:xfrm xmlns:a="http://schemas.openxmlformats.org/drawingml/2006/main">
            <a:off x="1457325" y="4086225"/>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latin typeface="Aptos"/>
                <a:ea typeface="Aptos"/>
                <a:cs typeface="Aptos"/>
              </a:defRPr>
            </a:defPPr>
          </a:lstStyle>
          <a:p xmlns:a="http://schemas.openxmlformats.org/drawingml/2006/main">
            <a:pPr algn="l">
              <a:defRPr sz="1575" b="1">
                <a:solidFill>
                  <a:srgbClr val="10243A"/>
                </a:solidFill>
                <a:latin typeface="Aptos"/>
                <a:ea typeface="Aptos"/>
                <a:cs typeface="Aptos"/>
              </a:defRPr>
            </a:pPr>
            <a:r>
              <a:rPr sz="1575" b="1">
                <a:solidFill>
                  <a:srgbClr val="10243A"/>
                </a:solidFill>
                <a:latin typeface="Aptos"/>
                <a:ea typeface="Aptos"/>
                <a:cs typeface="Aptos"/>
              </a:rPr>
              <a:t>Share EN and CLK</a:t>
            </a:r>
          </a:p>
        </p:txBody>
      </p:sp>
      <p:sp>
        <p:nvSpPr>
          <p:cNvPr id="22" name="">
            <a:extLst xmlns:a="http://schemas.openxmlformats.org/drawingml/2006/main">
              <a:ext uri="{FF2B5EF4-FFF2-40B4-BE49-F238E27FC236}">
                <a16:creationId xmlns:a16="http://schemas.microsoft.com/office/drawing/2014/main" id="{E5DF4EDA-BD67-4550-A373-21F2FB47E455}"/>
              </a:ext>
            </a:extLst>
          </p:cNvPr>
          <p:cNvSpPr>
            <a:spLocks xmlns:a="http://schemas.openxmlformats.org/drawingml/2006/main" noGrp="1"/>
          </p:cNvSpPr>
          <p:nvPr/>
        </p:nvSpPr>
        <p:spPr>
          <a:xfrm xmlns:a="http://schemas.openxmlformats.org/drawingml/2006/main">
            <a:off x="4572000" y="4086225"/>
            <a:ext cx="657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26779"/>
                </a:solidFill>
                <a:latin typeface="Aptos"/>
                <a:ea typeface="Aptos"/>
                <a:cs typeface="Aptos"/>
              </a:defRPr>
            </a:defPPr>
          </a:lstStyle>
          <a:p xmlns:a="http://schemas.openxmlformats.org/drawingml/2006/main">
            <a:pPr algn="l">
              <a:defRPr sz="1425" b="0">
                <a:solidFill>
                  <a:srgbClr val="526779"/>
                </a:solidFill>
                <a:latin typeface="Aptos"/>
                <a:ea typeface="Aptos"/>
                <a:cs typeface="Aptos"/>
              </a:defRPr>
            </a:pPr>
            <a:r>
              <a:rPr sz="1425" b="0">
                <a:solidFill>
                  <a:srgbClr val="526779"/>
                </a:solidFill>
                <a:latin typeface="Aptos"/>
                <a:ea typeface="Aptos"/>
                <a:cs typeface="Aptos"/>
              </a:rPr>
              <a:t>Connect the same enable and clock to all eight slices.</a:t>
            </a:r>
          </a:p>
        </p:txBody>
      </p:sp>
      <p:sp>
        <p:nvSpPr>
          <p:cNvPr id="23" name="">
            <a:extLst xmlns:a="http://schemas.openxmlformats.org/drawingml/2006/main">
              <a:ext uri="{FF2B5EF4-FFF2-40B4-BE49-F238E27FC236}">
                <a16:creationId xmlns:a16="http://schemas.microsoft.com/office/drawing/2014/main" id="{F792C067-6AF3-4214-AC71-EF343BC0E55C}"/>
              </a:ext>
            </a:extLst>
          </p:cNvPr>
          <p:cNvSpPr>
            <a:spLocks xmlns:a="http://schemas.openxmlformats.org/drawingml/2006/main" noGrp="1"/>
          </p:cNvSpPr>
          <p:nvPr/>
        </p:nvSpPr>
        <p:spPr>
          <a:xfrm xmlns:a="http://schemas.openxmlformats.org/drawingml/2006/main">
            <a:off x="1457325" y="4705350"/>
            <a:ext cx="9496425" cy="0"/>
          </a:xfrm>
          <a:prstGeom xmlns:a="http://schemas.openxmlformats.org/drawingml/2006/main" prst="line">
            <a:avLst/>
          </a:prstGeom>
          <a:noFill xmlns:a="http://schemas.openxmlformats.org/drawingml/2006/main"/>
          <a:ln xmlns:a="http://schemas.openxmlformats.org/drawingml/2006/main" w="9525">
            <a:solidFill>
              <a:srgbClr val="CAD5DD"/>
            </a:solidFill>
            <a:prstDash val="solid"/>
          </a:ln>
        </p:spPr>
      </p:sp>
      <p:sp>
        <p:nvSpPr>
          <p:cNvPr id="24" name="">
            <a:extLst xmlns:a="http://schemas.openxmlformats.org/drawingml/2006/main">
              <a:ext uri="{FF2B5EF4-FFF2-40B4-BE49-F238E27FC236}">
                <a16:creationId xmlns:a16="http://schemas.microsoft.com/office/drawing/2014/main" id="{7972483B-ACA1-4DCF-A669-8F0C958EE98C}"/>
              </a:ext>
            </a:extLst>
          </p:cNvPr>
          <p:cNvSpPr>
            <a:spLocks xmlns:a="http://schemas.openxmlformats.org/drawingml/2006/main" noGrp="1"/>
          </p:cNvSpPr>
          <p:nvPr/>
        </p:nvSpPr>
        <p:spPr>
          <a:xfrm xmlns:a="http://schemas.openxmlformats.org/drawingml/2006/main">
            <a:off x="723900" y="4962525"/>
            <a:ext cx="495300" cy="457200"/>
          </a:xfrm>
          <a:prstGeom xmlns:a="http://schemas.openxmlformats.org/drawingml/2006/main" prst="roundRect">
            <a:avLst>
              <a:gd name="adj" fmla="val 25000"/>
            </a:avLst>
          </a:prstGeom>
          <a:solidFill xmlns:a="http://schemas.openxmlformats.org/drawingml/2006/main">
            <a:srgbClr val="1C9A9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FBAAD1-ADBA-4F23-9485-2F0179AFC9B9}"/>
              </a:ext>
            </a:extLst>
          </p:cNvPr>
          <p:cNvSpPr>
            <a:spLocks xmlns:a="http://schemas.openxmlformats.org/drawingml/2006/main" noGrp="1"/>
          </p:cNvSpPr>
          <p:nvPr/>
        </p:nvSpPr>
        <p:spPr>
          <a:xfrm xmlns:a="http://schemas.openxmlformats.org/drawingml/2006/main">
            <a:off x="800100" y="4981575"/>
            <a:ext cx="34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1">
                <a:solidFill>
                  <a:srgbClr val="FFFFFF"/>
                </a:solidFill>
                <a:latin typeface="Aptos"/>
                <a:ea typeface="Aptos"/>
                <a:cs typeface="Aptos"/>
              </a:defRPr>
            </a:defPPr>
          </a:lstStyle>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6" name="">
            <a:extLst xmlns:a="http://schemas.openxmlformats.org/drawingml/2006/main">
              <a:ext uri="{FF2B5EF4-FFF2-40B4-BE49-F238E27FC236}">
                <a16:creationId xmlns:a16="http://schemas.microsoft.com/office/drawing/2014/main" id="{8D5DBB4E-FACB-4787-8883-86E6EF7833C9}"/>
              </a:ext>
            </a:extLst>
          </p:cNvPr>
          <p:cNvSpPr>
            <a:spLocks xmlns:a="http://schemas.openxmlformats.org/drawingml/2006/main" noGrp="1"/>
          </p:cNvSpPr>
          <p:nvPr/>
        </p:nvSpPr>
        <p:spPr>
          <a:xfrm xmlns:a="http://schemas.openxmlformats.org/drawingml/2006/main">
            <a:off x="1457325" y="495300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latin typeface="Aptos"/>
                <a:ea typeface="Aptos"/>
                <a:cs typeface="Aptos"/>
              </a:defRPr>
            </a:defPPr>
          </a:lstStyle>
          <a:p xmlns:a="http://schemas.openxmlformats.org/drawingml/2006/main">
            <a:pPr algn="l">
              <a:defRPr sz="1575" b="1">
                <a:solidFill>
                  <a:srgbClr val="10243A"/>
                </a:solidFill>
                <a:latin typeface="Aptos"/>
                <a:ea typeface="Aptos"/>
                <a:cs typeface="Aptos"/>
              </a:defRPr>
            </a:pPr>
            <a:r>
              <a:rPr sz="1575" b="1">
                <a:solidFill>
                  <a:srgbClr val="10243A"/>
                </a:solidFill>
                <a:latin typeface="Aptos"/>
                <a:ea typeface="Aptos"/>
                <a:cs typeface="Aptos"/>
              </a:rPr>
              <a:t>Check both modes</a:t>
            </a:r>
          </a:p>
        </p:txBody>
      </p:sp>
      <p:sp>
        <p:nvSpPr>
          <p:cNvPr id="27" name="">
            <a:extLst xmlns:a="http://schemas.openxmlformats.org/drawingml/2006/main">
              <a:ext uri="{FF2B5EF4-FFF2-40B4-BE49-F238E27FC236}">
                <a16:creationId xmlns:a16="http://schemas.microsoft.com/office/drawing/2014/main" id="{B87A90BE-410C-4928-A22B-D7D331A8D8AE}"/>
              </a:ext>
            </a:extLst>
          </p:cNvPr>
          <p:cNvSpPr>
            <a:spLocks xmlns:a="http://schemas.openxmlformats.org/drawingml/2006/main" noGrp="1"/>
          </p:cNvSpPr>
          <p:nvPr/>
        </p:nvSpPr>
        <p:spPr>
          <a:xfrm xmlns:a="http://schemas.openxmlformats.org/drawingml/2006/main">
            <a:off x="4572000" y="4953000"/>
            <a:ext cx="657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26779"/>
                </a:solidFill>
                <a:latin typeface="Aptos"/>
                <a:ea typeface="Aptos"/>
                <a:cs typeface="Aptos"/>
              </a:defRPr>
            </a:defPPr>
          </a:lstStyle>
          <a:p xmlns:a="http://schemas.openxmlformats.org/drawingml/2006/main">
            <a:pPr algn="l">
              <a:defRPr sz="1425" b="0">
                <a:solidFill>
                  <a:srgbClr val="526779"/>
                </a:solidFill>
                <a:latin typeface="Aptos"/>
                <a:ea typeface="Aptos"/>
                <a:cs typeface="Aptos"/>
              </a:defRPr>
            </a:pPr>
            <a:r>
              <a:rPr sz="1425" b="0">
                <a:solidFill>
                  <a:srgbClr val="526779"/>
                </a:solidFill>
                <a:latin typeface="Aptos"/>
                <a:ea typeface="Aptos"/>
                <a:cs typeface="Aptos"/>
              </a:rPr>
              <a:t>EN=1 loads; EN=0 holds the previous 8-bit output.</a:t>
            </a:r>
          </a:p>
        </p:txBody>
      </p:sp>
    </p:spTree>
    <p:extLst>
      <p:ext uri="{BB962C8B-B14F-4D97-AF65-F5344CB8AC3E}">
        <p14:creationId xmlns:p14="http://schemas.microsoft.com/office/powerpoint/2010/main" val="1411713089"/>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93E29594-16A2-4763-9B78-DC22757C13C1}"/>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0243A"/>
                </a:solidFill>
                <a:latin typeface="Aptos"/>
                <a:ea typeface="Aptos"/>
                <a:cs typeface="Aptos"/>
              </a:defRPr>
            </a:defPPr>
          </a:lstStyle>
          <a:p xmlns:a="http://schemas.openxmlformats.org/drawingml/2006/main">
            <a:pPr algn="l">
              <a:defRPr sz="3150" b="1">
                <a:solidFill>
                  <a:srgbClr val="10243A"/>
                </a:solidFill>
                <a:latin typeface="Aptos"/>
                <a:ea typeface="Aptos"/>
                <a:cs typeface="Aptos"/>
              </a:defRPr>
            </a:pPr>
            <a:r>
              <a:rPr sz="3150" b="1">
                <a:solidFill>
                  <a:srgbClr val="10243A"/>
                </a:solidFill>
                <a:latin typeface="Aptos"/>
                <a:ea typeface="Aptos"/>
                <a:cs typeface="Aptos"/>
              </a:rPr>
              <a:t>Where load-enable registers are used</a:t>
            </a:r>
          </a:p>
        </p:txBody>
      </p:sp>
      <p:sp>
        <p:nvSpPr>
          <p:cNvPr id="2" name="">
            <a:extLst xmlns:a="http://schemas.openxmlformats.org/drawingml/2006/main">
              <a:ext uri="{FF2B5EF4-FFF2-40B4-BE49-F238E27FC236}">
                <a16:creationId xmlns:a16="http://schemas.microsoft.com/office/drawing/2014/main" id="{36128F3E-C69B-430F-92D8-468EA39E9E13}"/>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D9567741-94CD-4445-87E7-1728E38152C5}"/>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718391"/>
                </a:solidFill>
                <a:latin typeface="Aptos"/>
                <a:ea typeface="Aptos"/>
                <a:cs typeface="Aptos"/>
              </a:defRPr>
            </a:defPPr>
          </a:lstStyle>
          <a:p xmlns:a="http://schemas.openxmlformats.org/drawingml/2006/main">
            <a:pPr algn="r">
              <a:defRPr sz="1125" b="1">
                <a:solidFill>
                  <a:srgbClr val="718391"/>
                </a:solidFill>
                <a:latin typeface="Aptos"/>
                <a:ea typeface="Aptos"/>
                <a:cs typeface="Aptos"/>
              </a:defRPr>
            </a:pPr>
            <a:r>
              <a:rPr sz="1125" b="1">
                <a:solidFill>
                  <a:srgbClr val="718391"/>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F7D23354-1813-4AD3-8C07-08A5D11C60C8}"/>
              </a:ext>
            </a:extLst>
          </p:cNvPr>
          <p:cNvSpPr>
            <a:spLocks xmlns:a="http://schemas.openxmlformats.org/drawingml/2006/main" noGrp="1"/>
          </p:cNvSpPr>
          <p:nvPr/>
        </p:nvSpPr>
        <p:spPr>
          <a:xfrm xmlns:a="http://schemas.openxmlformats.org/drawingml/2006/main">
            <a:off x="876300" y="1600200"/>
            <a:ext cx="114300" cy="114300"/>
          </a:xfrm>
          <a:prstGeom xmlns:a="http://schemas.openxmlformats.org/drawingml/2006/main" prst="ellipse">
            <a:avLst/>
          </a:prstGeom>
          <a:solidFill xmlns:a="http://schemas.openxmlformats.org/drawingml/2006/main">
            <a:srgbClr val="1C9A9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497A69C-A731-40B5-A1E8-65420F791BAF}"/>
              </a:ext>
            </a:extLst>
          </p:cNvPr>
          <p:cNvSpPr>
            <a:spLocks xmlns:a="http://schemas.openxmlformats.org/drawingml/2006/main" noGrp="1"/>
          </p:cNvSpPr>
          <p:nvPr/>
        </p:nvSpPr>
        <p:spPr>
          <a:xfrm xmlns:a="http://schemas.openxmlformats.org/drawingml/2006/main">
            <a:off x="1143000" y="1524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43A"/>
                </a:solidFill>
                <a:latin typeface="Aptos"/>
                <a:ea typeface="Aptos"/>
                <a:cs typeface="Aptos"/>
              </a:defRPr>
            </a:defPPr>
          </a:lstStyle>
          <a:p xmlns:a="http://schemas.openxmlformats.org/drawingml/2006/main">
            <a:pPr algn="l">
              <a:defRPr sz="1650" b="1">
                <a:solidFill>
                  <a:srgbClr val="10243A"/>
                </a:solidFill>
                <a:latin typeface="Aptos"/>
                <a:ea typeface="Aptos"/>
                <a:cs typeface="Aptos"/>
              </a:defRPr>
            </a:pPr>
            <a:r>
              <a:rPr sz="1650" b="1">
                <a:solidFill>
                  <a:srgbClr val="10243A"/>
                </a:solidFill>
                <a:latin typeface="Aptos"/>
                <a:ea typeface="Aptos"/>
                <a:cs typeface="Aptos"/>
              </a:rPr>
              <a:t>Processor registers</a:t>
            </a:r>
          </a:p>
        </p:txBody>
      </p:sp>
      <p:sp>
        <p:nvSpPr>
          <p:cNvPr id="6" name="">
            <a:extLst xmlns:a="http://schemas.openxmlformats.org/drawingml/2006/main">
              <a:ext uri="{FF2B5EF4-FFF2-40B4-BE49-F238E27FC236}">
                <a16:creationId xmlns:a16="http://schemas.microsoft.com/office/drawing/2014/main" id="{274E5118-241B-4C60-8898-EC0ADF67914B}"/>
              </a:ext>
            </a:extLst>
          </p:cNvPr>
          <p:cNvSpPr>
            <a:spLocks xmlns:a="http://schemas.openxmlformats.org/drawingml/2006/main" noGrp="1"/>
          </p:cNvSpPr>
          <p:nvPr/>
        </p:nvSpPr>
        <p:spPr>
          <a:xfrm xmlns:a="http://schemas.openxmlformats.org/drawingml/2006/main">
            <a:off x="1143000" y="1847850"/>
            <a:ext cx="4438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526779"/>
                </a:solidFill>
                <a:latin typeface="Aptos"/>
                <a:ea typeface="Aptos"/>
                <a:cs typeface="Aptos"/>
              </a:defRPr>
            </a:defPPr>
          </a:lstStyle>
          <a:p xmlns:a="http://schemas.openxmlformats.org/drawingml/2006/main">
            <a:pPr algn="l">
              <a:defRPr sz="1500" b="0">
                <a:solidFill>
                  <a:srgbClr val="526779"/>
                </a:solidFill>
                <a:latin typeface="Aptos"/>
                <a:ea typeface="Aptos"/>
                <a:cs typeface="Aptos"/>
              </a:defRPr>
            </a:pPr>
            <a:r>
              <a:rPr sz="1500" b="0">
                <a:solidFill>
                  <a:srgbClr val="526779"/>
                </a:solidFill>
                <a:latin typeface="Aptos"/>
                <a:ea typeface="Aptos"/>
                <a:cs typeface="Aptos"/>
              </a:rPr>
              <a:t>Hold operands, addresses, or intermediate results until a control signal permits an update.</a:t>
            </a:r>
          </a:p>
        </p:txBody>
      </p:sp>
      <p:sp>
        <p:nvSpPr>
          <p:cNvPr id="7" name="">
            <a:extLst xmlns:a="http://schemas.openxmlformats.org/drawingml/2006/main">
              <a:ext uri="{FF2B5EF4-FFF2-40B4-BE49-F238E27FC236}">
                <a16:creationId xmlns:a16="http://schemas.microsoft.com/office/drawing/2014/main" id="{86E473B0-D8BF-4099-AB21-7545418AA724}"/>
              </a:ext>
            </a:extLst>
          </p:cNvPr>
          <p:cNvSpPr>
            <a:spLocks xmlns:a="http://schemas.openxmlformats.org/drawingml/2006/main" noGrp="1"/>
          </p:cNvSpPr>
          <p:nvPr/>
        </p:nvSpPr>
        <p:spPr>
          <a:xfrm xmlns:a="http://schemas.openxmlformats.org/drawingml/2006/main">
            <a:off x="6286500" y="1600200"/>
            <a:ext cx="114300" cy="114300"/>
          </a:xfrm>
          <a:prstGeom xmlns:a="http://schemas.openxmlformats.org/drawingml/2006/main" prst="ellipse">
            <a:avLst/>
          </a:prstGeom>
          <a:solidFill xmlns:a="http://schemas.openxmlformats.org/drawingml/2006/main">
            <a:srgbClr val="E88B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9F41F6B-5699-4028-8DA2-B8AD2EDAB391}"/>
              </a:ext>
            </a:extLst>
          </p:cNvPr>
          <p:cNvSpPr>
            <a:spLocks xmlns:a="http://schemas.openxmlformats.org/drawingml/2006/main" noGrp="1"/>
          </p:cNvSpPr>
          <p:nvPr/>
        </p:nvSpPr>
        <p:spPr>
          <a:xfrm xmlns:a="http://schemas.openxmlformats.org/drawingml/2006/main">
            <a:off x="6553200" y="15240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43A"/>
                </a:solidFill>
                <a:latin typeface="Aptos"/>
                <a:ea typeface="Aptos"/>
                <a:cs typeface="Aptos"/>
              </a:defRPr>
            </a:defPPr>
          </a:lstStyle>
          <a:p xmlns:a="http://schemas.openxmlformats.org/drawingml/2006/main">
            <a:pPr algn="l">
              <a:defRPr sz="1650" b="1">
                <a:solidFill>
                  <a:srgbClr val="10243A"/>
                </a:solidFill>
                <a:latin typeface="Aptos"/>
                <a:ea typeface="Aptos"/>
                <a:cs typeface="Aptos"/>
              </a:defRPr>
            </a:pPr>
            <a:r>
              <a:rPr sz="1650" b="1">
                <a:solidFill>
                  <a:srgbClr val="10243A"/>
                </a:solidFill>
                <a:latin typeface="Aptos"/>
                <a:ea typeface="Aptos"/>
                <a:cs typeface="Aptos"/>
              </a:rPr>
              <a:t>Pipeline stages</a:t>
            </a:r>
          </a:p>
        </p:txBody>
      </p:sp>
      <p:sp>
        <p:nvSpPr>
          <p:cNvPr id="9" name="">
            <a:extLst xmlns:a="http://schemas.openxmlformats.org/drawingml/2006/main">
              <a:ext uri="{FF2B5EF4-FFF2-40B4-BE49-F238E27FC236}">
                <a16:creationId xmlns:a16="http://schemas.microsoft.com/office/drawing/2014/main" id="{4159FECC-63DE-45B4-A9C2-24297F06E820}"/>
              </a:ext>
            </a:extLst>
          </p:cNvPr>
          <p:cNvSpPr>
            <a:spLocks xmlns:a="http://schemas.openxmlformats.org/drawingml/2006/main" noGrp="1"/>
          </p:cNvSpPr>
          <p:nvPr/>
        </p:nvSpPr>
        <p:spPr>
          <a:xfrm xmlns:a="http://schemas.openxmlformats.org/drawingml/2006/main">
            <a:off x="6553200" y="1847850"/>
            <a:ext cx="4438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526779"/>
                </a:solidFill>
                <a:latin typeface="Aptos"/>
                <a:ea typeface="Aptos"/>
                <a:cs typeface="Aptos"/>
              </a:defRPr>
            </a:defPPr>
          </a:lstStyle>
          <a:p xmlns:a="http://schemas.openxmlformats.org/drawingml/2006/main">
            <a:pPr algn="l">
              <a:defRPr sz="1500" b="0">
                <a:solidFill>
                  <a:srgbClr val="526779"/>
                </a:solidFill>
                <a:latin typeface="Aptos"/>
                <a:ea typeface="Aptos"/>
                <a:cs typeface="Aptos"/>
              </a:defRPr>
            </a:pPr>
            <a:r>
              <a:rPr sz="1500" b="0">
                <a:solidFill>
                  <a:srgbClr val="526779"/>
                </a:solidFill>
                <a:latin typeface="Aptos"/>
                <a:ea typeface="Aptos"/>
                <a:cs typeface="Aptos"/>
              </a:rPr>
              <a:t>Keep a stage’s data stable when the next stage is not ready to accept it.</a:t>
            </a:r>
          </a:p>
        </p:txBody>
      </p:sp>
      <p:sp>
        <p:nvSpPr>
          <p:cNvPr id="10" name="">
            <a:extLst xmlns:a="http://schemas.openxmlformats.org/drawingml/2006/main">
              <a:ext uri="{FF2B5EF4-FFF2-40B4-BE49-F238E27FC236}">
                <a16:creationId xmlns:a16="http://schemas.microsoft.com/office/drawing/2014/main" id="{C26EF0B0-924A-40F0-9299-B5F23B8BA664}"/>
              </a:ext>
            </a:extLst>
          </p:cNvPr>
          <p:cNvSpPr>
            <a:spLocks xmlns:a="http://schemas.openxmlformats.org/drawingml/2006/main" noGrp="1"/>
          </p:cNvSpPr>
          <p:nvPr/>
        </p:nvSpPr>
        <p:spPr>
          <a:xfrm xmlns:a="http://schemas.openxmlformats.org/drawingml/2006/main">
            <a:off x="876300" y="3314700"/>
            <a:ext cx="114300" cy="114300"/>
          </a:xfrm>
          <a:prstGeom xmlns:a="http://schemas.openxmlformats.org/drawingml/2006/main" prst="ellipse">
            <a:avLst/>
          </a:prstGeom>
          <a:solidFill xmlns:a="http://schemas.openxmlformats.org/drawingml/2006/main">
            <a:srgbClr val="4777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0F68B60-E867-4BB1-8B04-603C4247AF4D}"/>
              </a:ext>
            </a:extLst>
          </p:cNvPr>
          <p:cNvSpPr>
            <a:spLocks xmlns:a="http://schemas.openxmlformats.org/drawingml/2006/main" noGrp="1"/>
          </p:cNvSpPr>
          <p:nvPr/>
        </p:nvSpPr>
        <p:spPr>
          <a:xfrm xmlns:a="http://schemas.openxmlformats.org/drawingml/2006/main">
            <a:off x="1143000" y="32385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43A"/>
                </a:solidFill>
                <a:latin typeface="Aptos"/>
                <a:ea typeface="Aptos"/>
                <a:cs typeface="Aptos"/>
              </a:defRPr>
            </a:defPPr>
          </a:lstStyle>
          <a:p xmlns:a="http://schemas.openxmlformats.org/drawingml/2006/main">
            <a:pPr algn="l">
              <a:defRPr sz="1650" b="1">
                <a:solidFill>
                  <a:srgbClr val="10243A"/>
                </a:solidFill>
                <a:latin typeface="Aptos"/>
                <a:ea typeface="Aptos"/>
                <a:cs typeface="Aptos"/>
              </a:defRPr>
            </a:pPr>
            <a:r>
              <a:rPr sz="1650" b="1">
                <a:solidFill>
                  <a:srgbClr val="10243A"/>
                </a:solidFill>
                <a:latin typeface="Aptos"/>
                <a:ea typeface="Aptos"/>
                <a:cs typeface="Aptos"/>
              </a:rPr>
              <a:t>Input and output buffers</a:t>
            </a:r>
          </a:p>
        </p:txBody>
      </p:sp>
      <p:sp>
        <p:nvSpPr>
          <p:cNvPr id="12" name="">
            <a:extLst xmlns:a="http://schemas.openxmlformats.org/drawingml/2006/main">
              <a:ext uri="{FF2B5EF4-FFF2-40B4-BE49-F238E27FC236}">
                <a16:creationId xmlns:a16="http://schemas.microsoft.com/office/drawing/2014/main" id="{AE4CF1D0-9407-4016-898D-D1577087674A}"/>
              </a:ext>
            </a:extLst>
          </p:cNvPr>
          <p:cNvSpPr>
            <a:spLocks xmlns:a="http://schemas.openxmlformats.org/drawingml/2006/main" noGrp="1"/>
          </p:cNvSpPr>
          <p:nvPr/>
        </p:nvSpPr>
        <p:spPr>
          <a:xfrm xmlns:a="http://schemas.openxmlformats.org/drawingml/2006/main">
            <a:off x="1143000" y="3562350"/>
            <a:ext cx="4438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526779"/>
                </a:solidFill>
                <a:latin typeface="Aptos"/>
                <a:ea typeface="Aptos"/>
                <a:cs typeface="Aptos"/>
              </a:defRPr>
            </a:defPPr>
          </a:lstStyle>
          <a:p xmlns:a="http://schemas.openxmlformats.org/drawingml/2006/main">
            <a:pPr algn="l">
              <a:defRPr sz="1500" b="0">
                <a:solidFill>
                  <a:srgbClr val="526779"/>
                </a:solidFill>
                <a:latin typeface="Aptos"/>
                <a:ea typeface="Aptos"/>
                <a:cs typeface="Aptos"/>
              </a:defRPr>
            </a:pPr>
            <a:r>
              <a:rPr sz="1500" b="0">
                <a:solidFill>
                  <a:srgbClr val="526779"/>
                </a:solidFill>
                <a:latin typeface="Aptos"/>
                <a:ea typeface="Aptos"/>
                <a:cs typeface="Aptos"/>
              </a:rPr>
              <a:t>Capture a data word at a chosen clock edge and present it steadily to another block.</a:t>
            </a:r>
          </a:p>
        </p:txBody>
      </p:sp>
      <p:sp>
        <p:nvSpPr>
          <p:cNvPr id="13" name="">
            <a:extLst xmlns:a="http://schemas.openxmlformats.org/drawingml/2006/main">
              <a:ext uri="{FF2B5EF4-FFF2-40B4-BE49-F238E27FC236}">
                <a16:creationId xmlns:a16="http://schemas.microsoft.com/office/drawing/2014/main" id="{CB11FDBE-F6F3-4D2A-9F65-D5E480555AFB}"/>
              </a:ext>
            </a:extLst>
          </p:cNvPr>
          <p:cNvSpPr>
            <a:spLocks xmlns:a="http://schemas.openxmlformats.org/drawingml/2006/main" noGrp="1"/>
          </p:cNvSpPr>
          <p:nvPr/>
        </p:nvSpPr>
        <p:spPr>
          <a:xfrm xmlns:a="http://schemas.openxmlformats.org/drawingml/2006/main">
            <a:off x="6286500" y="3314700"/>
            <a:ext cx="114300" cy="114300"/>
          </a:xfrm>
          <a:prstGeom xmlns:a="http://schemas.openxmlformats.org/drawingml/2006/main" prst="ellipse">
            <a:avLst/>
          </a:prstGeom>
          <a:solidFill xmlns:a="http://schemas.openxmlformats.org/drawingml/2006/main">
            <a:srgbClr val="317B6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5D18B9-8B0F-403B-B334-A96C4DD45444}"/>
              </a:ext>
            </a:extLst>
          </p:cNvPr>
          <p:cNvSpPr>
            <a:spLocks xmlns:a="http://schemas.openxmlformats.org/drawingml/2006/main" noGrp="1"/>
          </p:cNvSpPr>
          <p:nvPr/>
        </p:nvSpPr>
        <p:spPr>
          <a:xfrm xmlns:a="http://schemas.openxmlformats.org/drawingml/2006/main">
            <a:off x="6553200" y="32385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43A"/>
                </a:solidFill>
                <a:latin typeface="Aptos"/>
                <a:ea typeface="Aptos"/>
                <a:cs typeface="Aptos"/>
              </a:defRPr>
            </a:defPPr>
          </a:lstStyle>
          <a:p xmlns:a="http://schemas.openxmlformats.org/drawingml/2006/main">
            <a:pPr algn="l">
              <a:defRPr sz="1650" b="1">
                <a:solidFill>
                  <a:srgbClr val="10243A"/>
                </a:solidFill>
                <a:latin typeface="Aptos"/>
                <a:ea typeface="Aptos"/>
                <a:cs typeface="Aptos"/>
              </a:defRPr>
            </a:pPr>
            <a:r>
              <a:rPr sz="1650" b="1">
                <a:solidFill>
                  <a:srgbClr val="10243A"/>
                </a:solidFill>
                <a:latin typeface="Aptos"/>
                <a:ea typeface="Aptos"/>
                <a:cs typeface="Aptos"/>
              </a:rPr>
              <a:t>Controlled data storage</a:t>
            </a:r>
          </a:p>
        </p:txBody>
      </p:sp>
      <p:sp>
        <p:nvSpPr>
          <p:cNvPr id="15" name="">
            <a:extLst xmlns:a="http://schemas.openxmlformats.org/drawingml/2006/main">
              <a:ext uri="{FF2B5EF4-FFF2-40B4-BE49-F238E27FC236}">
                <a16:creationId xmlns:a16="http://schemas.microsoft.com/office/drawing/2014/main" id="{7B53C20C-2418-47C6-85DB-ADCF6385BFE6}"/>
              </a:ext>
            </a:extLst>
          </p:cNvPr>
          <p:cNvSpPr>
            <a:spLocks xmlns:a="http://schemas.openxmlformats.org/drawingml/2006/main" noGrp="1"/>
          </p:cNvSpPr>
          <p:nvPr/>
        </p:nvSpPr>
        <p:spPr>
          <a:xfrm xmlns:a="http://schemas.openxmlformats.org/drawingml/2006/main">
            <a:off x="6553200" y="3562350"/>
            <a:ext cx="4438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526779"/>
                </a:solidFill>
                <a:latin typeface="Aptos"/>
                <a:ea typeface="Aptos"/>
                <a:cs typeface="Aptos"/>
              </a:defRPr>
            </a:defPPr>
          </a:lstStyle>
          <a:p xmlns:a="http://schemas.openxmlformats.org/drawingml/2006/main">
            <a:pPr algn="l">
              <a:defRPr sz="1500" b="0">
                <a:solidFill>
                  <a:srgbClr val="526779"/>
                </a:solidFill>
                <a:latin typeface="Aptos"/>
                <a:ea typeface="Aptos"/>
                <a:cs typeface="Aptos"/>
              </a:defRPr>
            </a:pPr>
            <a:r>
              <a:rPr sz="1500" b="0">
                <a:solidFill>
                  <a:srgbClr val="526779"/>
                </a:solidFill>
                <a:latin typeface="Aptos"/>
                <a:ea typeface="Aptos"/>
                <a:cs typeface="Aptos"/>
              </a:rPr>
              <a:t>Update a stored word only when a write or load condition is active.</a:t>
            </a:r>
          </a:p>
        </p:txBody>
      </p:sp>
      <p:sp>
        <p:nvSpPr>
          <p:cNvPr id="16" name="">
            <a:extLst xmlns:a="http://schemas.openxmlformats.org/drawingml/2006/main">
              <a:ext uri="{FF2B5EF4-FFF2-40B4-BE49-F238E27FC236}">
                <a16:creationId xmlns:a16="http://schemas.microsoft.com/office/drawing/2014/main" id="{21FA474E-4122-4A88-BE1F-B9383CC072A0}"/>
              </a:ext>
            </a:extLst>
          </p:cNvPr>
          <p:cNvSpPr>
            <a:spLocks xmlns:a="http://schemas.openxmlformats.org/drawingml/2006/main" noGrp="1"/>
          </p:cNvSpPr>
          <p:nvPr/>
        </p:nvSpPr>
        <p:spPr>
          <a:xfrm xmlns:a="http://schemas.openxmlformats.org/drawingml/2006/main">
            <a:off x="876300" y="5010150"/>
            <a:ext cx="10172700" cy="19050"/>
          </a:xfrm>
          <a:prstGeom xmlns:a="http://schemas.openxmlformats.org/drawingml/2006/main" prst="rect">
            <a:avLst/>
          </a:prstGeom>
          <a:solidFill xmlns:a="http://schemas.openxmlformats.org/drawingml/2006/main">
            <a:srgbClr val="CAD5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7D5790E-E480-42AB-811A-324C78B2F996}"/>
              </a:ext>
            </a:extLst>
          </p:cNvPr>
          <p:cNvSpPr>
            <a:spLocks xmlns:a="http://schemas.openxmlformats.org/drawingml/2006/main" noGrp="1"/>
          </p:cNvSpPr>
          <p:nvPr/>
        </p:nvSpPr>
        <p:spPr>
          <a:xfrm xmlns:a="http://schemas.openxmlformats.org/drawingml/2006/main">
            <a:off x="876300" y="533400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1">
                <a:solidFill>
                  <a:srgbClr val="10243A"/>
                </a:solidFill>
                <a:latin typeface="Aptos"/>
                <a:ea typeface="Aptos"/>
                <a:cs typeface="Aptos"/>
              </a:defRPr>
            </a:defPPr>
          </a:lstStyle>
          <a:p xmlns:a="http://schemas.openxmlformats.org/drawingml/2006/main">
            <a:pPr algn="ctr">
              <a:defRPr sz="1875" b="1">
                <a:solidFill>
                  <a:srgbClr val="10243A"/>
                </a:solidFill>
                <a:latin typeface="Aptos"/>
                <a:ea typeface="Aptos"/>
                <a:cs typeface="Aptos"/>
              </a:defRPr>
            </a:pPr>
            <a:r>
              <a:rPr sz="1875" b="1">
                <a:solidFill>
                  <a:srgbClr val="10243A"/>
                </a:solidFill>
                <a:latin typeface="Aptos"/>
                <a:ea typeface="Aptos"/>
                <a:cs typeface="Aptos"/>
              </a:rPr>
              <a:t>The shared idea: store a word, update it selectively, and preserve it otherwise.</a:t>
            </a:r>
          </a:p>
        </p:txBody>
      </p:sp>
    </p:spTree>
    <p:extLst>
      <p:ext uri="{BB962C8B-B14F-4D97-AF65-F5344CB8AC3E}">
        <p14:creationId xmlns:p14="http://schemas.microsoft.com/office/powerpoint/2010/main" val="159565643"/>
      </p:ext>
    </p:extLst>
  </p:cSld>
</p:sld>
</file>

<file path=ppt/slides/slide10.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108EAA6E-59A2-4F42-B1BA-3B5461F49BF2}"/>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FFFFFF"/>
                </a:solidFill>
                <a:latin typeface="Aptos"/>
                <a:ea typeface="Aptos"/>
                <a:cs typeface="Aptos"/>
              </a:defRPr>
            </a:defPPr>
          </a:lstStyle>
          <a:p xmlns:a="http://schemas.openxmlformats.org/drawingml/2006/main">
            <a:pPr algn="l">
              <a:defRPr sz="3150" b="1">
                <a:solidFill>
                  <a:srgbClr val="FFFFFF"/>
                </a:solidFill>
                <a:latin typeface="Aptos"/>
                <a:ea typeface="Aptos"/>
                <a:cs typeface="Aptos"/>
              </a:defRPr>
            </a:pPr>
            <a:r>
              <a:rPr sz="3150" b="1">
                <a:solidFill>
                  <a:srgbClr val="FFFFFF"/>
                </a:solidFill>
                <a:latin typeface="Aptos"/>
                <a:ea typeface="Aptos"/>
                <a:cs typeface="Aptos"/>
              </a:rPr>
              <a:t>Key points to explain in a viva</a:t>
            </a:r>
          </a:p>
        </p:txBody>
      </p:sp>
      <p:sp>
        <p:nvSpPr>
          <p:cNvPr id="2" name="">
            <a:extLst xmlns:a="http://schemas.openxmlformats.org/drawingml/2006/main">
              <a:ext uri="{FF2B5EF4-FFF2-40B4-BE49-F238E27FC236}">
                <a16:creationId xmlns:a16="http://schemas.microsoft.com/office/drawing/2014/main" id="{3943512B-E846-44D5-806B-D24AA5B29CE9}"/>
              </a:ext>
            </a:extLst>
          </p:cNvPr>
          <p:cNvSpPr>
            <a:spLocks xmlns:a="http://schemas.openxmlformats.org/drawingml/2006/main" noGrp="1"/>
          </p:cNvSpPr>
          <p:nvPr/>
        </p:nvSpPr>
        <p:spPr>
          <a:xfrm xmlns:a="http://schemas.openxmlformats.org/drawingml/2006/main">
            <a:off x="685800" y="1047750"/>
            <a:ext cx="609600" cy="47625"/>
          </a:xfrm>
          <a:prstGeom xmlns:a="http://schemas.openxmlformats.org/drawingml/2006/main" prst="rect">
            <a:avLst/>
          </a:prstGeom>
          <a:solidFill xmlns:a="http://schemas.openxmlformats.org/drawingml/2006/main">
            <a:srgbClr val="1C9A92"/>
          </a:solidFill>
          <a:ln xmlns:a="http://schemas.openxmlformats.org/drawingml/2006/main" w="0">
            <a:noFill/>
            <a:prstDash val="solid"/>
          </a:ln>
        </p:spPr>
      </p:sp>
      <p:sp>
        <p:nvSpPr>
          <p:cNvPr id="3" name="page-number">
            <a:extLst xmlns:a="http://schemas.openxmlformats.org/drawingml/2006/main">
              <a:ext uri="{FF2B5EF4-FFF2-40B4-BE49-F238E27FC236}">
                <a16:creationId xmlns:a16="http://schemas.microsoft.com/office/drawing/2014/main" id="{CF4D324D-B0AB-437C-81F9-E8979BF8DCF9}"/>
              </a:ext>
            </a:extLst>
          </p:cNvPr>
          <p:cNvSpPr>
            <a:spLocks xmlns:a="http://schemas.openxmlformats.org/drawingml/2006/main" noGrp="1"/>
          </p:cNvSpPr>
          <p:nvPr/>
        </p:nvSpPr>
        <p:spPr>
          <a:xfrm xmlns:a="http://schemas.openxmlformats.org/drawingml/2006/main">
            <a:off x="10953750" y="6381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125" b="1">
                <a:solidFill>
                  <a:srgbClr val="A9BBC8"/>
                </a:solidFill>
                <a:latin typeface="Aptos"/>
                <a:ea typeface="Aptos"/>
                <a:cs typeface="Aptos"/>
              </a:defRPr>
            </a:defPPr>
          </a:lstStyle>
          <a:p xmlns:a="http://schemas.openxmlformats.org/drawingml/2006/main">
            <a:pPr algn="r">
              <a:defRPr sz="1125" b="1">
                <a:solidFill>
                  <a:srgbClr val="A9BBC8"/>
                </a:solidFill>
                <a:latin typeface="Aptos"/>
                <a:ea typeface="Aptos"/>
                <a:cs typeface="Aptos"/>
              </a:defRPr>
            </a:pPr>
            <a:r>
              <a:rPr sz="1125" b="1">
                <a:solidFill>
                  <a:srgbClr val="A9BBC8"/>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2E28C41D-9D87-470E-8624-EBB6EEF0BFB0}"/>
              </a:ext>
            </a:extLst>
          </p:cNvPr>
          <p:cNvSpPr>
            <a:spLocks xmlns:a="http://schemas.openxmlformats.org/drawingml/2006/main" noGrp="1"/>
          </p:cNvSpPr>
          <p:nvPr/>
        </p:nvSpPr>
        <p:spPr>
          <a:xfrm xmlns:a="http://schemas.openxmlformats.org/drawingml/2006/main">
            <a:off x="857250" y="1514475"/>
            <a:ext cx="361950" cy="361950"/>
          </a:xfrm>
          <a:prstGeom xmlns:a="http://schemas.openxmlformats.org/drawingml/2006/main" prst="ellipse">
            <a:avLst/>
          </a:prstGeom>
          <a:solidFill xmlns:a="http://schemas.openxmlformats.org/drawingml/2006/main">
            <a:srgbClr val="1C9A9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AF0833B-31CF-48CC-AD2A-E53CDB50C3D4}"/>
              </a:ext>
            </a:extLst>
          </p:cNvPr>
          <p:cNvSpPr>
            <a:spLocks xmlns:a="http://schemas.openxmlformats.org/drawingml/2006/main" noGrp="1"/>
          </p:cNvSpPr>
          <p:nvPr/>
        </p:nvSpPr>
        <p:spPr>
          <a:xfrm xmlns:a="http://schemas.openxmlformats.org/drawingml/2006/main">
            <a:off x="857250" y="1524000"/>
            <a:ext cx="361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FFFFFF"/>
                </a:solidFill>
                <a:latin typeface="Aptos"/>
                <a:ea typeface="Aptos"/>
                <a:cs typeface="Aptos"/>
              </a:defRPr>
            </a:defPPr>
          </a:lstStyle>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9FF4BFF2-7D34-4AC4-BDDC-F616D5011EB0}"/>
              </a:ext>
            </a:extLst>
          </p:cNvPr>
          <p:cNvSpPr>
            <a:spLocks xmlns:a="http://schemas.openxmlformats.org/drawingml/2006/main" noGrp="1"/>
          </p:cNvSpPr>
          <p:nvPr/>
        </p:nvSpPr>
        <p:spPr>
          <a:xfrm xmlns:a="http://schemas.openxmlformats.org/drawingml/2006/main">
            <a:off x="1466850" y="1495425"/>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0">
                <a:solidFill>
                  <a:srgbClr val="FFFFFF"/>
                </a:solidFill>
                <a:latin typeface="Aptos"/>
                <a:ea typeface="Aptos"/>
                <a:cs typeface="Aptos"/>
              </a:defRPr>
            </a:defPPr>
          </a:lstStyle>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Eight D flip-flops store one 8-bit word.</a:t>
            </a:r>
          </a:p>
        </p:txBody>
      </p:sp>
      <p:sp>
        <p:nvSpPr>
          <p:cNvPr id="7" name="">
            <a:extLst xmlns:a="http://schemas.openxmlformats.org/drawingml/2006/main">
              <a:ext uri="{FF2B5EF4-FFF2-40B4-BE49-F238E27FC236}">
                <a16:creationId xmlns:a16="http://schemas.microsoft.com/office/drawing/2014/main" id="{C6AB95A1-F6D2-42C7-9824-901976D54DCF}"/>
              </a:ext>
            </a:extLst>
          </p:cNvPr>
          <p:cNvSpPr>
            <a:spLocks xmlns:a="http://schemas.openxmlformats.org/drawingml/2006/main" noGrp="1"/>
          </p:cNvSpPr>
          <p:nvPr/>
        </p:nvSpPr>
        <p:spPr>
          <a:xfrm xmlns:a="http://schemas.openxmlformats.org/drawingml/2006/main">
            <a:off x="857250" y="2257425"/>
            <a:ext cx="361950" cy="361950"/>
          </a:xfrm>
          <a:prstGeom xmlns:a="http://schemas.openxmlformats.org/drawingml/2006/main" prst="ellipse">
            <a:avLst/>
          </a:prstGeom>
          <a:solidFill xmlns:a="http://schemas.openxmlformats.org/drawingml/2006/main">
            <a:srgbClr val="1C9A9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95FADD-CA1A-45C6-BFED-D4930A61DFDF}"/>
              </a:ext>
            </a:extLst>
          </p:cNvPr>
          <p:cNvSpPr>
            <a:spLocks xmlns:a="http://schemas.openxmlformats.org/drawingml/2006/main" noGrp="1"/>
          </p:cNvSpPr>
          <p:nvPr/>
        </p:nvSpPr>
        <p:spPr>
          <a:xfrm xmlns:a="http://schemas.openxmlformats.org/drawingml/2006/main">
            <a:off x="857250" y="2266950"/>
            <a:ext cx="361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FFFFFF"/>
                </a:solidFill>
                <a:latin typeface="Aptos"/>
                <a:ea typeface="Aptos"/>
                <a:cs typeface="Aptos"/>
              </a:defRPr>
            </a:defPPr>
          </a:lstStyle>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9" name="">
            <a:extLst xmlns:a="http://schemas.openxmlformats.org/drawingml/2006/main">
              <a:ext uri="{FF2B5EF4-FFF2-40B4-BE49-F238E27FC236}">
                <a16:creationId xmlns:a16="http://schemas.microsoft.com/office/drawing/2014/main" id="{CC915751-1259-4489-AC51-B47ADB8A3D4C}"/>
              </a:ext>
            </a:extLst>
          </p:cNvPr>
          <p:cNvSpPr>
            <a:spLocks xmlns:a="http://schemas.openxmlformats.org/drawingml/2006/main" noGrp="1"/>
          </p:cNvSpPr>
          <p:nvPr/>
        </p:nvSpPr>
        <p:spPr>
          <a:xfrm xmlns:a="http://schemas.openxmlformats.org/drawingml/2006/main">
            <a:off x="1466850" y="2238375"/>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0">
                <a:solidFill>
                  <a:srgbClr val="FFFFFF"/>
                </a:solidFill>
                <a:latin typeface="Aptos"/>
                <a:ea typeface="Aptos"/>
                <a:cs typeface="Aptos"/>
              </a:defRPr>
            </a:defPPr>
          </a:lstStyle>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A MUX before each flip-flop chooses new data or feedback.</a:t>
            </a:r>
          </a:p>
        </p:txBody>
      </p:sp>
      <p:sp>
        <p:nvSpPr>
          <p:cNvPr id="10" name="">
            <a:extLst xmlns:a="http://schemas.openxmlformats.org/drawingml/2006/main">
              <a:ext uri="{FF2B5EF4-FFF2-40B4-BE49-F238E27FC236}">
                <a16:creationId xmlns:a16="http://schemas.microsoft.com/office/drawing/2014/main" id="{5F5E4F85-07E5-4A20-A5C0-3F22BCC6197B}"/>
              </a:ext>
            </a:extLst>
          </p:cNvPr>
          <p:cNvSpPr>
            <a:spLocks xmlns:a="http://schemas.openxmlformats.org/drawingml/2006/main" noGrp="1"/>
          </p:cNvSpPr>
          <p:nvPr/>
        </p:nvSpPr>
        <p:spPr>
          <a:xfrm xmlns:a="http://schemas.openxmlformats.org/drawingml/2006/main">
            <a:off x="857250" y="3000375"/>
            <a:ext cx="361950" cy="361950"/>
          </a:xfrm>
          <a:prstGeom xmlns:a="http://schemas.openxmlformats.org/drawingml/2006/main" prst="ellipse">
            <a:avLst/>
          </a:prstGeom>
          <a:solidFill xmlns:a="http://schemas.openxmlformats.org/drawingml/2006/main">
            <a:srgbClr val="E88B3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B7F6FB7-73DC-4A16-B4D4-5CC9DFE17BED}"/>
              </a:ext>
            </a:extLst>
          </p:cNvPr>
          <p:cNvSpPr>
            <a:spLocks xmlns:a="http://schemas.openxmlformats.org/drawingml/2006/main" noGrp="1"/>
          </p:cNvSpPr>
          <p:nvPr/>
        </p:nvSpPr>
        <p:spPr>
          <a:xfrm xmlns:a="http://schemas.openxmlformats.org/drawingml/2006/main">
            <a:off x="857250" y="3009900"/>
            <a:ext cx="361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FFFFFF"/>
                </a:solidFill>
                <a:latin typeface="Aptos"/>
                <a:ea typeface="Aptos"/>
                <a:cs typeface="Aptos"/>
              </a:defRPr>
            </a:defPPr>
          </a:lstStyle>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12" name="">
            <a:extLst xmlns:a="http://schemas.openxmlformats.org/drawingml/2006/main">
              <a:ext uri="{FF2B5EF4-FFF2-40B4-BE49-F238E27FC236}">
                <a16:creationId xmlns:a16="http://schemas.microsoft.com/office/drawing/2014/main" id="{101FF9AC-F0D2-41FA-AAC6-F9FA757DA4D0}"/>
              </a:ext>
            </a:extLst>
          </p:cNvPr>
          <p:cNvSpPr>
            <a:spLocks xmlns:a="http://schemas.openxmlformats.org/drawingml/2006/main" noGrp="1"/>
          </p:cNvSpPr>
          <p:nvPr/>
        </p:nvSpPr>
        <p:spPr>
          <a:xfrm xmlns:a="http://schemas.openxmlformats.org/drawingml/2006/main">
            <a:off x="1466850" y="2981325"/>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FFFFFF"/>
                </a:solidFill>
                <a:latin typeface="Aptos"/>
                <a:ea typeface="Aptos"/>
                <a:cs typeface="Aptos"/>
              </a:defRPr>
            </a:defPPr>
          </a:lstStyle>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EN = 1 loads D[7:0] at the next rising edge.</a:t>
            </a:r>
          </a:p>
        </p:txBody>
      </p:sp>
      <p:sp>
        <p:nvSpPr>
          <p:cNvPr id="13" name="">
            <a:extLst xmlns:a="http://schemas.openxmlformats.org/drawingml/2006/main">
              <a:ext uri="{FF2B5EF4-FFF2-40B4-BE49-F238E27FC236}">
                <a16:creationId xmlns:a16="http://schemas.microsoft.com/office/drawing/2014/main" id="{E121CD5E-6422-4870-9D58-552F20EACE70}"/>
              </a:ext>
            </a:extLst>
          </p:cNvPr>
          <p:cNvSpPr>
            <a:spLocks xmlns:a="http://schemas.openxmlformats.org/drawingml/2006/main" noGrp="1"/>
          </p:cNvSpPr>
          <p:nvPr/>
        </p:nvSpPr>
        <p:spPr>
          <a:xfrm xmlns:a="http://schemas.openxmlformats.org/drawingml/2006/main">
            <a:off x="857250" y="3743325"/>
            <a:ext cx="361950" cy="361950"/>
          </a:xfrm>
          <a:prstGeom xmlns:a="http://schemas.openxmlformats.org/drawingml/2006/main" prst="ellipse">
            <a:avLst/>
          </a:prstGeom>
          <a:solidFill xmlns:a="http://schemas.openxmlformats.org/drawingml/2006/main">
            <a:srgbClr val="1C9A9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52B32C-4BA3-462F-A6F2-6A8878719F37}"/>
              </a:ext>
            </a:extLst>
          </p:cNvPr>
          <p:cNvSpPr>
            <a:spLocks xmlns:a="http://schemas.openxmlformats.org/drawingml/2006/main" noGrp="1"/>
          </p:cNvSpPr>
          <p:nvPr/>
        </p:nvSpPr>
        <p:spPr>
          <a:xfrm xmlns:a="http://schemas.openxmlformats.org/drawingml/2006/main">
            <a:off x="857250" y="3752850"/>
            <a:ext cx="361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FFFFFF"/>
                </a:solidFill>
                <a:latin typeface="Aptos"/>
                <a:ea typeface="Aptos"/>
                <a:cs typeface="Aptos"/>
              </a:defRPr>
            </a:defPPr>
          </a:lstStyle>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4</a:t>
            </a:r>
          </a:p>
        </p:txBody>
      </p:sp>
      <p:sp>
        <p:nvSpPr>
          <p:cNvPr id="15" name="">
            <a:extLst xmlns:a="http://schemas.openxmlformats.org/drawingml/2006/main">
              <a:ext uri="{FF2B5EF4-FFF2-40B4-BE49-F238E27FC236}">
                <a16:creationId xmlns:a16="http://schemas.microsoft.com/office/drawing/2014/main" id="{361790EB-359F-43A9-AD15-5FEB16E7FE9C}"/>
              </a:ext>
            </a:extLst>
          </p:cNvPr>
          <p:cNvSpPr>
            <a:spLocks xmlns:a="http://schemas.openxmlformats.org/drawingml/2006/main" noGrp="1"/>
          </p:cNvSpPr>
          <p:nvPr/>
        </p:nvSpPr>
        <p:spPr>
          <a:xfrm xmlns:a="http://schemas.openxmlformats.org/drawingml/2006/main">
            <a:off x="1466850" y="3724275"/>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FFFFFF"/>
                </a:solidFill>
                <a:latin typeface="Aptos"/>
                <a:ea typeface="Aptos"/>
                <a:cs typeface="Aptos"/>
              </a:defRPr>
            </a:defPPr>
          </a:lstStyle>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EN = 0 feeds Q back, so the stored value is held.</a:t>
            </a:r>
          </a:p>
        </p:txBody>
      </p:sp>
      <p:sp>
        <p:nvSpPr>
          <p:cNvPr id="16" name="">
            <a:extLst xmlns:a="http://schemas.openxmlformats.org/drawingml/2006/main">
              <a:ext uri="{FF2B5EF4-FFF2-40B4-BE49-F238E27FC236}">
                <a16:creationId xmlns:a16="http://schemas.microsoft.com/office/drawing/2014/main" id="{6FE7E660-0E22-4403-9B87-BC407FF7BE8B}"/>
              </a:ext>
            </a:extLst>
          </p:cNvPr>
          <p:cNvSpPr>
            <a:spLocks xmlns:a="http://schemas.openxmlformats.org/drawingml/2006/main" noGrp="1"/>
          </p:cNvSpPr>
          <p:nvPr/>
        </p:nvSpPr>
        <p:spPr>
          <a:xfrm xmlns:a="http://schemas.openxmlformats.org/drawingml/2006/main">
            <a:off x="857250" y="4486275"/>
            <a:ext cx="361950" cy="361950"/>
          </a:xfrm>
          <a:prstGeom xmlns:a="http://schemas.openxmlformats.org/drawingml/2006/main" prst="ellipse">
            <a:avLst/>
          </a:prstGeom>
          <a:solidFill xmlns:a="http://schemas.openxmlformats.org/drawingml/2006/main">
            <a:srgbClr val="1C9A9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A308FB-7AC9-43B8-9C32-2F342C1EA296}"/>
              </a:ext>
            </a:extLst>
          </p:cNvPr>
          <p:cNvSpPr>
            <a:spLocks xmlns:a="http://schemas.openxmlformats.org/drawingml/2006/main" noGrp="1"/>
          </p:cNvSpPr>
          <p:nvPr/>
        </p:nvSpPr>
        <p:spPr>
          <a:xfrm xmlns:a="http://schemas.openxmlformats.org/drawingml/2006/main">
            <a:off x="857250" y="4495800"/>
            <a:ext cx="361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FFFFFF"/>
                </a:solidFill>
                <a:latin typeface="Aptos"/>
                <a:ea typeface="Aptos"/>
                <a:cs typeface="Aptos"/>
              </a:defRPr>
            </a:defPPr>
          </a:lstStyle>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5</a:t>
            </a:r>
          </a:p>
        </p:txBody>
      </p:sp>
      <p:sp>
        <p:nvSpPr>
          <p:cNvPr id="18" name="">
            <a:extLst xmlns:a="http://schemas.openxmlformats.org/drawingml/2006/main">
              <a:ext uri="{FF2B5EF4-FFF2-40B4-BE49-F238E27FC236}">
                <a16:creationId xmlns:a16="http://schemas.microsoft.com/office/drawing/2014/main" id="{CF65EC56-22E3-4B0F-A325-0DDB80AA17E5}"/>
              </a:ext>
            </a:extLst>
          </p:cNvPr>
          <p:cNvSpPr>
            <a:spLocks xmlns:a="http://schemas.openxmlformats.org/drawingml/2006/main" noGrp="1"/>
          </p:cNvSpPr>
          <p:nvPr/>
        </p:nvSpPr>
        <p:spPr>
          <a:xfrm xmlns:a="http://schemas.openxmlformats.org/drawingml/2006/main">
            <a:off x="1466850" y="4467225"/>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0">
                <a:solidFill>
                  <a:srgbClr val="FFFFFF"/>
                </a:solidFill>
                <a:latin typeface="Aptos"/>
                <a:ea typeface="Aptos"/>
                <a:cs typeface="Aptos"/>
              </a:defRPr>
            </a:defPPr>
          </a:lstStyle>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All bits update together because the clock is shared.</a:t>
            </a:r>
          </a:p>
        </p:txBody>
      </p:sp>
      <p:sp>
        <p:nvSpPr>
          <p:cNvPr id="19" name="">
            <a:extLst xmlns:a="http://schemas.openxmlformats.org/drawingml/2006/main">
              <a:ext uri="{FF2B5EF4-FFF2-40B4-BE49-F238E27FC236}">
                <a16:creationId xmlns:a16="http://schemas.microsoft.com/office/drawing/2014/main" id="{44CE4A12-8656-41BA-A8BF-CEACD7F81D5A}"/>
              </a:ext>
            </a:extLst>
          </p:cNvPr>
          <p:cNvSpPr>
            <a:spLocks xmlns:a="http://schemas.openxmlformats.org/drawingml/2006/main" noGrp="1"/>
          </p:cNvSpPr>
          <p:nvPr/>
        </p:nvSpPr>
        <p:spPr>
          <a:xfrm xmlns:a="http://schemas.openxmlformats.org/drawingml/2006/main">
            <a:off x="857250" y="5476875"/>
            <a:ext cx="10191750" cy="0"/>
          </a:xfrm>
          <a:prstGeom xmlns:a="http://schemas.openxmlformats.org/drawingml/2006/main" prst="line">
            <a:avLst/>
          </a:prstGeom>
          <a:noFill xmlns:a="http://schemas.openxmlformats.org/drawingml/2006/main"/>
          <a:ln xmlns:a="http://schemas.openxmlformats.org/drawingml/2006/main" w="19050">
            <a:solidFill>
              <a:srgbClr val="476176"/>
            </a:solidFill>
            <a:prstDash val="solid"/>
          </a:ln>
        </p:spPr>
      </p:sp>
      <p:sp>
        <p:nvSpPr>
          <p:cNvPr id="20" name="">
            <a:extLst xmlns:a="http://schemas.openxmlformats.org/drawingml/2006/main">
              <a:ext uri="{FF2B5EF4-FFF2-40B4-BE49-F238E27FC236}">
                <a16:creationId xmlns:a16="http://schemas.microsoft.com/office/drawing/2014/main" id="{BA5378B1-AB76-4960-B215-09B59D707EA6}"/>
              </a:ext>
            </a:extLst>
          </p:cNvPr>
          <p:cNvSpPr>
            <a:spLocks xmlns:a="http://schemas.openxmlformats.org/drawingml/2006/main" noGrp="1"/>
          </p:cNvSpPr>
          <p:nvPr/>
        </p:nvSpPr>
        <p:spPr>
          <a:xfrm xmlns:a="http://schemas.openxmlformats.org/drawingml/2006/main">
            <a:off x="857250" y="57054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A9D9D4"/>
                </a:solidFill>
                <a:latin typeface="Aptos"/>
                <a:ea typeface="Aptos"/>
                <a:cs typeface="Aptos"/>
              </a:defRPr>
            </a:defPPr>
          </a:lstStyle>
          <a:p xmlns:a="http://schemas.openxmlformats.org/drawingml/2006/main">
            <a:pPr algn="l">
              <a:defRPr sz="1350" b="1">
                <a:solidFill>
                  <a:srgbClr val="A9D9D4"/>
                </a:solidFill>
                <a:latin typeface="Aptos"/>
                <a:ea typeface="Aptos"/>
                <a:cs typeface="Aptos"/>
              </a:defRPr>
            </a:pPr>
            <a:r>
              <a:rPr sz="1350" b="1">
                <a:solidFill>
                  <a:srgbClr val="A9D9D4"/>
                </a:solidFill>
                <a:latin typeface="Aptos"/>
                <a:ea typeface="Aptos"/>
                <a:cs typeface="Aptos"/>
              </a:rPr>
              <a:t>Core rule</a:t>
            </a:r>
          </a:p>
        </p:txBody>
      </p:sp>
      <p:sp>
        <p:nvSpPr>
          <p:cNvPr id="21" name="">
            <a:extLst xmlns:a="http://schemas.openxmlformats.org/drawingml/2006/main">
              <a:ext uri="{FF2B5EF4-FFF2-40B4-BE49-F238E27FC236}">
                <a16:creationId xmlns:a16="http://schemas.microsoft.com/office/drawing/2014/main" id="{60C352F9-CC54-4F68-A9AE-EFC60AFC1FCC}"/>
              </a:ext>
            </a:extLst>
          </p:cNvPr>
          <p:cNvSpPr>
            <a:spLocks xmlns:a="http://schemas.openxmlformats.org/drawingml/2006/main" noGrp="1"/>
          </p:cNvSpPr>
          <p:nvPr/>
        </p:nvSpPr>
        <p:spPr>
          <a:xfrm xmlns:a="http://schemas.openxmlformats.org/drawingml/2006/main">
            <a:off x="2381250" y="5619750"/>
            <a:ext cx="723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FFFFFF"/>
                </a:solidFill>
                <a:latin typeface="Aptos"/>
                <a:ea typeface="Aptos"/>
                <a:cs typeface="Aptos"/>
              </a:defRPr>
            </a:defPPr>
          </a:lstStyle>
          <a:p xmlns:a="http://schemas.openxmlformats.org/drawingml/2006/main">
            <a:pPr algn="l">
              <a:defRPr sz="2175" b="1">
                <a:solidFill>
                  <a:srgbClr val="FFFFFF"/>
                </a:solidFill>
                <a:latin typeface="Aptos"/>
                <a:ea typeface="Aptos"/>
                <a:cs typeface="Aptos"/>
              </a:defRPr>
            </a:pPr>
            <a:r>
              <a:rPr sz="2175" b="1">
                <a:solidFill>
                  <a:srgbClr val="FFFFFF"/>
                </a:solidFill>
                <a:latin typeface="Aptos"/>
                <a:ea typeface="Aptos"/>
                <a:cs typeface="Aptos"/>
              </a:rPr>
              <a:t>Q(next) = EN·D + EN̅·Q(current)</a:t>
            </a:r>
          </a:p>
        </p:txBody>
      </p:sp>
    </p:spTree>
    <p:extLst>
      <p:ext uri="{BB962C8B-B14F-4D97-AF65-F5344CB8AC3E}">
        <p14:creationId xmlns:p14="http://schemas.microsoft.com/office/powerpoint/2010/main" val="7828809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2026-10-14T03:19:28.6430000Z</dcterms:created>
  <dcterms:modified xsi:type="dcterms:W3CDTF">2026-10-14T03:19:28.6430000Z</dcterms:modified>
</coreProperties>
</file>